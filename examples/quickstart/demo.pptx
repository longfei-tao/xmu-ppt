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005FA5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8382000" y="0"/>
            <a:ext cx="3810000" cy="6858000"/>
          </a:xfrm>
          <a:prstGeom prst="rect">
            <a:avLst/>
          </a:prstGeom>
          <a:solidFill>
            <a:srgbClr val="EDF5FC"/>
          </a:solidFill>
          <a:ln>
            <a:noFill/>
          </a:ln>
        </p:spPr>
      </p:sp>
      <p:sp>
        <p:nvSpPr>
          <p:cNvPr id="5" name="Freeform 5"/>
          <p:cNvSpPr/>
          <p:nvPr/>
        </p:nvSpPr>
        <p:spPr>
          <a:xfrm>
            <a:off x="8382000" y="3048000"/>
            <a:ext cx="3810000" cy="3810000"/>
          </a:xfrm>
          <a:custGeom>
            <a:avLst/>
            <a:gdLst/>
            <a:ahLst/>
            <a:cxnLst/>
            <a:rect l="l" t="t" r="r" b="b"/>
            <a:pathLst>
              <a:path w="3810000" h="3810000">
                <a:moveTo>
                  <a:pt x="0" y="3810000"/>
                </a:moveTo>
                <a:lnTo>
                  <a:pt x="3810000" y="0"/>
                </a:lnTo>
                <a:lnTo>
                  <a:pt x="3810000" y="3810000"/>
                </a:lnTo>
                <a:close/>
              </a:path>
            </a:pathLst>
          </a:custGeom>
          <a:solidFill>
            <a:srgbClr val="BAE2FF"/>
          </a:solidFill>
          <a:ln>
            <a:noFill/>
          </a:ln>
        </p:spPr>
      </p:sp>
      <p:sp>
        <p:nvSpPr>
          <p:cNvPr id="6" name="Freeform 6"/>
          <p:cNvSpPr/>
          <p:nvPr/>
        </p:nvSpPr>
        <p:spPr>
          <a:xfrm>
            <a:off x="9144000" y="3810000"/>
            <a:ext cx="3048000" cy="3048000"/>
          </a:xfrm>
          <a:custGeom>
            <a:avLst/>
            <a:gdLst/>
            <a:ahLst/>
            <a:cxnLst/>
            <a:rect l="l" t="t" r="r" b="b"/>
            <a:pathLst>
              <a:path w="3048000" h="3048000">
                <a:moveTo>
                  <a:pt x="0" y="3048000"/>
                </a:moveTo>
                <a:lnTo>
                  <a:pt x="3048000" y="0"/>
                </a:lnTo>
              </a:path>
            </a:pathLst>
          </a:custGeom>
          <a:noFill/>
          <a:ln w="19050">
            <a:solidFill>
              <a:srgbClr val="005FA5"/>
            </a:solidFill>
          </a:ln>
        </p:spPr>
      </p:sp>
      <p:sp>
        <p:nvSpPr>
          <p:cNvPr id="7" name="TextBox 7"/>
          <p:cNvSpPr txBox="1"/>
          <p:nvPr/>
        </p:nvSpPr>
        <p:spPr>
          <a:xfrm>
            <a:off x="742950" y="695325"/>
            <a:ext cx="29718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005FA5"/>
                </a:solidFill>
                <a:latin typeface="Microsoft YaHei"/>
                <a:ea typeface="Microsoft YaHei"/>
                <a:cs typeface="Microsoft YaHei"/>
              </a:rPr>
              <a:t>XMU PPT MASTER / 工作流演示</a:t>
            </a:r>
          </a:p>
        </p:txBody>
      </p:sp>
      <p:sp>
        <p:nvSpPr>
          <p:cNvPr id="8" name="Rectangle 8"/>
          <p:cNvSpPr/>
          <p:nvPr/>
        </p:nvSpPr>
        <p:spPr>
          <a:xfrm>
            <a:off x="762000" y="2028825"/>
            <a:ext cx="609600" cy="57150"/>
          </a:xfrm>
          <a:prstGeom prst="rect">
            <a:avLst/>
          </a:prstGeom>
          <a:solidFill>
            <a:srgbClr val="005FA5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708660" y="2442210"/>
            <a:ext cx="3870350" cy="8534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4200" b="1" dirty="0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校园科研协作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708660" y="3185160"/>
            <a:ext cx="2615794" cy="8534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4200" b="1" dirty="0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项目汇报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737235" y="4113848"/>
            <a:ext cx="4015892" cy="3962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dirty="0">
                <a:solidFill>
                  <a:srgbClr val="50677E"/>
                </a:solidFill>
                <a:latin typeface="Microsoft YaHei"/>
                <a:ea typeface="Microsoft YaHei"/>
                <a:cs typeface="Microsoft YaHei"/>
              </a:rPr>
              <a:t>问题梳理 · 协作方案 · 进度展示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744855" y="5807392"/>
            <a:ext cx="332750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50677E"/>
                </a:solidFill>
                <a:latin typeface="Microsoft YaHei"/>
                <a:ea typeface="Microsoft YaHei"/>
                <a:cs typeface="Microsoft YaHei"/>
              </a:rPr>
              <a:t>自主编写示例 / 非真实研究或用户案例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9620250" y="904875"/>
            <a:ext cx="1363980" cy="152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7500" dirty="0">
                <a:solidFill>
                  <a:srgbClr val="005FA5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46760" y="6347460"/>
            <a:ext cx="412699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0677E"/>
                </a:solidFill>
                <a:latin typeface="Microsoft YaHei"/>
                <a:ea typeface="Microsoft YaHei"/>
                <a:cs typeface="Microsoft YaHei"/>
              </a:rPr>
              <a:t>蓝白排版演示，不含校徽、校园照片或校名标准字素材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005FA5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742950" y="714375"/>
            <a:ext cx="29718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005FA5"/>
                </a:solidFill>
                <a:latin typeface="Microsoft YaHei"/>
                <a:ea typeface="Microsoft YaHei"/>
                <a:cs typeface="Microsoft YaHei"/>
              </a:rPr>
              <a:t>XMU PPT MASTER / 工作流演示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20090" y="1424940"/>
            <a:ext cx="2055266" cy="670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300" b="1" dirty="0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汇报内容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739140" y="2091690"/>
            <a:ext cx="3118104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50677E"/>
                </a:solidFill>
                <a:latin typeface="Microsoft YaHei"/>
                <a:ea typeface="Microsoft YaHei"/>
                <a:cs typeface="Microsoft YaHei"/>
              </a:rPr>
              <a:t>围绕问题、方案和进度展开</a:t>
            </a:r>
          </a:p>
        </p:txBody>
      </p:sp>
      <p:sp>
        <p:nvSpPr>
          <p:cNvPr id="7" name="Line 7"/>
          <p:cNvSpPr/>
          <p:nvPr/>
        </p:nvSpPr>
        <p:spPr>
          <a:xfrm>
            <a:off x="762000" y="2647950"/>
            <a:ext cx="10668000" cy="9525"/>
          </a:xfrm>
          <a:custGeom>
            <a:avLst/>
            <a:gdLst/>
            <a:ahLst/>
            <a:cxnLst/>
            <a:rect l="l" t="t" r="r" b="b"/>
            <a:pathLst>
              <a:path w="10668000" h="9525">
                <a:moveTo>
                  <a:pt x="0" y="0"/>
                </a:moveTo>
                <a:lnTo>
                  <a:pt x="10668000" y="0"/>
                </a:lnTo>
              </a:path>
            </a:pathLst>
          </a:custGeom>
          <a:noFill/>
          <a:ln w="19050">
            <a:solidFill>
              <a:srgbClr val="BAE2FF"/>
            </a:solidFill>
          </a:ln>
        </p:spPr>
      </p:sp>
      <p:sp>
        <p:nvSpPr>
          <p:cNvPr id="8" name="TextBox 8"/>
          <p:cNvSpPr txBox="1"/>
          <p:nvPr/>
        </p:nvSpPr>
        <p:spPr>
          <a:xfrm>
            <a:off x="716280" y="3049905"/>
            <a:ext cx="654710" cy="7315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3600" dirty="0">
                <a:solidFill>
                  <a:srgbClr val="005FA5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781175" y="3071812"/>
            <a:ext cx="133731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250" dirty="0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协作问题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786890" y="3539490"/>
            <a:ext cx="3630168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50677E"/>
                </a:solidFill>
                <a:latin typeface="Microsoft YaHei"/>
                <a:ea typeface="Microsoft YaHei"/>
                <a:cs typeface="Microsoft YaHei"/>
              </a:rPr>
              <a:t>资料分散、分工模糊与交接成本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716280" y="4354830"/>
            <a:ext cx="654710" cy="7315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3600" dirty="0">
                <a:solidFill>
                  <a:srgbClr val="005FA5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781175" y="4376738"/>
            <a:ext cx="133731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250" dirty="0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实施方案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786890" y="4844415"/>
            <a:ext cx="3630168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50677E"/>
                </a:solidFill>
                <a:latin typeface="Microsoft YaHei"/>
                <a:ea typeface="Microsoft YaHei"/>
                <a:cs typeface="Microsoft YaHei"/>
              </a:rPr>
              <a:t>统一资料入口，明确任务负责人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6621780" y="3049905"/>
            <a:ext cx="654710" cy="7315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3600" dirty="0">
                <a:solidFill>
                  <a:srgbClr val="005FA5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7686675" y="3071812"/>
            <a:ext cx="133731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250" dirty="0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进度展示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7692390" y="3539490"/>
            <a:ext cx="2862072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50677E"/>
                </a:solidFill>
                <a:latin typeface="Microsoft YaHei"/>
                <a:ea typeface="Microsoft YaHei"/>
                <a:cs typeface="Microsoft YaHei"/>
              </a:rPr>
              <a:t>用示意数据说明图表布局</a:t>
            </a:r>
          </a:p>
        </p:txBody>
      </p:sp>
      <p:sp>
        <p:nvSpPr>
          <p:cNvPr id="17" name="Line 17"/>
          <p:cNvSpPr/>
          <p:nvPr/>
        </p:nvSpPr>
        <p:spPr>
          <a:xfrm>
            <a:off x="762000" y="6048375"/>
            <a:ext cx="10668000" cy="9525"/>
          </a:xfrm>
          <a:custGeom>
            <a:avLst/>
            <a:gdLst/>
            <a:ahLst/>
            <a:cxnLst/>
            <a:rect l="l" t="t" r="r" b="b"/>
            <a:pathLst>
              <a:path w="10668000" h="9525">
                <a:moveTo>
                  <a:pt x="0" y="0"/>
                </a:moveTo>
                <a:lnTo>
                  <a:pt x="10668000" y="0"/>
                </a:lnTo>
              </a:path>
            </a:pathLst>
          </a:custGeom>
          <a:noFill/>
          <a:ln w="19050">
            <a:solidFill>
              <a:srgbClr val="BAE2FF"/>
            </a:solidFill>
          </a:ln>
        </p:spPr>
      </p:sp>
      <p:sp>
        <p:nvSpPr>
          <p:cNvPr id="18" name="TextBox 18"/>
          <p:cNvSpPr txBox="1"/>
          <p:nvPr/>
        </p:nvSpPr>
        <p:spPr>
          <a:xfrm>
            <a:off x="746760" y="6347460"/>
            <a:ext cx="2957779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0677E"/>
                </a:solidFill>
                <a:latin typeface="Microsoft YaHei"/>
                <a:ea typeface="Microsoft YaHei"/>
                <a:cs typeface="Microsoft YaHei"/>
              </a:rPr>
              <a:t>自主编写示例 / 非真实研究或用户案例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1033760" y="6347460"/>
            <a:ext cx="218237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rgbClr val="005FA5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005FA5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742950" y="714375"/>
            <a:ext cx="29718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005FA5"/>
                </a:solidFill>
                <a:latin typeface="Microsoft YaHei"/>
                <a:ea typeface="Microsoft YaHei"/>
                <a:cs typeface="Microsoft YaHei"/>
              </a:rPr>
              <a:t>XMU PPT MASTER / 工作流演示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20090" y="1424940"/>
            <a:ext cx="2055266" cy="670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300" b="1" dirty="0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协作方案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739140" y="2091690"/>
            <a:ext cx="4654296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50677E"/>
                </a:solidFill>
                <a:latin typeface="Microsoft YaHei"/>
                <a:ea typeface="Microsoft YaHei"/>
                <a:cs typeface="Microsoft YaHei"/>
              </a:rPr>
              <a:t>先统一材料，再明确分工，最后安排复核</a:t>
            </a:r>
          </a:p>
        </p:txBody>
      </p:sp>
      <p:sp>
        <p:nvSpPr>
          <p:cNvPr id="7" name="Line 7"/>
          <p:cNvSpPr/>
          <p:nvPr/>
        </p:nvSpPr>
        <p:spPr>
          <a:xfrm>
            <a:off x="762000" y="2647950"/>
            <a:ext cx="10668000" cy="9525"/>
          </a:xfrm>
          <a:custGeom>
            <a:avLst/>
            <a:gdLst/>
            <a:ahLst/>
            <a:cxnLst/>
            <a:rect l="l" t="t" r="r" b="b"/>
            <a:pathLst>
              <a:path w="10668000" h="9525">
                <a:moveTo>
                  <a:pt x="0" y="0"/>
                </a:moveTo>
                <a:lnTo>
                  <a:pt x="10668000" y="0"/>
                </a:lnTo>
              </a:path>
            </a:pathLst>
          </a:custGeom>
          <a:noFill/>
          <a:ln w="19050">
            <a:solidFill>
              <a:srgbClr val="BAE2FF"/>
            </a:solidFill>
          </a:ln>
        </p:spPr>
      </p:sp>
      <p:sp>
        <p:nvSpPr>
          <p:cNvPr id="8" name="TextBox 8"/>
          <p:cNvSpPr txBox="1"/>
          <p:nvPr/>
        </p:nvSpPr>
        <p:spPr>
          <a:xfrm>
            <a:off x="735330" y="3126105"/>
            <a:ext cx="1307897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005FA5"/>
                </a:solidFill>
                <a:latin typeface="Microsoft YaHei"/>
                <a:ea typeface="Microsoft YaHei"/>
                <a:cs typeface="Microsoft YaHei"/>
              </a:rPr>
              <a:t>当前问题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737235" y="3732848"/>
            <a:ext cx="2823210" cy="3962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dirty="0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材料散落在不同会话中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737235" y="4237672"/>
            <a:ext cx="2823210" cy="3962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dirty="0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任务缺少明确的负责人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737235" y="4742498"/>
            <a:ext cx="2545842" cy="3962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dirty="0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提交前缺少统一检查</a:t>
            </a:r>
          </a:p>
        </p:txBody>
      </p:sp>
      <p:sp>
        <p:nvSpPr>
          <p:cNvPr id="12" name="Rectangle 12"/>
          <p:cNvSpPr/>
          <p:nvPr/>
        </p:nvSpPr>
        <p:spPr>
          <a:xfrm>
            <a:off x="6477000" y="3028950"/>
            <a:ext cx="4953000" cy="2438400"/>
          </a:xfrm>
          <a:prstGeom prst="rect">
            <a:avLst/>
          </a:prstGeom>
          <a:solidFill>
            <a:srgbClr val="EDF5FC"/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6793230" y="3249930"/>
            <a:ext cx="1307897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005FA5"/>
                </a:solidFill>
                <a:latin typeface="Microsoft YaHei"/>
                <a:ea typeface="Microsoft YaHei"/>
                <a:cs typeface="Microsoft YaHei"/>
              </a:rPr>
              <a:t>建议做法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6795135" y="3789998"/>
            <a:ext cx="3100578" cy="3962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dirty="0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建立共享目录和命名约定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795135" y="4294822"/>
            <a:ext cx="3377946" cy="3962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dirty="0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每项任务标注负责人和期限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6795135" y="4799648"/>
            <a:ext cx="3100578" cy="3962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dirty="0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用检查清单完成交付复核</a:t>
            </a:r>
          </a:p>
        </p:txBody>
      </p:sp>
      <p:sp>
        <p:nvSpPr>
          <p:cNvPr id="17" name="Line 17"/>
          <p:cNvSpPr/>
          <p:nvPr/>
        </p:nvSpPr>
        <p:spPr>
          <a:xfrm>
            <a:off x="762000" y="6048375"/>
            <a:ext cx="10668000" cy="9525"/>
          </a:xfrm>
          <a:custGeom>
            <a:avLst/>
            <a:gdLst/>
            <a:ahLst/>
            <a:cxnLst/>
            <a:rect l="l" t="t" r="r" b="b"/>
            <a:pathLst>
              <a:path w="10668000" h="9525">
                <a:moveTo>
                  <a:pt x="0" y="0"/>
                </a:moveTo>
                <a:lnTo>
                  <a:pt x="10668000" y="0"/>
                </a:lnTo>
              </a:path>
            </a:pathLst>
          </a:custGeom>
          <a:noFill/>
          <a:ln w="19050">
            <a:solidFill>
              <a:srgbClr val="BAE2FF"/>
            </a:solidFill>
          </a:ln>
        </p:spPr>
      </p:sp>
      <p:sp>
        <p:nvSpPr>
          <p:cNvPr id="18" name="TextBox 18"/>
          <p:cNvSpPr txBox="1"/>
          <p:nvPr/>
        </p:nvSpPr>
        <p:spPr>
          <a:xfrm>
            <a:off x="746760" y="6347460"/>
            <a:ext cx="3614928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0677E"/>
                </a:solidFill>
                <a:latin typeface="Microsoft YaHei"/>
                <a:ea typeface="Microsoft YaHei"/>
                <a:cs typeface="Microsoft YaHei"/>
              </a:rPr>
              <a:t>示例方案，用于演示正文排版，不构成效果承诺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1033760" y="6347460"/>
            <a:ext cx="218237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rgbClr val="005FA5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005FA5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742950" y="714375"/>
            <a:ext cx="29718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005FA5"/>
                </a:solidFill>
                <a:latin typeface="Microsoft YaHei"/>
                <a:ea typeface="Microsoft YaHei"/>
                <a:cs typeface="Microsoft YaHei"/>
              </a:rPr>
              <a:t>XMU PPT MASTER / 工作流演示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20090" y="1424940"/>
            <a:ext cx="3040990" cy="670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300" b="1" dirty="0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任务进度展示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739140" y="2091690"/>
            <a:ext cx="5166360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50677E"/>
                </a:solidFill>
                <a:latin typeface="Microsoft YaHei"/>
                <a:ea typeface="Microsoft YaHei"/>
                <a:cs typeface="Microsoft YaHei"/>
              </a:rPr>
              <a:t>以下均为虚构示意数据，仅用于展示图表排版</a:t>
            </a:r>
          </a:p>
        </p:txBody>
      </p:sp>
      <p:sp>
        <p:nvSpPr>
          <p:cNvPr id="7" name="Line 7"/>
          <p:cNvSpPr/>
          <p:nvPr/>
        </p:nvSpPr>
        <p:spPr>
          <a:xfrm>
            <a:off x="762000" y="2647950"/>
            <a:ext cx="10668000" cy="9525"/>
          </a:xfrm>
          <a:custGeom>
            <a:avLst/>
            <a:gdLst/>
            <a:ahLst/>
            <a:cxnLst/>
            <a:rect l="l" t="t" r="r" b="b"/>
            <a:pathLst>
              <a:path w="10668000" h="9525">
                <a:moveTo>
                  <a:pt x="0" y="0"/>
                </a:moveTo>
                <a:lnTo>
                  <a:pt x="10668000" y="0"/>
                </a:lnTo>
              </a:path>
            </a:pathLst>
          </a:custGeom>
          <a:noFill/>
          <a:ln w="19050">
            <a:solidFill>
              <a:srgbClr val="BAE2FF"/>
            </a:solidFill>
          </a:ln>
        </p:spPr>
      </p:sp>
      <p:sp>
        <p:nvSpPr>
          <p:cNvPr id="8" name="TextBox 8"/>
          <p:cNvSpPr txBox="1"/>
          <p:nvPr/>
        </p:nvSpPr>
        <p:spPr>
          <a:xfrm>
            <a:off x="737235" y="3180398"/>
            <a:ext cx="1159002" cy="3962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dirty="0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资料整理</a:t>
            </a:r>
          </a:p>
        </p:txBody>
      </p:sp>
      <p:sp>
        <p:nvSpPr>
          <p:cNvPr id="9" name="Rectangle 9"/>
          <p:cNvSpPr/>
          <p:nvPr/>
        </p:nvSpPr>
        <p:spPr>
          <a:xfrm>
            <a:off x="2476500" y="3086100"/>
            <a:ext cx="5715000" cy="400050"/>
          </a:xfrm>
          <a:prstGeom prst="rect">
            <a:avLst/>
          </a:prstGeom>
          <a:solidFill>
            <a:srgbClr val="EDF5FC"/>
          </a:solidFill>
          <a:ln>
            <a:noFill/>
          </a:ln>
        </p:spPr>
      </p:sp>
      <p:sp>
        <p:nvSpPr>
          <p:cNvPr id="10" name="Rectangle 10"/>
          <p:cNvSpPr/>
          <p:nvPr/>
        </p:nvSpPr>
        <p:spPr>
          <a:xfrm>
            <a:off x="2476500" y="3086100"/>
            <a:ext cx="4572000" cy="400050"/>
          </a:xfrm>
          <a:prstGeom prst="rect">
            <a:avLst/>
          </a:prstGeom>
          <a:solidFill>
            <a:srgbClr val="005FA5"/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8452485" y="3180398"/>
            <a:ext cx="562661" cy="3962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950" dirty="0">
                <a:solidFill>
                  <a:srgbClr val="005FA5"/>
                </a:solidFill>
                <a:latin typeface="Microsoft YaHei"/>
                <a:ea typeface="Microsoft YaHei"/>
                <a:cs typeface="Microsoft YaHei"/>
              </a:rPr>
              <a:t>80%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737235" y="4075748"/>
            <a:ext cx="1159002" cy="3962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dirty="0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方案撰写</a:t>
            </a:r>
          </a:p>
        </p:txBody>
      </p:sp>
      <p:sp>
        <p:nvSpPr>
          <p:cNvPr id="13" name="Rectangle 13"/>
          <p:cNvSpPr/>
          <p:nvPr/>
        </p:nvSpPr>
        <p:spPr>
          <a:xfrm>
            <a:off x="2476500" y="3981450"/>
            <a:ext cx="5715000" cy="400050"/>
          </a:xfrm>
          <a:prstGeom prst="rect">
            <a:avLst/>
          </a:prstGeom>
          <a:solidFill>
            <a:srgbClr val="EDF5FC"/>
          </a:solidFill>
          <a:ln>
            <a:noFill/>
          </a:ln>
        </p:spPr>
      </p:sp>
      <p:sp>
        <p:nvSpPr>
          <p:cNvPr id="14" name="Rectangle 14"/>
          <p:cNvSpPr/>
          <p:nvPr/>
        </p:nvSpPr>
        <p:spPr>
          <a:xfrm>
            <a:off x="2476500" y="3981450"/>
            <a:ext cx="3429000" cy="400050"/>
          </a:xfrm>
          <a:prstGeom prst="rect">
            <a:avLst/>
          </a:prstGeom>
          <a:solidFill>
            <a:srgbClr val="005FA5"/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8452485" y="4075748"/>
            <a:ext cx="562661" cy="3962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950" dirty="0">
                <a:solidFill>
                  <a:srgbClr val="005FA5"/>
                </a:solidFill>
                <a:latin typeface="Microsoft YaHei"/>
                <a:ea typeface="Microsoft YaHei"/>
                <a:cs typeface="Microsoft YaHei"/>
              </a:rPr>
              <a:t>60%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737235" y="4971098"/>
            <a:ext cx="1159002" cy="3962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dirty="0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演示准备</a:t>
            </a:r>
          </a:p>
        </p:txBody>
      </p:sp>
      <p:sp>
        <p:nvSpPr>
          <p:cNvPr id="17" name="Rectangle 17"/>
          <p:cNvSpPr/>
          <p:nvPr/>
        </p:nvSpPr>
        <p:spPr>
          <a:xfrm>
            <a:off x="2476500" y="4876800"/>
            <a:ext cx="5715000" cy="400050"/>
          </a:xfrm>
          <a:prstGeom prst="rect">
            <a:avLst/>
          </a:prstGeom>
          <a:solidFill>
            <a:srgbClr val="EDF5FC"/>
          </a:solidFill>
          <a:ln>
            <a:noFill/>
          </a:ln>
        </p:spPr>
      </p:sp>
      <p:sp>
        <p:nvSpPr>
          <p:cNvPr id="18" name="Rectangle 18"/>
          <p:cNvSpPr/>
          <p:nvPr/>
        </p:nvSpPr>
        <p:spPr>
          <a:xfrm>
            <a:off x="2476500" y="4876800"/>
            <a:ext cx="2286000" cy="400050"/>
          </a:xfrm>
          <a:prstGeom prst="rect">
            <a:avLst/>
          </a:prstGeom>
          <a:solidFill>
            <a:srgbClr val="005FA5"/>
          </a:solidFill>
          <a:ln>
            <a:noFill/>
          </a:ln>
        </p:spPr>
      </p:sp>
      <p:sp>
        <p:nvSpPr>
          <p:cNvPr id="19" name="TextBox 19"/>
          <p:cNvSpPr txBox="1"/>
          <p:nvPr/>
        </p:nvSpPr>
        <p:spPr>
          <a:xfrm>
            <a:off x="8452485" y="4971098"/>
            <a:ext cx="562661" cy="3962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950" dirty="0">
                <a:solidFill>
                  <a:srgbClr val="005FA5"/>
                </a:solidFill>
                <a:latin typeface="Microsoft YaHei"/>
                <a:ea typeface="Microsoft YaHei"/>
                <a:cs typeface="Microsoft YaHei"/>
              </a:rPr>
              <a:t>40%</a:t>
            </a:r>
          </a:p>
        </p:txBody>
      </p:sp>
      <p:sp>
        <p:nvSpPr>
          <p:cNvPr id="20" name="Line 20"/>
          <p:cNvSpPr/>
          <p:nvPr/>
        </p:nvSpPr>
        <p:spPr>
          <a:xfrm>
            <a:off x="762000" y="6048375"/>
            <a:ext cx="10668000" cy="9525"/>
          </a:xfrm>
          <a:custGeom>
            <a:avLst/>
            <a:gdLst/>
            <a:ahLst/>
            <a:cxnLst/>
            <a:rect l="l" t="t" r="r" b="b"/>
            <a:pathLst>
              <a:path w="10668000" h="9525">
                <a:moveTo>
                  <a:pt x="0" y="0"/>
                </a:moveTo>
                <a:lnTo>
                  <a:pt x="10668000" y="0"/>
                </a:lnTo>
              </a:path>
            </a:pathLst>
          </a:custGeom>
          <a:noFill/>
          <a:ln w="19050">
            <a:solidFill>
              <a:srgbClr val="BAE2FF"/>
            </a:solidFill>
          </a:ln>
        </p:spPr>
      </p:sp>
      <p:sp>
        <p:nvSpPr>
          <p:cNvPr id="21" name="TextBox 21"/>
          <p:cNvSpPr txBox="1"/>
          <p:nvPr/>
        </p:nvSpPr>
        <p:spPr>
          <a:xfrm>
            <a:off x="746760" y="6347460"/>
            <a:ext cx="412699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0677E"/>
                </a:solidFill>
                <a:latin typeface="Microsoft YaHei"/>
                <a:ea typeface="Microsoft YaHei"/>
                <a:cs typeface="Microsoft YaHei"/>
              </a:rPr>
              <a:t>图表由文字与矩形组成，不是带数据工作簿的原生图表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1033760" y="6347460"/>
            <a:ext cx="218237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rgbClr val="005FA5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/>
  <cp:lastModifiedBy/>
  <cp:revision>1</cp:revision>
  <dcterms:created xsi:type="dcterms:W3CDTF">2026-10-31T02:04:44Z</dcterms:created>
  <dcterms:modified xsi:type="dcterms:W3CDTF">2026-10-31T02:04:44Z</dcterms:modified>
  <cp:category/>
  <cp:contentStatus/>
</cp:coreProperties>
</file>