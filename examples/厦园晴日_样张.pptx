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8d613f3b1c87e1d.jpg"/>
  <Relationship Id="rId3" Type="http://schemas.openxmlformats.org/officeDocument/2006/relationships/image" Target="../media/image_435c9693db42813b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e59e185f1f82234.jp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239e4d1592b9b0.png"/>
  <Relationship Id="rId3" Type="http://schemas.openxmlformats.org/officeDocument/2006/relationships/image" Target="../media/image_43239e4d1592b9b0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7dcd3ff2ae79c1e.jpg"/>
  <Relationship Id="rId3" Type="http://schemas.openxmlformats.org/officeDocument/2006/relationships/image" Target="../media/image_cf9ea476657ab0c8.png"/>
  <Relationship Id="rId4" Type="http://schemas.openxmlformats.org/officeDocument/2006/relationships/image" Target="../media/image_435c9693db42813b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d1f8f6be5e751eb.jpg"/>
  <Relationship Id="rId3" Type="http://schemas.openxmlformats.org/officeDocument/2006/relationships/image" Target="../media/image_435c9693db42813b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3649" r="0" b="3649"/>
          <a:stretch>
            <a:fillRect/>
          </a:stretch>
        </p:blipFill>
        <p:spPr>
          <a:xfrm>
            <a:off x="459772" y="390525"/>
            <a:ext cx="11274457" cy="60769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436340" y="390811"/>
            <a:ext cx="11319415" cy="6076379"/>
          </a:xfrm>
          <a:prstGeom prst="rect">
            <a:avLst/>
          </a:prstGeom>
          <a:noFill/>
          <a:ln w="9525">
            <a:solidFill>
              <a:srgbClr val="4874CB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9607391" y="0"/>
            <a:ext cx="2584609" cy="2014347"/>
          </a:xfrm>
          <a:custGeom>
            <a:avLst/>
            <a:gdLst/>
            <a:ahLst/>
            <a:cxnLst/>
            <a:rect l="l" t="t" r="r" b="b"/>
            <a:pathLst>
              <a:path w="2584609" h="2014347">
                <a:moveTo>
                  <a:pt x="4858" y="0"/>
                </a:moveTo>
                <a:lnTo>
                  <a:pt x="2584609" y="0"/>
                </a:lnTo>
                <a:lnTo>
                  <a:pt x="2584609" y="1882045"/>
                </a:lnTo>
                <a:lnTo>
                  <a:pt x="2487358" y="1928146"/>
                </a:lnTo>
                <a:cubicBezTo>
                  <a:pt x="2307241" y="1984248"/>
                  <a:pt x="2115788" y="2014347"/>
                  <a:pt x="1917287" y="2014347"/>
                </a:cubicBezTo>
                <a:cubicBezTo>
                  <a:pt x="858393" y="2014347"/>
                  <a:pt x="0" y="1155954"/>
                  <a:pt x="0" y="97060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4843653"/>
            <a:ext cx="2584609" cy="2014347"/>
          </a:xfrm>
          <a:custGeom>
            <a:avLst/>
            <a:gdLst/>
            <a:ahLst/>
            <a:cxnLst/>
            <a:rect l="l" t="t" r="r" b="b"/>
            <a:pathLst>
              <a:path w="2584609" h="2014347">
                <a:moveTo>
                  <a:pt x="667322" y="0"/>
                </a:moveTo>
                <a:cubicBezTo>
                  <a:pt x="1726216" y="0"/>
                  <a:pt x="2584609" y="858393"/>
                  <a:pt x="2584609" y="1917287"/>
                </a:cubicBezTo>
                <a:lnTo>
                  <a:pt x="2579751" y="2014347"/>
                </a:lnTo>
                <a:lnTo>
                  <a:pt x="0" y="2014347"/>
                </a:lnTo>
                <a:lnTo>
                  <a:pt x="0" y="132302"/>
                </a:lnTo>
                <a:lnTo>
                  <a:pt x="97250" y="86201"/>
                </a:lnTo>
                <a:cubicBezTo>
                  <a:pt x="277368" y="30099"/>
                  <a:pt x="468820" y="0"/>
                  <a:pt x="667322" y="0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2824734" y="5922264"/>
            <a:ext cx="935736" cy="935736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491442" y="-5429"/>
            <a:ext cx="935736" cy="935736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1662696" y="499872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0" name="Polygon 10"/>
          <p:cNvSpPr/>
          <p:nvPr/>
        </p:nvSpPr>
        <p:spPr>
          <a:xfrm>
            <a:off x="11662696" y="743236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1" name="Polygon 11"/>
          <p:cNvSpPr/>
          <p:nvPr/>
        </p:nvSpPr>
        <p:spPr>
          <a:xfrm>
            <a:off x="11662696" y="986600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11662696" y="1229963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11662696" y="1473327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4" name="Polygon 14"/>
          <p:cNvSpPr/>
          <p:nvPr/>
        </p:nvSpPr>
        <p:spPr>
          <a:xfrm>
            <a:off x="371666" y="5333333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71666" y="5576697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371666" y="5820061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7" name="Polygon 17"/>
          <p:cNvSpPr/>
          <p:nvPr/>
        </p:nvSpPr>
        <p:spPr>
          <a:xfrm>
            <a:off x="371666" y="6063424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8" name="Polygon 18"/>
          <p:cNvSpPr/>
          <p:nvPr/>
        </p:nvSpPr>
        <p:spPr>
          <a:xfrm>
            <a:off x="371666" y="6306788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757249" y="5846826"/>
            <a:ext cx="767429" cy="96488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757249" y="6015228"/>
            <a:ext cx="767429" cy="96488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757249" y="6183630"/>
            <a:ext cx="767429" cy="96488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93" y="565785"/>
            <a:ext cx="2464403" cy="707422"/>
          </a:xfrm>
          <a:prstGeom prst="rect">
            <a:avLst/>
          </a:prstGeom>
        </p:spPr>
      </p:pic>
      <p:sp>
        <p:nvSpPr>
          <p:cNvPr id="23" name="Rectangle 23"/>
          <p:cNvSpPr/>
          <p:nvPr/>
        </p:nvSpPr>
        <p:spPr>
          <a:xfrm>
            <a:off x="921353" y="2152650"/>
            <a:ext cx="10354913" cy="2596515"/>
          </a:xfrm>
          <a:prstGeom prst="rect">
            <a:avLst/>
          </a:prstGeom>
          <a:solidFill>
            <a:srgbClr val="FFFFFF">
              <a:alpha val="79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450592" y="2529840"/>
            <a:ext cx="729081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学术汇报论文答辩模板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338" y="3550444"/>
            <a:ext cx="296532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80" spc="450" dirty="0">
                <a:solidFill>
                  <a:srgbClr val="005FA5"/>
                </a:solidFill>
                <a:latin typeface="微软雅黑"/>
                <a:ea typeface="Microsoft YaHei"/>
                <a:cs typeface="微软雅黑"/>
              </a:rPr>
              <a:t>学院 / 专业 / 班级</a:t>
            </a:r>
          </a:p>
        </p:txBody>
      </p:sp>
      <p:sp>
        <p:nvSpPr>
          <p:cNvPr id="26" name="Line 26"/>
          <p:cNvSpPr/>
          <p:nvPr/>
        </p:nvSpPr>
        <p:spPr>
          <a:xfrm>
            <a:off x="2383346" y="4000500"/>
            <a:ext cx="7425309" cy="9525"/>
          </a:xfrm>
          <a:custGeom>
            <a:avLst/>
            <a:gdLst/>
            <a:ahLst/>
            <a:cxnLst/>
            <a:rect l="l" t="t" r="r" b="b"/>
            <a:pathLst>
              <a:path w="7425309" h="9525">
                <a:moveTo>
                  <a:pt x="0" y="0"/>
                </a:moveTo>
                <a:lnTo>
                  <a:pt x="7425309" y="0"/>
                </a:lnTo>
              </a:path>
            </a:pathLst>
          </a:custGeom>
          <a:noFill/>
          <a:ln w="9525">
            <a:solidFill>
              <a:srgbClr val="4874C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224528" y="4143375"/>
            <a:ext cx="14569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指导老师：XXX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2958" y="4143375"/>
            <a:ext cx="12435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答辩人：XXX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12106" y="4499610"/>
            <a:ext cx="1967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5FA5"/>
                </a:solidFill>
                <a:latin typeface="微软雅黑"/>
                <a:ea typeface="Microsoft YaHei"/>
                <a:cs typeface="微软雅黑"/>
              </a:rPr>
              <a:t>厦门大学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7649" r="0" b="7649"/>
          <a:stretch>
            <a:fillRect/>
          </a:stretch>
        </p:blipFill>
        <p:spPr>
          <a:xfrm>
            <a:off x="436245" y="390525"/>
            <a:ext cx="6902482" cy="6083903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436340" y="390811"/>
            <a:ext cx="11319415" cy="6076379"/>
          </a:xfrm>
          <a:prstGeom prst="rect">
            <a:avLst/>
          </a:prstGeom>
          <a:noFill/>
          <a:ln w="9525">
            <a:solidFill>
              <a:srgbClr val="4874CB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10950512" y="0"/>
            <a:ext cx="1241488" cy="979170"/>
          </a:xfrm>
          <a:custGeom>
            <a:avLst/>
            <a:gdLst/>
            <a:ahLst/>
            <a:cxnLst/>
            <a:rect l="l" t="t" r="r" b="b"/>
            <a:pathLst>
              <a:path w="1241488" h="979170">
                <a:moveTo>
                  <a:pt x="2381" y="0"/>
                </a:moveTo>
                <a:lnTo>
                  <a:pt x="1241488" y="0"/>
                </a:lnTo>
                <a:lnTo>
                  <a:pt x="1241488" y="914876"/>
                </a:lnTo>
                <a:lnTo>
                  <a:pt x="1209103" y="937260"/>
                </a:lnTo>
                <a:cubicBezTo>
                  <a:pt x="1121569" y="964502"/>
                  <a:pt x="1028510" y="979170"/>
                  <a:pt x="931926" y="979170"/>
                </a:cubicBezTo>
                <a:cubicBezTo>
                  <a:pt x="417290" y="979170"/>
                  <a:pt x="0" y="561880"/>
                  <a:pt x="0" y="47244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650664" y="597503"/>
            <a:ext cx="395097" cy="39509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11379708" y="1157859"/>
            <a:ext cx="186023" cy="160306"/>
          </a:xfrm>
          <a:custGeom>
            <a:avLst/>
            <a:gdLst/>
            <a:ahLst/>
            <a:cxnLst/>
            <a:rect l="l" t="t" r="r" b="b"/>
            <a:pathLst>
              <a:path w="186023" h="160306">
                <a:moveTo>
                  <a:pt x="92964" y="0"/>
                </a:moveTo>
                <a:lnTo>
                  <a:pt x="186023" y="160306"/>
                </a:lnTo>
                <a:lnTo>
                  <a:pt x="0" y="160306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1379708" y="1401128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1379708" y="1644491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0" name="Polygon 10"/>
          <p:cNvSpPr/>
          <p:nvPr/>
        </p:nvSpPr>
        <p:spPr>
          <a:xfrm>
            <a:off x="11379708" y="1887855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1" name="Polygon 11"/>
          <p:cNvSpPr/>
          <p:nvPr/>
        </p:nvSpPr>
        <p:spPr>
          <a:xfrm>
            <a:off x="11379708" y="2131219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cubicBezTo>
                  <a:pt x="571500" y="0"/>
                  <a:pt x="1143000" y="571500"/>
                  <a:pt x="1143000" y="1143000"/>
                </a:cubicBezTo>
                <a:lnTo>
                  <a:pt x="0" y="1143000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186339" y="5865019"/>
            <a:ext cx="395097" cy="39509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14" name="Polygon 14"/>
          <p:cNvSpPr/>
          <p:nvPr/>
        </p:nvSpPr>
        <p:spPr>
          <a:xfrm>
            <a:off x="371666" y="5333333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71666" y="5576697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371666" y="5820061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7" name="Polygon 17"/>
          <p:cNvSpPr/>
          <p:nvPr/>
        </p:nvSpPr>
        <p:spPr>
          <a:xfrm>
            <a:off x="371666" y="6063424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8" name="Polygon 18"/>
          <p:cNvSpPr/>
          <p:nvPr/>
        </p:nvSpPr>
        <p:spPr>
          <a:xfrm>
            <a:off x="371666" y="6306788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889552" y="5858256"/>
            <a:ext cx="676180" cy="84963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889552" y="6006560"/>
            <a:ext cx="676180" cy="84963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889552" y="6154960"/>
            <a:ext cx="676180" cy="84963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295483" y="2291715"/>
            <a:ext cx="2985135" cy="753713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943450" y="2455831"/>
            <a:ext cx="16892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PART 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16439" y="3321082"/>
            <a:ext cx="4176370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选题背景与意义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27359" y="4045268"/>
            <a:ext cx="19545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5FA5"/>
                </a:solidFill>
                <a:latin typeface="微软雅黑"/>
                <a:ea typeface="Microsoft YaHei"/>
                <a:cs typeface="微软雅黑"/>
              </a:rPr>
              <a:t>从临床问题到研究问题</a:t>
            </a:r>
          </a:p>
        </p:txBody>
      </p:sp>
      <p:sp>
        <p:nvSpPr>
          <p:cNvPr id="26" name="Line 26"/>
          <p:cNvSpPr/>
          <p:nvPr/>
        </p:nvSpPr>
        <p:spPr>
          <a:xfrm>
            <a:off x="7524750" y="6096000"/>
            <a:ext cx="2552700" cy="9525"/>
          </a:xfrm>
          <a:custGeom>
            <a:avLst/>
            <a:gdLst/>
            <a:ahLst/>
            <a:cxnLst/>
            <a:rect l="l" t="t" r="r" b="b"/>
            <a:pathLst>
              <a:path w="2552700" h="952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/>
          <a:ln w="19050">
            <a:solidFill>
              <a:srgbClr val="BAE2FF"/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36340" y="390811"/>
            <a:ext cx="11319415" cy="6076379"/>
          </a:xfrm>
          <a:prstGeom prst="rect">
            <a:avLst/>
          </a:prstGeom>
          <a:noFill/>
          <a:ln w="9525">
            <a:solidFill>
              <a:srgbClr val="4874CB"/>
            </a:solidFill>
          </a:ln>
        </p:spPr>
      </p:sp>
      <p:sp>
        <p:nvSpPr>
          <p:cNvPr id="4" name="Freeform 4"/>
          <p:cNvSpPr/>
          <p:nvPr/>
        </p:nvSpPr>
        <p:spPr>
          <a:xfrm>
            <a:off x="10950512" y="0"/>
            <a:ext cx="1241488" cy="979170"/>
          </a:xfrm>
          <a:custGeom>
            <a:avLst/>
            <a:gdLst/>
            <a:ahLst/>
            <a:cxnLst/>
            <a:rect l="l" t="t" r="r" b="b"/>
            <a:pathLst>
              <a:path w="1241488" h="979170">
                <a:moveTo>
                  <a:pt x="2381" y="0"/>
                </a:moveTo>
                <a:lnTo>
                  <a:pt x="1241488" y="0"/>
                </a:lnTo>
                <a:lnTo>
                  <a:pt x="1241488" y="914876"/>
                </a:lnTo>
                <a:lnTo>
                  <a:pt x="1209103" y="937260"/>
                </a:lnTo>
                <a:cubicBezTo>
                  <a:pt x="1121569" y="964502"/>
                  <a:pt x="1028510" y="979170"/>
                  <a:pt x="931926" y="979170"/>
                </a:cubicBezTo>
                <a:cubicBezTo>
                  <a:pt x="417290" y="979170"/>
                  <a:pt x="0" y="561880"/>
                  <a:pt x="0" y="47244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50664" y="597503"/>
            <a:ext cx="395097" cy="39509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11379708" y="1157859"/>
            <a:ext cx="186023" cy="160306"/>
          </a:xfrm>
          <a:custGeom>
            <a:avLst/>
            <a:gdLst/>
            <a:ahLst/>
            <a:cxnLst/>
            <a:rect l="l" t="t" r="r" b="b"/>
            <a:pathLst>
              <a:path w="186023" h="160306">
                <a:moveTo>
                  <a:pt x="92964" y="0"/>
                </a:moveTo>
                <a:lnTo>
                  <a:pt x="186023" y="160306"/>
                </a:lnTo>
                <a:lnTo>
                  <a:pt x="0" y="160306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11379708" y="1401128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1379708" y="1644491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1379708" y="1887855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0" name="Polygon 10"/>
          <p:cNvSpPr/>
          <p:nvPr/>
        </p:nvSpPr>
        <p:spPr>
          <a:xfrm>
            <a:off x="11379708" y="2131219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0" y="5715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cubicBezTo>
                  <a:pt x="571500" y="0"/>
                  <a:pt x="1143000" y="571500"/>
                  <a:pt x="1143000" y="1143000"/>
                </a:cubicBezTo>
                <a:lnTo>
                  <a:pt x="0" y="1143000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186339" y="5865019"/>
            <a:ext cx="395097" cy="39509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371666" y="5333333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4" name="Polygon 14"/>
          <p:cNvSpPr/>
          <p:nvPr/>
        </p:nvSpPr>
        <p:spPr>
          <a:xfrm>
            <a:off x="371666" y="5576697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71666" y="5820061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371666" y="6063424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7" name="Polygon 17"/>
          <p:cNvSpPr/>
          <p:nvPr/>
        </p:nvSpPr>
        <p:spPr>
          <a:xfrm>
            <a:off x="371666" y="6306788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0889552" y="5858256"/>
            <a:ext cx="676180" cy="84963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889552" y="6006560"/>
            <a:ext cx="676180" cy="84963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889552" y="6154960"/>
            <a:ext cx="676180" cy="84963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296918" y="991172"/>
            <a:ext cx="3598164" cy="716090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421151" y="1120330"/>
            <a:ext cx="3349699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微软雅黑"/>
                <a:ea typeface="Microsoft YaHei"/>
                <a:cs typeface="微软雅黑"/>
              </a:rPr>
              <a:t>目录/Contents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1272723"/>
            <a:ext cx="971550" cy="407304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8007287" y="1272723"/>
            <a:ext cx="971549" cy="407304"/>
            <a:chOff x="8007287" y="1272723"/>
            <a:chExt cx="971549" cy="407304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8007287" y="1272723"/>
              <a:ext cx="971550" cy="407304"/>
            </a:xfrm>
            <a:prstGeom prst="rect">
              <a:avLst/>
            </a:prstGeom>
          </p:spPr>
        </p:pic>
      </p:grpSp>
      <p:sp>
        <p:nvSpPr>
          <p:cNvPr id="26" name="TextBox 26"/>
          <p:cNvSpPr txBox="1"/>
          <p:nvPr/>
        </p:nvSpPr>
        <p:spPr>
          <a:xfrm>
            <a:off x="1874947" y="2902934"/>
            <a:ext cx="91049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005FA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793873" y="2919984"/>
            <a:ext cx="291007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选题背景与意义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4307" y="2902934"/>
            <a:ext cx="91049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005FA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33430" y="2919984"/>
            <a:ext cx="291007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研究方法与过程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74947" y="4399979"/>
            <a:ext cx="91049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005FA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93873" y="4417028"/>
            <a:ext cx="291007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研究成果与展示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4307" y="4399979"/>
            <a:ext cx="910499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800" b="1" dirty="0">
                <a:solidFill>
                  <a:srgbClr val="005FA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33430" y="4417028"/>
            <a:ext cx="291007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论文总结与启示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36340" y="390811"/>
            <a:ext cx="11319415" cy="6076379"/>
          </a:xfrm>
          <a:prstGeom prst="rect">
            <a:avLst/>
          </a:prstGeom>
          <a:noFill/>
          <a:ln w="9525">
            <a:solidFill>
              <a:srgbClr val="4874CB"/>
            </a:solidFill>
          </a:ln>
        </p:spPr>
      </p:sp>
      <p:sp>
        <p:nvSpPr>
          <p:cNvPr id="4" name="Freeform 4"/>
          <p:cNvSpPr/>
          <p:nvPr/>
        </p:nvSpPr>
        <p:spPr>
          <a:xfrm>
            <a:off x="11379708" y="0"/>
            <a:ext cx="812292" cy="648367"/>
          </a:xfrm>
          <a:custGeom>
            <a:avLst/>
            <a:gdLst/>
            <a:ahLst/>
            <a:cxnLst/>
            <a:rect l="l" t="t" r="r" b="b"/>
            <a:pathLst>
              <a:path w="812292" h="648367">
                <a:moveTo>
                  <a:pt x="1524" y="0"/>
                </a:moveTo>
                <a:lnTo>
                  <a:pt x="812292" y="0"/>
                </a:lnTo>
                <a:lnTo>
                  <a:pt x="812292" y="605790"/>
                </a:lnTo>
                <a:lnTo>
                  <a:pt x="800671" y="620649"/>
                </a:lnTo>
                <a:cubicBezTo>
                  <a:pt x="742664" y="638651"/>
                  <a:pt x="681038" y="648367"/>
                  <a:pt x="617125" y="648367"/>
                </a:cubicBezTo>
                <a:cubicBezTo>
                  <a:pt x="276320" y="648367"/>
                  <a:pt x="0" y="372046"/>
                  <a:pt x="0" y="31242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860054" y="797624"/>
            <a:ext cx="216218" cy="216218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11890248" y="1191292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3059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11890248" y="1434656"/>
            <a:ext cx="186023" cy="160306"/>
          </a:xfrm>
          <a:custGeom>
            <a:avLst/>
            <a:gdLst/>
            <a:ahLst/>
            <a:cxnLst/>
            <a:rect l="l" t="t" r="r" b="b"/>
            <a:pathLst>
              <a:path w="186023" h="160306">
                <a:moveTo>
                  <a:pt x="93059" y="0"/>
                </a:moveTo>
                <a:lnTo>
                  <a:pt x="186023" y="160306"/>
                </a:lnTo>
                <a:lnTo>
                  <a:pt x="0" y="160306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1890248" y="1678019"/>
            <a:ext cx="186023" cy="160306"/>
          </a:xfrm>
          <a:custGeom>
            <a:avLst/>
            <a:gdLst/>
            <a:ahLst/>
            <a:cxnLst/>
            <a:rect l="l" t="t" r="r" b="b"/>
            <a:pathLst>
              <a:path w="186023" h="160306">
                <a:moveTo>
                  <a:pt x="93059" y="0"/>
                </a:moveTo>
                <a:lnTo>
                  <a:pt x="186023" y="160306"/>
                </a:lnTo>
                <a:lnTo>
                  <a:pt x="0" y="160306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1890248" y="1921383"/>
            <a:ext cx="186023" cy="160306"/>
          </a:xfrm>
          <a:custGeom>
            <a:avLst/>
            <a:gdLst/>
            <a:ahLst/>
            <a:cxnLst/>
            <a:rect l="l" t="t" r="r" b="b"/>
            <a:pathLst>
              <a:path w="186023" h="160306">
                <a:moveTo>
                  <a:pt x="93059" y="0"/>
                </a:moveTo>
                <a:lnTo>
                  <a:pt x="186023" y="160306"/>
                </a:lnTo>
                <a:lnTo>
                  <a:pt x="0" y="160306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0" name="Polygon 10"/>
          <p:cNvSpPr/>
          <p:nvPr/>
        </p:nvSpPr>
        <p:spPr>
          <a:xfrm>
            <a:off x="11890248" y="2164652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3059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11" name="Polygon 11"/>
          <p:cNvSpPr/>
          <p:nvPr/>
        </p:nvSpPr>
        <p:spPr>
          <a:xfrm>
            <a:off x="192691" y="5715000"/>
            <a:ext cx="186119" cy="160401"/>
          </a:xfrm>
          <a:custGeom>
            <a:avLst/>
            <a:gdLst/>
            <a:ahLst/>
            <a:cxnLst/>
            <a:rect l="l" t="t" r="r" b="b"/>
            <a:pathLst>
              <a:path w="186119" h="160401">
                <a:moveTo>
                  <a:pt x="93059" y="0"/>
                </a:moveTo>
                <a:lnTo>
                  <a:pt x="186119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192691" y="5958364"/>
            <a:ext cx="186119" cy="160401"/>
          </a:xfrm>
          <a:custGeom>
            <a:avLst/>
            <a:gdLst/>
            <a:ahLst/>
            <a:cxnLst/>
            <a:rect l="l" t="t" r="r" b="b"/>
            <a:pathLst>
              <a:path w="186119" h="160401">
                <a:moveTo>
                  <a:pt x="93059" y="0"/>
                </a:moveTo>
                <a:lnTo>
                  <a:pt x="186119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192691" y="6201728"/>
            <a:ext cx="186119" cy="160401"/>
          </a:xfrm>
          <a:custGeom>
            <a:avLst/>
            <a:gdLst/>
            <a:ahLst/>
            <a:cxnLst/>
            <a:rect l="l" t="t" r="r" b="b"/>
            <a:pathLst>
              <a:path w="186119" h="160401">
                <a:moveTo>
                  <a:pt x="93059" y="0"/>
                </a:moveTo>
                <a:lnTo>
                  <a:pt x="186119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rcRect l="11798" t="0" r="11798" b="0"/>
          <a:stretch>
            <a:fillRect/>
          </a:stretch>
        </p:blipFill>
        <p:spPr>
          <a:xfrm>
            <a:off x="11049000" y="390525"/>
            <a:ext cx="647700" cy="1695450"/>
          </a:xfrm>
          <a:prstGeom prst="rect">
            <a:avLst/>
          </a:prstGeom>
        </p:spPr>
      </p:pic>
      <p:pic>
        <p:nvPicPr>
          <p:cNvPr id="15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87" y="914400"/>
            <a:ext cx="441127" cy="495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34465" y="1010602"/>
            <a:ext cx="273070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研究背景与意义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09600"/>
            <a:ext cx="1428750" cy="409575"/>
          </a:xfrm>
          <a:prstGeom prst="rect">
            <a:avLst/>
          </a:prstGeom>
        </p:spPr>
      </p:pic>
      <p:sp>
        <p:nvSpPr>
          <p:cNvPr id="18" name="Rectangle 18"/>
          <p:cNvSpPr/>
          <p:nvPr/>
        </p:nvSpPr>
        <p:spPr>
          <a:xfrm>
            <a:off x="685800" y="1676400"/>
            <a:ext cx="9906000" cy="400050"/>
          </a:xfrm>
          <a:prstGeom prst="rect">
            <a:avLst/>
          </a:prstGeom>
          <a:solidFill>
            <a:srgbClr val="EAF3F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85800" y="1676400"/>
            <a:ext cx="28575" cy="400050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4865" y="1820228"/>
            <a:ext cx="6539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5FA5"/>
                </a:solidFill>
                <a:latin typeface="微软雅黑"/>
                <a:ea typeface="Microsoft YaHei"/>
                <a:cs typeface="微软雅黑"/>
              </a:rPr>
              <a:t>核心观点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0665" y="1820228"/>
            <a:ext cx="24163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术后营养管理是加速康复的关键环节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85800" y="2247900"/>
            <a:ext cx="9906000" cy="3657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9D9EE"/>
            </a:solidFill>
            <a:custDash>
              <a:ds d="533333" sp="533333"/>
            </a:custDash>
          </a:ln>
        </p:spPr>
      </p:sp>
      <p:sp>
        <p:nvSpPr>
          <p:cNvPr id="23" name="TextBox 23"/>
          <p:cNvSpPr txBox="1"/>
          <p:nvPr/>
        </p:nvSpPr>
        <p:spPr>
          <a:xfrm>
            <a:off x="4277487" y="4026218"/>
            <a:ext cx="2722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FA6C4"/>
                </a:solidFill>
                <a:latin typeface="微软雅黑"/>
                <a:ea typeface="Microsoft YaHei"/>
                <a:cs typeface="微软雅黑"/>
              </a:rPr>
              <a:t>在此放置图表、图片或分栏内容</a:t>
            </a:r>
          </a:p>
        </p:txBody>
      </p:sp>
      <p:sp>
        <p:nvSpPr>
          <p:cNvPr id="24" name="Line 24"/>
          <p:cNvSpPr/>
          <p:nvPr/>
        </p:nvSpPr>
        <p:spPr>
          <a:xfrm>
            <a:off x="685800" y="61912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CE6F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4370" y="6360795"/>
            <a:ext cx="13030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B8C"/>
                </a:solidFill>
                <a:latin typeface="微软雅黑"/>
                <a:ea typeface="Microsoft YaHei"/>
                <a:cs typeface="微软雅黑"/>
              </a:rPr>
              <a:t>资料来源：研究者整理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06873" y="6360795"/>
            <a:ext cx="15782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B8C"/>
                </a:solidFill>
                <a:latin typeface="微软雅黑"/>
                <a:ea typeface="Microsoft YaHei"/>
                <a:cs typeface="微软雅黑"/>
              </a:rPr>
              <a:t>第一部分 · 选题背景与意义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33637" y="6352699"/>
            <a:ext cx="184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005FA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0" t="680" r="0" b="680"/>
          <a:stretch>
            <a:fillRect/>
          </a:stretch>
        </p:blipFill>
        <p:spPr>
          <a:xfrm>
            <a:off x="459772" y="390525"/>
            <a:ext cx="11274457" cy="607695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436340" y="390811"/>
            <a:ext cx="11319415" cy="6076379"/>
          </a:xfrm>
          <a:prstGeom prst="rect">
            <a:avLst/>
          </a:prstGeom>
          <a:noFill/>
          <a:ln w="9525">
            <a:solidFill>
              <a:srgbClr val="4874CB"/>
            </a:solidFill>
          </a:ln>
        </p:spPr>
      </p:sp>
      <p:sp>
        <p:nvSpPr>
          <p:cNvPr id="5" name="Freeform 5"/>
          <p:cNvSpPr/>
          <p:nvPr/>
        </p:nvSpPr>
        <p:spPr>
          <a:xfrm>
            <a:off x="9607391" y="0"/>
            <a:ext cx="2584609" cy="2014347"/>
          </a:xfrm>
          <a:custGeom>
            <a:avLst/>
            <a:gdLst/>
            <a:ahLst/>
            <a:cxnLst/>
            <a:rect l="l" t="t" r="r" b="b"/>
            <a:pathLst>
              <a:path w="2584609" h="2014347">
                <a:moveTo>
                  <a:pt x="4858" y="0"/>
                </a:moveTo>
                <a:lnTo>
                  <a:pt x="2584609" y="0"/>
                </a:lnTo>
                <a:lnTo>
                  <a:pt x="2584609" y="1882045"/>
                </a:lnTo>
                <a:lnTo>
                  <a:pt x="2487358" y="1928146"/>
                </a:lnTo>
                <a:cubicBezTo>
                  <a:pt x="2307241" y="1984248"/>
                  <a:pt x="2115788" y="2014347"/>
                  <a:pt x="1917287" y="2014347"/>
                </a:cubicBezTo>
                <a:cubicBezTo>
                  <a:pt x="858393" y="2014347"/>
                  <a:pt x="0" y="1155954"/>
                  <a:pt x="0" y="97060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4843653"/>
            <a:ext cx="2584609" cy="2014347"/>
          </a:xfrm>
          <a:custGeom>
            <a:avLst/>
            <a:gdLst/>
            <a:ahLst/>
            <a:cxnLst/>
            <a:rect l="l" t="t" r="r" b="b"/>
            <a:pathLst>
              <a:path w="2584609" h="2014347">
                <a:moveTo>
                  <a:pt x="667322" y="0"/>
                </a:moveTo>
                <a:cubicBezTo>
                  <a:pt x="1726216" y="0"/>
                  <a:pt x="2584609" y="858393"/>
                  <a:pt x="2584609" y="1917287"/>
                </a:cubicBezTo>
                <a:lnTo>
                  <a:pt x="2579751" y="2014347"/>
                </a:lnTo>
                <a:lnTo>
                  <a:pt x="0" y="2014347"/>
                </a:lnTo>
                <a:lnTo>
                  <a:pt x="0" y="132302"/>
                </a:lnTo>
                <a:lnTo>
                  <a:pt x="97250" y="86201"/>
                </a:lnTo>
                <a:cubicBezTo>
                  <a:pt x="277368" y="30099"/>
                  <a:pt x="468820" y="0"/>
                  <a:pt x="667322" y="0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2824734" y="5922264"/>
            <a:ext cx="935736" cy="935736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8491442" y="-5429"/>
            <a:ext cx="935736" cy="935736"/>
          </a:xfrm>
          <a:prstGeom prst="ellipse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11662696" y="499872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0" name="Polygon 10"/>
          <p:cNvSpPr/>
          <p:nvPr/>
        </p:nvSpPr>
        <p:spPr>
          <a:xfrm>
            <a:off x="11662696" y="743236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1" name="Polygon 11"/>
          <p:cNvSpPr/>
          <p:nvPr/>
        </p:nvSpPr>
        <p:spPr>
          <a:xfrm>
            <a:off x="11662696" y="986600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11662696" y="1229963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11662696" y="1473327"/>
            <a:ext cx="186023" cy="160401"/>
          </a:xfrm>
          <a:custGeom>
            <a:avLst/>
            <a:gdLst/>
            <a:ahLst/>
            <a:cxnLst/>
            <a:rect l="l" t="t" r="r" b="b"/>
            <a:pathLst>
              <a:path w="186023" h="160401">
                <a:moveTo>
                  <a:pt x="92964" y="0"/>
                </a:moveTo>
                <a:lnTo>
                  <a:pt x="186023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4" name="Polygon 14"/>
          <p:cNvSpPr/>
          <p:nvPr/>
        </p:nvSpPr>
        <p:spPr>
          <a:xfrm>
            <a:off x="371666" y="5333333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71666" y="5576697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371666" y="5820061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7" name="Polygon 17"/>
          <p:cNvSpPr/>
          <p:nvPr/>
        </p:nvSpPr>
        <p:spPr>
          <a:xfrm>
            <a:off x="371666" y="6063424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8" name="Polygon 18"/>
          <p:cNvSpPr/>
          <p:nvPr/>
        </p:nvSpPr>
        <p:spPr>
          <a:xfrm>
            <a:off x="371666" y="6306788"/>
            <a:ext cx="186118" cy="160401"/>
          </a:xfrm>
          <a:custGeom>
            <a:avLst/>
            <a:gdLst/>
            <a:ahLst/>
            <a:cxnLst/>
            <a:rect l="l" t="t" r="r" b="b"/>
            <a:pathLst>
              <a:path w="186118" h="160401">
                <a:moveTo>
                  <a:pt x="93059" y="0"/>
                </a:moveTo>
                <a:lnTo>
                  <a:pt x="186118" y="160401"/>
                </a:lnTo>
                <a:lnTo>
                  <a:pt x="0" y="160401"/>
                </a:lnTo>
                <a:close/>
              </a:path>
            </a:pathLst>
          </a:custGeom>
          <a:solidFill>
            <a:srgbClr val="005FA5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0757249" y="5846826"/>
            <a:ext cx="767429" cy="96488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757249" y="6015228"/>
            <a:ext cx="767429" cy="96488"/>
          </a:xfrm>
          <a:prstGeom prst="rect">
            <a:avLst/>
          </a:prstGeom>
          <a:solidFill>
            <a:srgbClr val="005FA5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757249" y="6183630"/>
            <a:ext cx="767429" cy="96488"/>
          </a:xfrm>
          <a:prstGeom prst="rect">
            <a:avLst/>
          </a:prstGeom>
          <a:solidFill>
            <a:srgbClr val="BAE2FF"/>
          </a:solidFill>
          <a:ln>
            <a:noFill/>
          </a:ln>
        </p:spPr>
      </p:sp>
      <p:pic>
        <p:nvPicPr>
          <p:cNvPr id="22" name="Imag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93" y="565785"/>
            <a:ext cx="2464403" cy="707422"/>
          </a:xfrm>
          <a:prstGeom prst="rect">
            <a:avLst/>
          </a:prstGeom>
        </p:spPr>
      </p:pic>
      <p:sp>
        <p:nvSpPr>
          <p:cNvPr id="23" name="Rectangle 23"/>
          <p:cNvSpPr/>
          <p:nvPr/>
        </p:nvSpPr>
        <p:spPr>
          <a:xfrm>
            <a:off x="921353" y="2152650"/>
            <a:ext cx="10354913" cy="2596515"/>
          </a:xfrm>
          <a:prstGeom prst="rect">
            <a:avLst/>
          </a:prstGeom>
          <a:solidFill>
            <a:srgbClr val="FFFFFF">
              <a:alpha val="79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906268" y="2594610"/>
            <a:ext cx="637946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04080"/>
                </a:solidFill>
                <a:latin typeface="微软雅黑"/>
                <a:ea typeface="Microsoft YaHei"/>
                <a:cs typeface="微软雅黑"/>
              </a:rPr>
              <a:t>恳请各位老师批评指正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97068" y="3558540"/>
            <a:ext cx="119786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300" dirty="0">
                <a:solidFill>
                  <a:srgbClr val="005FA5"/>
                </a:solidFill>
                <a:latin typeface="微软雅黑"/>
                <a:ea typeface="Microsoft YaHei"/>
                <a:cs typeface="微软雅黑"/>
              </a:rPr>
              <a:t>厦门大学</a:t>
            </a:r>
          </a:p>
        </p:txBody>
      </p:sp>
      <p:sp>
        <p:nvSpPr>
          <p:cNvPr id="26" name="Line 26"/>
          <p:cNvSpPr/>
          <p:nvPr/>
        </p:nvSpPr>
        <p:spPr>
          <a:xfrm>
            <a:off x="2383346" y="4000500"/>
            <a:ext cx="7425309" cy="9525"/>
          </a:xfrm>
          <a:custGeom>
            <a:avLst/>
            <a:gdLst/>
            <a:ahLst/>
            <a:cxnLst/>
            <a:rect l="l" t="t" r="r" b="b"/>
            <a:pathLst>
              <a:path w="7425309" h="9525">
                <a:moveTo>
                  <a:pt x="0" y="0"/>
                </a:moveTo>
                <a:lnTo>
                  <a:pt x="7425309" y="0"/>
                </a:lnTo>
              </a:path>
            </a:pathLst>
          </a:custGeom>
          <a:noFill/>
          <a:ln w="9525">
            <a:solidFill>
              <a:srgbClr val="4874C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224528" y="4143375"/>
            <a:ext cx="14569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指导老师：XXX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02958" y="4143375"/>
            <a:ext cx="12435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A1A1A"/>
                </a:solidFill>
                <a:latin typeface="微软雅黑"/>
                <a:ea typeface="Microsoft YaHei"/>
                <a:cs typeface="微软雅黑"/>
              </a:rPr>
              <a:t>答辩人：XXX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53482" y="4499610"/>
            <a:ext cx="12850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5FA5"/>
                </a:solidFill>
                <a:latin typeface="微软雅黑"/>
                <a:ea typeface="Microsoft YaHei"/>
                <a:cs typeface="微软雅黑"/>
              </a:rPr>
              <a:t>厦门大学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2026-10-30T02:33:51Z</dcterms:created>
  <dcterms:modified xsi:type="dcterms:W3CDTF">2026-10-30T02:33:51Z</dcterms:modified>
  <cp:category/>
  <cp:contentStatus/>
</cp:coreProperties>
</file>