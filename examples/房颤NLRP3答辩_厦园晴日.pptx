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Override PartName="/ppt/tags/tag1_tf1.xml" ContentType="application/vnd.openxmlformats-officedocument.presentationml.tags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27.xml" ContentType="application/vnd.openxmlformats-officedocument.presentationml.slide+xml"/>
  <ns0:Override PartName="/ppt/slides/slide28.xml" ContentType="application/vnd.openxmlformats-officedocument.presentationml.slide+xml"/>
  <ns0:Override PartName="/ppt/slides/slide29.xml" ContentType="application/vnd.openxmlformats-officedocument.presentationml.slide+xml"/>
  <ns0:Override PartName="/ppt/slides/slide30.xml" ContentType="application/vnd.openxmlformats-officedocument.presentationml.slide+xml"/>
  <ns0:Override PartName="/ppt/tags/tag74_tf1.xml" ContentType="application/vnd.openxmlformats-officedocument.presentationml.tags+xml"/>
  <ns0:Override PartName="/ppt/slides/slide31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3"/>
    <p:sldId id="257" r:id="rId24"/>
    <p:sldId id="258" r:id="rId25"/>
    <p:sldId id="259" r:id="rId26"/>
    <p:sldId id="260" r:id="rId27"/>
    <p:sldId id="261" r:id="rId28"/>
    <p:sldId id="262" r:id="rId29"/>
    <p:sldId id="263" r:id="rId30"/>
    <p:sldId id="264" r:id="rId31"/>
    <p:sldId id="265" r:id="rId32"/>
    <p:sldId id="266" r:id="rId33"/>
    <p:sldId id="267" r:id="rId34"/>
    <p:sldId id="268" r:id="rId35"/>
    <p:sldId id="269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orient="horz" pos="2173" userDrawn="1">
          <ns3:clr>
            <a:srgbClr val="A4A3A4"/>
          </ns3:clr>
        </ns3:guide>
        <ns3:guide id="2" pos="3839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FA5"/>
    <a:srgbClr val="ECF7FF"/>
    <a:srgbClr val="BAE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73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22" Type="http://schemas.openxmlformats.org/officeDocument/2006/relationships/tableStyles" Target="tableStyles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2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23" Type="http://schemas.openxmlformats.org/officeDocument/2006/relationships/slide" Target="slides/slide18.xml" /><Relationship Id="rId24" Type="http://schemas.openxmlformats.org/officeDocument/2006/relationships/slide" Target="slides/slide19.xml" /><Relationship Id="rId25" Type="http://schemas.openxmlformats.org/officeDocument/2006/relationships/slide" Target="slides/slide20.xml" /><Relationship Id="rId26" Type="http://schemas.openxmlformats.org/officeDocument/2006/relationships/slide" Target="slides/slide21.xml" /><Relationship Id="rId27" Type="http://schemas.openxmlformats.org/officeDocument/2006/relationships/slide" Target="slides/slide22.xml" /><Relationship Id="rId28" Type="http://schemas.openxmlformats.org/officeDocument/2006/relationships/slide" Target="slides/slide23.xml" /><Relationship Id="rId29" Type="http://schemas.openxmlformats.org/officeDocument/2006/relationships/slide" Target="slides/slide24.xml" /><Relationship Id="rId30" Type="http://schemas.openxmlformats.org/officeDocument/2006/relationships/slide" Target="slides/slide25.xml" /><Relationship Id="rId31" Type="http://schemas.openxmlformats.org/officeDocument/2006/relationships/slide" Target="slides/slide26.xml" /><Relationship Id="rId32" Type="http://schemas.openxmlformats.org/officeDocument/2006/relationships/slide" Target="slides/slide27.xml" /><Relationship Id="rId33" Type="http://schemas.openxmlformats.org/officeDocument/2006/relationships/slide" Target="slides/slide28.xml" /><Relationship Id="rId34" Type="http://schemas.openxmlformats.org/officeDocument/2006/relationships/slide" Target="slides/slide29.xml" /><Relationship Id="rId35" Type="http://schemas.openxmlformats.org/officeDocument/2006/relationships/slide" Target="slides/slide30.xml" /><Relationship Id="rId36" Type="http://schemas.openxmlformats.org/officeDocument/2006/relationships/slide" Target="slides/slide3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950497" y="2"/>
            <a:ext cx="1270457" cy="2291617"/>
            <a:chOff x="10950497" y="2"/>
            <a:chExt cx="1270457" cy="2291617"/>
          </a:xfrm>
        </p:grpSpPr>
        <p:sp>
          <p:nvSpPr>
            <p:cNvPr id="8" name="任意多边形: 形状 7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19" name="等腰三角形 18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" name="组合 24"/>
          <p:cNvGrpSpPr/>
          <p:nvPr userDrawn="1"/>
        </p:nvGrpSpPr>
        <p:grpSpPr>
          <a:xfrm rot="10800000">
            <a:off x="1" y="4566383"/>
            <a:ext cx="1270457" cy="2291617"/>
            <a:chOff x="10950497" y="2"/>
            <a:chExt cx="1270457" cy="2291617"/>
          </a:xfrm>
        </p:grpSpPr>
        <p:sp>
          <p:nvSpPr>
            <p:cNvPr id="26" name="任意多边形: 形状 25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28" name="等腰三角形 27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9" name="等腰三角形 28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0" name="等腰三角形 29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1" name="等腰三角形 30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9" name="椭圆 8"/>
          <p:cNvSpPr/>
          <p:nvPr/>
        </p:nvSpPr>
        <p:spPr>
          <a:xfrm>
            <a:off x="10650680" y="597491"/>
            <a:ext cx="395123" cy="39512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186302" y="5864996"/>
            <a:ext cx="395123" cy="39512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0889597" y="5858219"/>
            <a:ext cx="676134" cy="381689"/>
            <a:chOff x="4468761" y="1799303"/>
            <a:chExt cx="914400" cy="51619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4" name="矩形 33"/>
            <p:cNvSpPr/>
            <p:nvPr/>
          </p:nvSpPr>
          <p:spPr>
            <a:xfrm>
              <a:off x="4468761" y="1799303"/>
              <a:ext cx="914400" cy="11491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4468761" y="1999942"/>
              <a:ext cx="914400" cy="1149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4468761" y="2200580"/>
              <a:ext cx="914400" cy="11491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?>
<Relationships xmlns="http://schemas.openxmlformats.org/package/2006/relationships"><Relationship Id="rId4" Type="http://schemas.openxmlformats.org/officeDocument/2006/relationships/slideLayout" Target="../slideLayouts/slideLayout1.xml" /><Relationship Id="rId3" Type="http://schemas.openxmlformats.org/officeDocument/2006/relationships/tags" Target="../tags/tag1_tf1.xml" /><Relationship Id="rId2" Type="http://schemas.openxmlformats.org/officeDocument/2006/relationships/image" Target="../media/image2.png" /><Relationship Id="rId1" Type="http://schemas.openxmlformats.org/officeDocument/2006/relationships/image" Target="../media/image1.jpeg" /></Relationships>
</file>

<file path=ppt/slides/_rels/slide19.xml.rels><?xml version='1.0' encoding='utf-8'?>
<Relationships xmlns="http://schemas.openxmlformats.org/package/2006/relationships"><Relationship Id="rId2" Type="http://schemas.openxmlformats.org/officeDocument/2006/relationships/slideLayout" Target="../slideLayouts/slideLayout2.xml" /><Relationship Id="rId1" Type="http://schemas.openxmlformats.org/officeDocument/2006/relationships/image" Target="../media/image3.png" /></Relationships>
</file>

<file path=ppt/slides/_rels/slide20.xml.rels><?xml version='1.0' encoding='utf-8'?>
<Relationships xmlns="http://schemas.openxmlformats.org/package/2006/relationships"><Relationship Id="rId2" Type="http://schemas.openxmlformats.org/officeDocument/2006/relationships/slideLayout" Target="../slideLayouts/slideLayout2.xml" /><Relationship Id="rId1" Type="http://schemas.openxmlformats.org/officeDocument/2006/relationships/image" Target="../media/image4.jpeg" /></Relationships>
</file>

<file path=ppt/slides/_rels/slide21.xml.rels><?xml version='1.0' encoding='utf-8'?>
<Relationships xmlns="http://schemas.openxmlformats.org/package/2006/relationships"><Relationship Id="rId4" Type="http://schemas.openxmlformats.org/officeDocument/2006/relationships/slideLayout" Target="../slideLayouts/slideLayout2.xml" /><Relationship Id="rId3" Type="http://schemas.openxmlformats.org/officeDocument/2006/relationships/image" Target="../media/image7.jpeg" /><Relationship Id="rId2" Type="http://schemas.openxmlformats.org/officeDocument/2006/relationships/image" Target="../media/image6.png" /><Relationship Id="rId1" Type="http://schemas.openxmlformats.org/officeDocument/2006/relationships/image" Target="../media/image5.jpeg" /></Relationships>
</file>

<file path=ppt/slides/_rels/slide22.xml.rels><?xml version='1.0' encoding='utf-8'?>
<Relationships xmlns="http://schemas.openxmlformats.org/package/2006/relationships"><Relationship Id="rId3" Type="http://schemas.openxmlformats.org/officeDocument/2006/relationships/slideLayout" Target="../slideLayouts/slideLayout2.xml" /><Relationship Id="rId2" Type="http://schemas.openxmlformats.org/officeDocument/2006/relationships/image" Target="../media/image6.png" /><Relationship Id="rId1" Type="http://schemas.openxmlformats.org/officeDocument/2006/relationships/image" Target="../media/image5.jpeg" /></Relationships>
</file>

<file path=ppt/slides/_rels/slide23.xml.rels><?xml version='1.0' encoding='utf-8'?>
<Relationships xmlns="http://schemas.openxmlformats.org/package/2006/relationships"><Relationship Id="rId2" Type="http://schemas.openxmlformats.org/officeDocument/2006/relationships/slideLayout" Target="../slideLayouts/slideLayout2.xml" /><Relationship Id="rId1" Type="http://schemas.openxmlformats.org/officeDocument/2006/relationships/image" Target="../media/image8.jpeg" /></Relationships>
</file>

<file path=ppt/slides/_rels/slide24.xml.rels><?xml version='1.0' encoding='utf-8'?>
<Relationships xmlns="http://schemas.openxmlformats.org/package/2006/relationships"><Relationship Id="rId3" Type="http://schemas.openxmlformats.org/officeDocument/2006/relationships/slideLayout" Target="../slideLayouts/slideLayout2.xml" /><Relationship Id="rId2" Type="http://schemas.openxmlformats.org/officeDocument/2006/relationships/image" Target="../media/image6.png" /><Relationship Id="rId1" Type="http://schemas.openxmlformats.org/officeDocument/2006/relationships/image" Target="../media/image5.jpeg" /></Relationships>
</file>

<file path=ppt/slides/_rels/slide25.xml.rels><?xml version='1.0' encoding='utf-8'?>
<Relationships xmlns="http://schemas.openxmlformats.org/package/2006/relationships"><Relationship Id="rId3" Type="http://schemas.openxmlformats.org/officeDocument/2006/relationships/slideLayout" Target="../slideLayouts/slideLayout2.xml" /><Relationship Id="rId2" Type="http://schemas.openxmlformats.org/officeDocument/2006/relationships/image" Target="../media/image6.png" /><Relationship Id="rId1" Type="http://schemas.openxmlformats.org/officeDocument/2006/relationships/image" Target="../media/image5.jpeg" /></Relationships>
</file>

<file path=ppt/slides/_rels/slide26.xml.rels><?xml version='1.0' encoding='utf-8'?>
<Relationships xmlns="http://schemas.openxmlformats.org/package/2006/relationships"><Relationship Id="rId2" Type="http://schemas.openxmlformats.org/officeDocument/2006/relationships/slideLayout" Target="../slideLayouts/slideLayout2.xml" /><Relationship Id="rId1" Type="http://schemas.openxmlformats.org/officeDocument/2006/relationships/image" Target="../media/image9.jpeg" /></Relationships>
</file>

<file path=ppt/slides/_rels/slide27.xml.rels><?xml version='1.0' encoding='utf-8'?>
<Relationships xmlns="http://schemas.openxmlformats.org/package/2006/relationships"><Relationship Id="rId4" Type="http://schemas.openxmlformats.org/officeDocument/2006/relationships/slideLayout" Target="../slideLayouts/slideLayout2.xml" /><Relationship Id="rId3" Type="http://schemas.openxmlformats.org/officeDocument/2006/relationships/image" Target="../media/image7.jpeg" /><Relationship Id="rId2" Type="http://schemas.openxmlformats.org/officeDocument/2006/relationships/image" Target="../media/image6.png" /><Relationship Id="rId1" Type="http://schemas.openxmlformats.org/officeDocument/2006/relationships/image" Target="../media/image5.jpeg" /></Relationships>
</file>

<file path=ppt/slides/_rels/slide28.xml.rels><?xml version='1.0' encoding='utf-8'?>
<Relationships xmlns="http://schemas.openxmlformats.org/package/2006/relationships"><Relationship Id="rId3" Type="http://schemas.openxmlformats.org/officeDocument/2006/relationships/slideLayout" Target="../slideLayouts/slideLayout2.xml" /><Relationship Id="rId2" Type="http://schemas.openxmlformats.org/officeDocument/2006/relationships/image" Target="../media/image6.png" /><Relationship Id="rId1" Type="http://schemas.openxmlformats.org/officeDocument/2006/relationships/image" Target="../media/image5.jpeg" /></Relationships>
</file>

<file path=ppt/slides/_rels/slide29.xml.rels><?xml version='1.0' encoding='utf-8'?>
<Relationships xmlns="http://schemas.openxmlformats.org/package/2006/relationships"><Relationship Id="rId2" Type="http://schemas.openxmlformats.org/officeDocument/2006/relationships/slideLayout" Target="../slideLayouts/slideLayout2.xml" /><Relationship Id="rId1" Type="http://schemas.openxmlformats.org/officeDocument/2006/relationships/image" Target="../media/image10.jpeg" /></Relationships>
</file>

<file path=ppt/slides/_rels/slide30.xml.rels><?xml version='1.0' encoding='utf-8'?>
<Relationships xmlns="http://schemas.openxmlformats.org/package/2006/relationships"><Relationship Id="rId3" Type="http://schemas.openxmlformats.org/officeDocument/2006/relationships/slideLayout" Target="../slideLayouts/slideLayout2.xml" /><Relationship Id="rId2" Type="http://schemas.openxmlformats.org/officeDocument/2006/relationships/image" Target="../media/image6.png" /><Relationship Id="rId1" Type="http://schemas.openxmlformats.org/officeDocument/2006/relationships/image" Target="../media/image5.jpeg" /></Relationships>
</file>

<file path=ppt/slides/_rels/slide31.xml.rels><?xml version='1.0' encoding='utf-8'?>
<Relationships xmlns="http://schemas.openxmlformats.org/package/2006/relationships"><Relationship Id="rId4" Type="http://schemas.openxmlformats.org/officeDocument/2006/relationships/slideLayout" Target="../slideLayouts/slideLayout1.xml" /><Relationship Id="rId3" Type="http://schemas.openxmlformats.org/officeDocument/2006/relationships/tags" Target="../tags/tag74_tf1.xml" /><Relationship Id="rId2" Type="http://schemas.openxmlformats.org/officeDocument/2006/relationships/image" Target="../media/image2.png" /><Relationship Id="rId1" Type="http://schemas.openxmlformats.org/officeDocument/2006/relationships/image" Target="../media/image11.jpeg" /></Relationships>
</file>

<file path=ppt/slides/slide1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7303"/>
          <a:stretch>
            <a:fillRect/>
          </a:stretch>
        </p:blipFill>
        <p:spPr>
          <a:xfrm>
            <a:off x="459740" y="390525"/>
            <a:ext cx="11274425" cy="6076950"/>
          </a:xfrm>
          <a:prstGeom prst="rect">
            <a:avLst/>
          </a:prstGeom>
        </p:spPr>
      </p:pic>
      <p:grpSp>
        <p:nvGrpSpPr>
          <p:cNvPr id="7" name="组合 6"/>
          <p:cNvGrpSpPr/>
          <p:nvPr userDrawn="1"/>
        </p:nvGrpSpPr>
        <p:grpSpPr>
          <a:xfrm>
            <a:off x="-28955" y="1"/>
            <a:ext cx="12249910" cy="6858000"/>
            <a:chOff x="-28955" y="1"/>
            <a:chExt cx="12249910" cy="6858000"/>
          </a:xfrm>
        </p:grpSpPr>
        <p:sp>
          <p:nvSpPr>
            <p:cNvPr id="8" name="矩形 7"/>
            <p:cNvSpPr/>
            <p:nvPr/>
          </p:nvSpPr>
          <p:spPr>
            <a:xfrm>
              <a:off x="436306" y="390832"/>
              <a:ext cx="11319388" cy="607633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9607347" y="1"/>
              <a:ext cx="2613608" cy="2014383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-28955" y="4843618"/>
              <a:ext cx="2613608" cy="2014383"/>
            </a:xfrm>
            <a:custGeom>
              <a:avLst/>
              <a:gdLst>
                <a:gd name="connsiteX0" fmla="*/ 696318 w 2613608"/>
                <a:gd name="connsiteY0" fmla="*/ 0 h 2014383"/>
                <a:gd name="connsiteX1" fmla="*/ 2613608 w 2613608"/>
                <a:gd name="connsiteY1" fmla="*/ 1917290 h 2014383"/>
                <a:gd name="connsiteX2" fmla="*/ 2608705 w 2613608"/>
                <a:gd name="connsiteY2" fmla="*/ 2014383 h 2014383"/>
                <a:gd name="connsiteX3" fmla="*/ 0 w 2613608"/>
                <a:gd name="connsiteY3" fmla="*/ 2014383 h 2014383"/>
                <a:gd name="connsiteX4" fmla="*/ 0 w 2613608"/>
                <a:gd name="connsiteY4" fmla="*/ 132378 h 2014383"/>
                <a:gd name="connsiteX5" fmla="*/ 126175 w 2613608"/>
                <a:gd name="connsiteY5" fmla="*/ 86198 h 2014383"/>
                <a:gd name="connsiteX6" fmla="*/ 696318 w 2613608"/>
                <a:gd name="connsiteY6" fmla="*/ 0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13608" h="2014383">
                  <a:moveTo>
                    <a:pt x="696318" y="0"/>
                  </a:moveTo>
                  <a:cubicBezTo>
                    <a:pt x="1755208" y="0"/>
                    <a:pt x="2613608" y="858400"/>
                    <a:pt x="2613608" y="1917290"/>
                  </a:cubicBezTo>
                  <a:lnTo>
                    <a:pt x="2608705" y="2014383"/>
                  </a:lnTo>
                  <a:lnTo>
                    <a:pt x="0" y="2014383"/>
                  </a:lnTo>
                  <a:lnTo>
                    <a:pt x="0" y="132378"/>
                  </a:lnTo>
                  <a:lnTo>
                    <a:pt x="126175" y="86198"/>
                  </a:lnTo>
                  <a:cubicBezTo>
                    <a:pt x="306283" y="30178"/>
                    <a:pt x="497776" y="0"/>
                    <a:pt x="696318" y="0"/>
                  </a:cubicBezTo>
                  <a:close/>
                </a:path>
              </a:pathLst>
            </a:cu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2824706" y="5922253"/>
              <a:ext cx="935747" cy="935747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11662673" y="499894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20" name="等腰三角形 19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4" name="等腰三角形 23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371707" y="5333365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15" name="等腰三角形 14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" name="组合 24"/>
          <p:cNvGrpSpPr/>
          <p:nvPr userDrawn="1"/>
        </p:nvGrpSpPr>
        <p:grpSpPr>
          <a:xfrm>
            <a:off x="10757221" y="5846823"/>
            <a:ext cx="767416" cy="433219"/>
            <a:chOff x="4468761" y="1799303"/>
            <a:chExt cx="914400" cy="51619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6" name="矩形 25"/>
            <p:cNvSpPr/>
            <p:nvPr/>
          </p:nvSpPr>
          <p:spPr>
            <a:xfrm>
              <a:off x="4468761" y="1799303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4468761" y="1999942"/>
              <a:ext cx="914400" cy="114917"/>
            </a:xfrm>
            <a:prstGeom prst="rect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4468761" y="2200580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45" name="图片 4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25" y="565785"/>
            <a:ext cx="2464435" cy="707390"/>
          </a:xfrm>
          <a:prstGeom prst="rect">
            <a:avLst/>
          </a:prstGeom>
        </p:spPr>
      </p:pic>
      <p:sp>
        <p:nvSpPr>
          <p:cNvPr id="2" name="矩形: 圆角 4"/>
          <p:cNvSpPr/>
          <p:nvPr>
            <p:custDataLst>
              <p:tags r:id="rId3"/>
            </p:custDataLst>
          </p:nvPr>
        </p:nvSpPr>
        <p:spPr>
          <a:xfrm>
            <a:off x="921385" y="2152650"/>
            <a:ext cx="10354945" cy="2596515"/>
          </a:xfrm>
          <a:prstGeom prst="roundRect">
            <a:avLst>
              <a:gd name="adj" fmla="val 0"/>
            </a:avLst>
          </a:prstGeom>
          <a:solidFill>
            <a:srgbClr val="FFFFFF">
              <a:alpha val="79000"/>
            </a:srgbClr>
          </a:solidFill>
          <a:ln w="28575" cmpd="sng">
            <a:noFill/>
            <a:prstDash val="solid"/>
          </a:ln>
          <a:effectLst>
            <a:outerShdw blurRad="127000" dist="254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dirty="0">
              <a:solidFill>
                <a:schemeClr val="dk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94317" y="2478826"/>
            <a:ext cx="7603367" cy="1066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5400" b="1" dirty="0">
                <a:solidFill>
                  <a:schemeClr val="tx1"/>
                </a:solidFill>
                <a:cs typeface="+mn-ea"/>
                <a:sym typeface="+mn-lt"/>
              </a:rPr>
              <a:t>NLRP3 炎症小体与房颤</a:t>
            </a:r>
            <a:endParaRPr lang="zh-CN" altLang="en-US" sz="5400" b="1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4" name="文本框 21"/>
          <p:cNvSpPr txBox="1"/>
          <p:nvPr/>
        </p:nvSpPr>
        <p:spPr>
          <a:xfrm>
            <a:off x="2584635" y="3618212"/>
            <a:ext cx="7425319" cy="44717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000"/>
              </a:lnSpc>
            </a:pPr>
            <a:r>
              <a:rPr lang="zh-CN" altLang="en-US" sz="2000" spc="600" dirty="0">
                <a:solidFill>
                  <a:srgbClr val="005FA5"/>
                </a:solidFill>
                <a:cs typeface="+mn-ea"/>
                <a:sym typeface="+mn-lt"/>
              </a:rPr>
              <a:t>厦门大学医学院 · 硕士学位论文答辩</a:t>
            </a:r>
            <a:r>
              <a:rPr lang="en-US" altLang="zh-CN" sz="2000" spc="600" dirty="0">
                <a:solidFill>
                  <a:srgbClr val="005FA5"/>
                </a:solidFill>
                <a:cs typeface="+mn-ea"/>
                <a:sym typeface="+mn-lt"/>
              </a:rPr>
              <a:t/>
            </a:r>
            <a:r>
              <a:rPr lang="zh-CN" altLang="en-US" sz="2000" spc="600" dirty="0">
                <a:solidFill>
                  <a:srgbClr val="005FA5"/>
                </a:solidFill>
                <a:cs typeface="+mn-ea"/>
                <a:sym typeface="+mn-lt"/>
              </a:rPr>
              <a:t/>
            </a:r>
            <a:r>
              <a:rPr lang="en-US" altLang="zh-CN" sz="2000" spc="600" dirty="0">
                <a:solidFill>
                  <a:srgbClr val="005FA5"/>
                </a:solidFill>
                <a:cs typeface="+mn-ea"/>
                <a:sym typeface="+mn-lt"/>
              </a:rPr>
              <a:t/>
            </a:r>
            <a:r>
              <a:rPr lang="zh-CN" altLang="en-US" sz="2000" spc="600" dirty="0">
                <a:solidFill>
                  <a:srgbClr val="005FA5"/>
                </a:solidFill>
                <a:cs typeface="+mn-ea"/>
                <a:sym typeface="+mn-lt"/>
              </a:rPr>
              <a:t/>
            </a:r>
            <a:endParaRPr lang="zh-CN" altLang="en-US" sz="2000" spc="600" dirty="0">
              <a:solidFill>
                <a:srgbClr val="005FA5"/>
              </a:solidFill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266530" y="4270504"/>
            <a:ext cx="1603726" cy="3429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cs typeface="+mn-ea"/>
                <a:sym typeface="+mn-lt"/>
              </a:rPr>
              <a:t>指导老师：XXX</a:t>
            </a:r>
            <a:r>
              <a:rPr lang="en-US" altLang="zh-CN" sz="1600" dirty="0">
                <a:cs typeface="+mn-ea"/>
                <a:sym typeface="+mn-lt"/>
              </a:rPr>
              <a:t/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0" name="图形"/>
          <p:cNvSpPr>
            <a:spLocks noChangeAspect="1"/>
          </p:cNvSpPr>
          <p:nvPr/>
        </p:nvSpPr>
        <p:spPr bwMode="auto">
          <a:xfrm>
            <a:off x="4039666" y="4270504"/>
            <a:ext cx="226864" cy="254198"/>
          </a:xfrm>
          <a:custGeom>
            <a:avLst/>
            <a:gdLst>
              <a:gd name="T0" fmla="*/ 1931 w 2597"/>
              <a:gd name="T1" fmla="*/ 807 h 2914"/>
              <a:gd name="T2" fmla="*/ 1741 w 2597"/>
              <a:gd name="T3" fmla="*/ 141 h 2914"/>
              <a:gd name="T4" fmla="*/ 1037 w 2597"/>
              <a:gd name="T5" fmla="*/ 90 h 2914"/>
              <a:gd name="T6" fmla="*/ 646 w 2597"/>
              <a:gd name="T7" fmla="*/ 436 h 2914"/>
              <a:gd name="T8" fmla="*/ 665 w 2597"/>
              <a:gd name="T9" fmla="*/ 807 h 2914"/>
              <a:gd name="T10" fmla="*/ 593 w 2597"/>
              <a:gd name="T11" fmla="*/ 1085 h 2914"/>
              <a:gd name="T12" fmla="*/ 989 w 2597"/>
              <a:gd name="T13" fmla="*/ 1588 h 2914"/>
              <a:gd name="T14" fmla="*/ 1298 w 2597"/>
              <a:gd name="T15" fmla="*/ 1696 h 2914"/>
              <a:gd name="T16" fmla="*/ 1608 w 2597"/>
              <a:gd name="T17" fmla="*/ 1588 h 2914"/>
              <a:gd name="T18" fmla="*/ 2003 w 2597"/>
              <a:gd name="T19" fmla="*/ 1085 h 2914"/>
              <a:gd name="T20" fmla="*/ 1874 w 2597"/>
              <a:gd name="T21" fmla="*/ 1052 h 2914"/>
              <a:gd name="T22" fmla="*/ 1766 w 2597"/>
              <a:gd name="T23" fmla="*/ 1173 h 2914"/>
              <a:gd name="T24" fmla="*/ 1517 w 2597"/>
              <a:gd name="T25" fmla="*/ 1490 h 2914"/>
              <a:gd name="T26" fmla="*/ 1156 w 2597"/>
              <a:gd name="T27" fmla="*/ 1536 h 2914"/>
              <a:gd name="T28" fmla="*/ 903 w 2597"/>
              <a:gd name="T29" fmla="*/ 1210 h 2914"/>
              <a:gd name="T30" fmla="*/ 830 w 2597"/>
              <a:gd name="T31" fmla="*/ 1173 h 2914"/>
              <a:gd name="T32" fmla="*/ 722 w 2597"/>
              <a:gd name="T33" fmla="*/ 1052 h 2914"/>
              <a:gd name="T34" fmla="*/ 745 w 2597"/>
              <a:gd name="T35" fmla="*/ 916 h 2914"/>
              <a:gd name="T36" fmla="*/ 800 w 2597"/>
              <a:gd name="T37" fmla="*/ 765 h 2914"/>
              <a:gd name="T38" fmla="*/ 1052 w 2597"/>
              <a:gd name="T39" fmla="*/ 526 h 2914"/>
              <a:gd name="T40" fmla="*/ 1795 w 2597"/>
              <a:gd name="T41" fmla="*/ 746 h 2914"/>
              <a:gd name="T42" fmla="*/ 1851 w 2597"/>
              <a:gd name="T43" fmla="*/ 916 h 2914"/>
              <a:gd name="T44" fmla="*/ 1874 w 2597"/>
              <a:gd name="T45" fmla="*/ 1052 h 2914"/>
              <a:gd name="T46" fmla="*/ 1719 w 2597"/>
              <a:gd name="T47" fmla="*/ 1709 h 2914"/>
              <a:gd name="T48" fmla="*/ 1632 w 2597"/>
              <a:gd name="T49" fmla="*/ 1748 h 2914"/>
              <a:gd name="T50" fmla="*/ 1456 w 2597"/>
              <a:gd name="T51" fmla="*/ 2070 h 2914"/>
              <a:gd name="T52" fmla="*/ 1496 w 2597"/>
              <a:gd name="T53" fmla="*/ 1895 h 2914"/>
              <a:gd name="T54" fmla="*/ 1156 w 2597"/>
              <a:gd name="T55" fmla="*/ 1865 h 2914"/>
              <a:gd name="T56" fmla="*/ 1094 w 2597"/>
              <a:gd name="T57" fmla="*/ 1957 h 2914"/>
              <a:gd name="T58" fmla="*/ 1111 w 2597"/>
              <a:gd name="T59" fmla="*/ 2153 h 2914"/>
              <a:gd name="T60" fmla="*/ 929 w 2597"/>
              <a:gd name="T61" fmla="*/ 1710 h 2914"/>
              <a:gd name="T62" fmla="*/ 294 w 2597"/>
              <a:gd name="T63" fmla="*/ 1942 h 2914"/>
              <a:gd name="T64" fmla="*/ 0 w 2597"/>
              <a:gd name="T65" fmla="*/ 2848 h 2914"/>
              <a:gd name="T66" fmla="*/ 2530 w 2597"/>
              <a:gd name="T67" fmla="*/ 2914 h 2914"/>
              <a:gd name="T68" fmla="*/ 2597 w 2597"/>
              <a:gd name="T69" fmla="*/ 2377 h 2914"/>
              <a:gd name="T70" fmla="*/ 2282 w 2597"/>
              <a:gd name="T71" fmla="*/ 2570 h 2914"/>
              <a:gd name="T72" fmla="*/ 1767 w 2597"/>
              <a:gd name="T73" fmla="*/ 2636 h 2914"/>
              <a:gd name="T74" fmla="*/ 1701 w 2597"/>
              <a:gd name="T75" fmla="*/ 2362 h 2914"/>
              <a:gd name="T76" fmla="*/ 2215 w 2597"/>
              <a:gd name="T77" fmla="*/ 2295 h 2914"/>
              <a:gd name="T78" fmla="*/ 2282 w 2597"/>
              <a:gd name="T79" fmla="*/ 2570 h 2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597" h="2914">
                <a:moveTo>
                  <a:pt x="1985" y="861"/>
                </a:moveTo>
                <a:cubicBezTo>
                  <a:pt x="1969" y="836"/>
                  <a:pt x="1949" y="819"/>
                  <a:pt x="1931" y="807"/>
                </a:cubicBezTo>
                <a:cubicBezTo>
                  <a:pt x="1931" y="776"/>
                  <a:pt x="1929" y="732"/>
                  <a:pt x="1922" y="682"/>
                </a:cubicBezTo>
                <a:cubicBezTo>
                  <a:pt x="1927" y="622"/>
                  <a:pt x="1944" y="290"/>
                  <a:pt x="1741" y="141"/>
                </a:cubicBezTo>
                <a:cubicBezTo>
                  <a:pt x="1616" y="49"/>
                  <a:pt x="1477" y="0"/>
                  <a:pt x="1338" y="0"/>
                </a:cubicBezTo>
                <a:cubicBezTo>
                  <a:pt x="1226" y="0"/>
                  <a:pt x="1119" y="32"/>
                  <a:pt x="1037" y="90"/>
                </a:cubicBezTo>
                <a:cubicBezTo>
                  <a:pt x="963" y="142"/>
                  <a:pt x="922" y="199"/>
                  <a:pt x="900" y="239"/>
                </a:cubicBezTo>
                <a:cubicBezTo>
                  <a:pt x="837" y="241"/>
                  <a:pt x="705" y="267"/>
                  <a:pt x="646" y="436"/>
                </a:cubicBezTo>
                <a:cubicBezTo>
                  <a:pt x="591" y="595"/>
                  <a:pt x="636" y="693"/>
                  <a:pt x="668" y="739"/>
                </a:cubicBezTo>
                <a:cubicBezTo>
                  <a:pt x="666" y="765"/>
                  <a:pt x="665" y="789"/>
                  <a:pt x="665" y="807"/>
                </a:cubicBezTo>
                <a:cubicBezTo>
                  <a:pt x="647" y="819"/>
                  <a:pt x="628" y="836"/>
                  <a:pt x="611" y="861"/>
                </a:cubicBezTo>
                <a:cubicBezTo>
                  <a:pt x="575" y="917"/>
                  <a:pt x="569" y="993"/>
                  <a:pt x="593" y="1085"/>
                </a:cubicBezTo>
                <a:cubicBezTo>
                  <a:pt x="638" y="1259"/>
                  <a:pt x="744" y="1297"/>
                  <a:pt x="801" y="1305"/>
                </a:cubicBezTo>
                <a:cubicBezTo>
                  <a:pt x="836" y="1374"/>
                  <a:pt x="912" y="1516"/>
                  <a:pt x="989" y="1588"/>
                </a:cubicBezTo>
                <a:cubicBezTo>
                  <a:pt x="1019" y="1616"/>
                  <a:pt x="1059" y="1641"/>
                  <a:pt x="1107" y="1659"/>
                </a:cubicBezTo>
                <a:cubicBezTo>
                  <a:pt x="1168" y="1684"/>
                  <a:pt x="1232" y="1696"/>
                  <a:pt x="1298" y="1696"/>
                </a:cubicBezTo>
                <a:cubicBezTo>
                  <a:pt x="1364" y="1696"/>
                  <a:pt x="1429" y="1684"/>
                  <a:pt x="1490" y="1659"/>
                </a:cubicBezTo>
                <a:cubicBezTo>
                  <a:pt x="1538" y="1641"/>
                  <a:pt x="1577" y="1616"/>
                  <a:pt x="1608" y="1588"/>
                </a:cubicBezTo>
                <a:cubicBezTo>
                  <a:pt x="1684" y="1516"/>
                  <a:pt x="1761" y="1374"/>
                  <a:pt x="1796" y="1305"/>
                </a:cubicBezTo>
                <a:cubicBezTo>
                  <a:pt x="1852" y="1297"/>
                  <a:pt x="1958" y="1259"/>
                  <a:pt x="2003" y="1085"/>
                </a:cubicBezTo>
                <a:cubicBezTo>
                  <a:pt x="2028" y="993"/>
                  <a:pt x="2022" y="917"/>
                  <a:pt x="1985" y="861"/>
                </a:cubicBezTo>
                <a:close/>
                <a:moveTo>
                  <a:pt x="1874" y="1052"/>
                </a:moveTo>
                <a:cubicBezTo>
                  <a:pt x="1847" y="1157"/>
                  <a:pt x="1797" y="1173"/>
                  <a:pt x="1770" y="1173"/>
                </a:cubicBezTo>
                <a:cubicBezTo>
                  <a:pt x="1768" y="1173"/>
                  <a:pt x="1767" y="1173"/>
                  <a:pt x="1766" y="1173"/>
                </a:cubicBezTo>
                <a:cubicBezTo>
                  <a:pt x="1735" y="1165"/>
                  <a:pt x="1707" y="1181"/>
                  <a:pt x="1693" y="1210"/>
                </a:cubicBezTo>
                <a:cubicBezTo>
                  <a:pt x="1667" y="1267"/>
                  <a:pt x="1584" y="1428"/>
                  <a:pt x="1517" y="1490"/>
                </a:cubicBezTo>
                <a:cubicBezTo>
                  <a:pt x="1499" y="1508"/>
                  <a:pt x="1473" y="1523"/>
                  <a:pt x="1441" y="1536"/>
                </a:cubicBezTo>
                <a:cubicBezTo>
                  <a:pt x="1350" y="1572"/>
                  <a:pt x="1246" y="1572"/>
                  <a:pt x="1156" y="1536"/>
                </a:cubicBezTo>
                <a:cubicBezTo>
                  <a:pt x="1124" y="1523"/>
                  <a:pt x="1098" y="1508"/>
                  <a:pt x="1080" y="1490"/>
                </a:cubicBezTo>
                <a:cubicBezTo>
                  <a:pt x="1013" y="1428"/>
                  <a:pt x="930" y="1267"/>
                  <a:pt x="903" y="1210"/>
                </a:cubicBezTo>
                <a:cubicBezTo>
                  <a:pt x="892" y="1186"/>
                  <a:pt x="870" y="1171"/>
                  <a:pt x="846" y="1171"/>
                </a:cubicBezTo>
                <a:cubicBezTo>
                  <a:pt x="841" y="1171"/>
                  <a:pt x="835" y="1172"/>
                  <a:pt x="830" y="1173"/>
                </a:cubicBezTo>
                <a:cubicBezTo>
                  <a:pt x="829" y="1173"/>
                  <a:pt x="828" y="1173"/>
                  <a:pt x="826" y="1173"/>
                </a:cubicBezTo>
                <a:cubicBezTo>
                  <a:pt x="799" y="1173"/>
                  <a:pt x="750" y="1157"/>
                  <a:pt x="722" y="1052"/>
                </a:cubicBezTo>
                <a:cubicBezTo>
                  <a:pt x="708" y="1000"/>
                  <a:pt x="708" y="958"/>
                  <a:pt x="722" y="935"/>
                </a:cubicBezTo>
                <a:cubicBezTo>
                  <a:pt x="730" y="921"/>
                  <a:pt x="742" y="917"/>
                  <a:pt x="745" y="916"/>
                </a:cubicBezTo>
                <a:cubicBezTo>
                  <a:pt x="781" y="912"/>
                  <a:pt x="803" y="880"/>
                  <a:pt x="800" y="844"/>
                </a:cubicBezTo>
                <a:cubicBezTo>
                  <a:pt x="800" y="843"/>
                  <a:pt x="797" y="812"/>
                  <a:pt x="800" y="765"/>
                </a:cubicBezTo>
                <a:cubicBezTo>
                  <a:pt x="846" y="745"/>
                  <a:pt x="920" y="707"/>
                  <a:pt x="981" y="640"/>
                </a:cubicBezTo>
                <a:cubicBezTo>
                  <a:pt x="1013" y="606"/>
                  <a:pt x="1036" y="564"/>
                  <a:pt x="1052" y="526"/>
                </a:cubicBezTo>
                <a:cubicBezTo>
                  <a:pt x="1097" y="562"/>
                  <a:pt x="1160" y="605"/>
                  <a:pt x="1244" y="642"/>
                </a:cubicBezTo>
                <a:cubicBezTo>
                  <a:pt x="1387" y="706"/>
                  <a:pt x="1674" y="736"/>
                  <a:pt x="1795" y="746"/>
                </a:cubicBezTo>
                <a:cubicBezTo>
                  <a:pt x="1800" y="804"/>
                  <a:pt x="1797" y="843"/>
                  <a:pt x="1797" y="844"/>
                </a:cubicBezTo>
                <a:cubicBezTo>
                  <a:pt x="1793" y="880"/>
                  <a:pt x="1815" y="912"/>
                  <a:pt x="1851" y="916"/>
                </a:cubicBezTo>
                <a:cubicBezTo>
                  <a:pt x="1855" y="917"/>
                  <a:pt x="1866" y="921"/>
                  <a:pt x="1874" y="935"/>
                </a:cubicBezTo>
                <a:cubicBezTo>
                  <a:pt x="1888" y="958"/>
                  <a:pt x="1888" y="1000"/>
                  <a:pt x="1874" y="1052"/>
                </a:cubicBezTo>
                <a:close/>
                <a:moveTo>
                  <a:pt x="2302" y="1942"/>
                </a:moveTo>
                <a:lnTo>
                  <a:pt x="1719" y="1709"/>
                </a:lnTo>
                <a:cubicBezTo>
                  <a:pt x="1702" y="1702"/>
                  <a:pt x="1684" y="1703"/>
                  <a:pt x="1667" y="1710"/>
                </a:cubicBezTo>
                <a:cubicBezTo>
                  <a:pt x="1651" y="1717"/>
                  <a:pt x="1638" y="1731"/>
                  <a:pt x="1632" y="1748"/>
                </a:cubicBezTo>
                <a:lnTo>
                  <a:pt x="1485" y="2153"/>
                </a:lnTo>
                <a:lnTo>
                  <a:pt x="1456" y="2070"/>
                </a:lnTo>
                <a:lnTo>
                  <a:pt x="1502" y="1957"/>
                </a:lnTo>
                <a:cubicBezTo>
                  <a:pt x="1511" y="1936"/>
                  <a:pt x="1508" y="1913"/>
                  <a:pt x="1496" y="1895"/>
                </a:cubicBezTo>
                <a:cubicBezTo>
                  <a:pt x="1484" y="1876"/>
                  <a:pt x="1463" y="1865"/>
                  <a:pt x="1441" y="1865"/>
                </a:cubicBezTo>
                <a:lnTo>
                  <a:pt x="1156" y="1865"/>
                </a:lnTo>
                <a:cubicBezTo>
                  <a:pt x="1134" y="1865"/>
                  <a:pt x="1113" y="1876"/>
                  <a:pt x="1101" y="1895"/>
                </a:cubicBezTo>
                <a:cubicBezTo>
                  <a:pt x="1088" y="1913"/>
                  <a:pt x="1086" y="1936"/>
                  <a:pt x="1094" y="1957"/>
                </a:cubicBezTo>
                <a:lnTo>
                  <a:pt x="1140" y="2070"/>
                </a:lnTo>
                <a:lnTo>
                  <a:pt x="1111" y="2153"/>
                </a:lnTo>
                <a:lnTo>
                  <a:pt x="965" y="1748"/>
                </a:lnTo>
                <a:cubicBezTo>
                  <a:pt x="959" y="1731"/>
                  <a:pt x="946" y="1717"/>
                  <a:pt x="929" y="1710"/>
                </a:cubicBezTo>
                <a:cubicBezTo>
                  <a:pt x="913" y="1703"/>
                  <a:pt x="894" y="1702"/>
                  <a:pt x="877" y="1709"/>
                </a:cubicBezTo>
                <a:lnTo>
                  <a:pt x="294" y="1942"/>
                </a:lnTo>
                <a:cubicBezTo>
                  <a:pt x="115" y="2014"/>
                  <a:pt x="0" y="2184"/>
                  <a:pt x="0" y="2377"/>
                </a:cubicBezTo>
                <a:lnTo>
                  <a:pt x="0" y="2848"/>
                </a:lnTo>
                <a:cubicBezTo>
                  <a:pt x="0" y="2885"/>
                  <a:pt x="30" y="2914"/>
                  <a:pt x="66" y="2914"/>
                </a:cubicBezTo>
                <a:lnTo>
                  <a:pt x="2530" y="2914"/>
                </a:lnTo>
                <a:cubicBezTo>
                  <a:pt x="2567" y="2914"/>
                  <a:pt x="2597" y="2885"/>
                  <a:pt x="2597" y="2848"/>
                </a:cubicBezTo>
                <a:lnTo>
                  <a:pt x="2597" y="2377"/>
                </a:lnTo>
                <a:cubicBezTo>
                  <a:pt x="2597" y="2184"/>
                  <a:pt x="2481" y="2014"/>
                  <a:pt x="2302" y="1942"/>
                </a:cubicBezTo>
                <a:close/>
                <a:moveTo>
                  <a:pt x="2282" y="2570"/>
                </a:moveTo>
                <a:cubicBezTo>
                  <a:pt x="2282" y="2606"/>
                  <a:pt x="2252" y="2636"/>
                  <a:pt x="2215" y="2636"/>
                </a:cubicBezTo>
                <a:lnTo>
                  <a:pt x="1767" y="2636"/>
                </a:lnTo>
                <a:cubicBezTo>
                  <a:pt x="1731" y="2636"/>
                  <a:pt x="1701" y="2606"/>
                  <a:pt x="1701" y="2570"/>
                </a:cubicBezTo>
                <a:lnTo>
                  <a:pt x="1701" y="2362"/>
                </a:lnTo>
                <a:cubicBezTo>
                  <a:pt x="1701" y="2325"/>
                  <a:pt x="1731" y="2295"/>
                  <a:pt x="1767" y="2295"/>
                </a:cubicBezTo>
                <a:lnTo>
                  <a:pt x="2215" y="2295"/>
                </a:lnTo>
                <a:cubicBezTo>
                  <a:pt x="2252" y="2295"/>
                  <a:pt x="2282" y="2325"/>
                  <a:pt x="2282" y="2362"/>
                </a:cubicBezTo>
                <a:lnTo>
                  <a:pt x="2282" y="25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677791" y="4270504"/>
            <a:ext cx="1390724" cy="3429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cs typeface="+mn-ea"/>
                <a:sym typeface="+mn-lt"/>
              </a:rPr>
              <a:t>答辩人：陶龙飞</a:t>
            </a:r>
            <a:r>
              <a:rPr lang="en-US" altLang="zh-CN" sz="1600" dirty="0">
                <a:cs typeface="+mn-ea"/>
                <a:sym typeface="+mn-lt"/>
              </a:rPr>
              <a:t/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31" name="图形"/>
          <p:cNvSpPr>
            <a:spLocks noChangeAspect="1"/>
          </p:cNvSpPr>
          <p:nvPr/>
        </p:nvSpPr>
        <p:spPr bwMode="auto">
          <a:xfrm>
            <a:off x="6411755" y="4272898"/>
            <a:ext cx="254198" cy="249411"/>
          </a:xfrm>
          <a:custGeom>
            <a:avLst/>
            <a:gdLst>
              <a:gd name="T0" fmla="*/ 10234 w 10586"/>
              <a:gd name="T1" fmla="*/ 8579 h 10403"/>
              <a:gd name="T2" fmla="*/ 7877 w 10586"/>
              <a:gd name="T3" fmla="*/ 7605 h 10403"/>
              <a:gd name="T4" fmla="*/ 7647 w 10586"/>
              <a:gd name="T5" fmla="*/ 5423 h 10403"/>
              <a:gd name="T6" fmla="*/ 7758 w 10586"/>
              <a:gd name="T7" fmla="*/ 3791 h 10403"/>
              <a:gd name="T8" fmla="*/ 7679 w 10586"/>
              <a:gd name="T9" fmla="*/ 2943 h 10403"/>
              <a:gd name="T10" fmla="*/ 8116 w 10586"/>
              <a:gd name="T11" fmla="*/ 1246 h 10403"/>
              <a:gd name="T12" fmla="*/ 7943 w 10586"/>
              <a:gd name="T13" fmla="*/ 2955 h 10403"/>
              <a:gd name="T14" fmla="*/ 9242 w 10586"/>
              <a:gd name="T15" fmla="*/ 3318 h 10403"/>
              <a:gd name="T16" fmla="*/ 8888 w 10586"/>
              <a:gd name="T17" fmla="*/ 1967 h 10403"/>
              <a:gd name="T18" fmla="*/ 9573 w 10586"/>
              <a:gd name="T19" fmla="*/ 1246 h 10403"/>
              <a:gd name="T20" fmla="*/ 8421 w 10586"/>
              <a:gd name="T21" fmla="*/ 233 h 10403"/>
              <a:gd name="T22" fmla="*/ 5631 w 10586"/>
              <a:gd name="T23" fmla="*/ 0 h 10403"/>
              <a:gd name="T24" fmla="*/ 1013 w 10586"/>
              <a:gd name="T25" fmla="*/ 233 h 10403"/>
              <a:gd name="T26" fmla="*/ 2907 w 10586"/>
              <a:gd name="T27" fmla="*/ 1246 h 10403"/>
              <a:gd name="T28" fmla="*/ 2984 w 10586"/>
              <a:gd name="T29" fmla="*/ 2943 h 10403"/>
              <a:gd name="T30" fmla="*/ 2510 w 10586"/>
              <a:gd name="T31" fmla="*/ 4799 h 10403"/>
              <a:gd name="T32" fmla="*/ 3672 w 10586"/>
              <a:gd name="T33" fmla="*/ 7122 h 10403"/>
              <a:gd name="T34" fmla="*/ 826 w 10586"/>
              <a:gd name="T35" fmla="*/ 8270 h 10403"/>
              <a:gd name="T36" fmla="*/ 0 w 10586"/>
              <a:gd name="T37" fmla="*/ 10403 h 10403"/>
              <a:gd name="T38" fmla="*/ 10586 w 10586"/>
              <a:gd name="T39" fmla="*/ 10066 h 10403"/>
              <a:gd name="T40" fmla="*/ 937 w 10586"/>
              <a:gd name="T41" fmla="*/ 8940 h 10403"/>
              <a:gd name="T42" fmla="*/ 4360 w 10586"/>
              <a:gd name="T43" fmla="*/ 7212 h 10403"/>
              <a:gd name="T44" fmla="*/ 3604 w 10586"/>
              <a:gd name="T45" fmla="*/ 5223 h 10403"/>
              <a:gd name="T46" fmla="*/ 3417 w 10586"/>
              <a:gd name="T47" fmla="*/ 4921 h 10403"/>
              <a:gd name="T48" fmla="*/ 3400 w 10586"/>
              <a:gd name="T49" fmla="*/ 4158 h 10403"/>
              <a:gd name="T50" fmla="*/ 3490 w 10586"/>
              <a:gd name="T51" fmla="*/ 3960 h 10403"/>
              <a:gd name="T52" fmla="*/ 6902 w 10586"/>
              <a:gd name="T53" fmla="*/ 2943 h 10403"/>
              <a:gd name="T54" fmla="*/ 7107 w 10586"/>
              <a:gd name="T55" fmla="*/ 4074 h 10403"/>
              <a:gd name="T56" fmla="*/ 7410 w 10586"/>
              <a:gd name="T57" fmla="*/ 4679 h 10403"/>
              <a:gd name="T58" fmla="*/ 6982 w 10586"/>
              <a:gd name="T59" fmla="*/ 5014 h 10403"/>
              <a:gd name="T60" fmla="*/ 6433 w 10586"/>
              <a:gd name="T61" fmla="*/ 6649 h 10403"/>
              <a:gd name="T62" fmla="*/ 7658 w 10586"/>
              <a:gd name="T63" fmla="*/ 8245 h 10403"/>
              <a:gd name="T64" fmla="*/ 9649 w 10586"/>
              <a:gd name="T65" fmla="*/ 8940 h 10403"/>
              <a:gd name="T66" fmla="*/ 688 w 10586"/>
              <a:gd name="T67" fmla="*/ 9728 h 104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0586" h="10403">
                <a:moveTo>
                  <a:pt x="10586" y="10066"/>
                </a:moveTo>
                <a:cubicBezTo>
                  <a:pt x="10586" y="9382"/>
                  <a:pt x="10468" y="8882"/>
                  <a:pt x="10234" y="8579"/>
                </a:cubicBezTo>
                <a:cubicBezTo>
                  <a:pt x="10084" y="8384"/>
                  <a:pt x="9904" y="8294"/>
                  <a:pt x="9762" y="8270"/>
                </a:cubicBezTo>
                <a:lnTo>
                  <a:pt x="7877" y="7605"/>
                </a:lnTo>
                <a:cubicBezTo>
                  <a:pt x="7193" y="7377"/>
                  <a:pt x="6978" y="7196"/>
                  <a:pt x="6914" y="7122"/>
                </a:cubicBezTo>
                <a:cubicBezTo>
                  <a:pt x="7474" y="6578"/>
                  <a:pt x="7613" y="5789"/>
                  <a:pt x="7647" y="5423"/>
                </a:cubicBezTo>
                <a:cubicBezTo>
                  <a:pt x="7940" y="5222"/>
                  <a:pt x="8043" y="4979"/>
                  <a:pt x="8075" y="4799"/>
                </a:cubicBezTo>
                <a:cubicBezTo>
                  <a:pt x="8153" y="4366"/>
                  <a:pt x="7897" y="3968"/>
                  <a:pt x="7758" y="3791"/>
                </a:cubicBezTo>
                <a:cubicBezTo>
                  <a:pt x="7725" y="3484"/>
                  <a:pt x="7671" y="3203"/>
                  <a:pt x="7602" y="2943"/>
                </a:cubicBezTo>
                <a:lnTo>
                  <a:pt x="7679" y="2943"/>
                </a:lnTo>
                <a:lnTo>
                  <a:pt x="7679" y="1246"/>
                </a:lnTo>
                <a:lnTo>
                  <a:pt x="8116" y="1246"/>
                </a:lnTo>
                <a:cubicBezTo>
                  <a:pt x="8151" y="1413"/>
                  <a:pt x="8182" y="1625"/>
                  <a:pt x="8205" y="1894"/>
                </a:cubicBezTo>
                <a:cubicBezTo>
                  <a:pt x="8105" y="2037"/>
                  <a:pt x="7989" y="2328"/>
                  <a:pt x="7943" y="2955"/>
                </a:cubicBezTo>
                <a:lnTo>
                  <a:pt x="7916" y="3318"/>
                </a:lnTo>
                <a:lnTo>
                  <a:pt x="9242" y="3318"/>
                </a:lnTo>
                <a:lnTo>
                  <a:pt x="9212" y="2952"/>
                </a:lnTo>
                <a:cubicBezTo>
                  <a:pt x="9173" y="2474"/>
                  <a:pt x="9006" y="2146"/>
                  <a:pt x="8888" y="1967"/>
                </a:cubicBezTo>
                <a:cubicBezTo>
                  <a:pt x="8868" y="1689"/>
                  <a:pt x="8838" y="1453"/>
                  <a:pt x="8801" y="1246"/>
                </a:cubicBezTo>
                <a:lnTo>
                  <a:pt x="9573" y="1246"/>
                </a:lnTo>
                <a:lnTo>
                  <a:pt x="9573" y="233"/>
                </a:lnTo>
                <a:lnTo>
                  <a:pt x="8421" y="233"/>
                </a:lnTo>
                <a:cubicBezTo>
                  <a:pt x="8272" y="51"/>
                  <a:pt x="8113" y="0"/>
                  <a:pt x="7986" y="0"/>
                </a:cubicBezTo>
                <a:lnTo>
                  <a:pt x="5631" y="0"/>
                </a:lnTo>
                <a:lnTo>
                  <a:pt x="5631" y="233"/>
                </a:lnTo>
                <a:lnTo>
                  <a:pt x="1013" y="233"/>
                </a:lnTo>
                <a:lnTo>
                  <a:pt x="1013" y="1246"/>
                </a:lnTo>
                <a:lnTo>
                  <a:pt x="2907" y="1246"/>
                </a:lnTo>
                <a:lnTo>
                  <a:pt x="2907" y="2943"/>
                </a:lnTo>
                <a:lnTo>
                  <a:pt x="2984" y="2943"/>
                </a:lnTo>
                <a:cubicBezTo>
                  <a:pt x="2915" y="3203"/>
                  <a:pt x="2861" y="3484"/>
                  <a:pt x="2828" y="3791"/>
                </a:cubicBezTo>
                <a:cubicBezTo>
                  <a:pt x="2689" y="3968"/>
                  <a:pt x="2433" y="4366"/>
                  <a:pt x="2510" y="4799"/>
                </a:cubicBezTo>
                <a:cubicBezTo>
                  <a:pt x="2543" y="4979"/>
                  <a:pt x="2646" y="5222"/>
                  <a:pt x="2939" y="5423"/>
                </a:cubicBezTo>
                <a:cubicBezTo>
                  <a:pt x="2974" y="5788"/>
                  <a:pt x="3112" y="6575"/>
                  <a:pt x="3672" y="7122"/>
                </a:cubicBezTo>
                <a:cubicBezTo>
                  <a:pt x="3608" y="7195"/>
                  <a:pt x="3392" y="7378"/>
                  <a:pt x="2703" y="7607"/>
                </a:cubicBezTo>
                <a:lnTo>
                  <a:pt x="826" y="8270"/>
                </a:lnTo>
                <a:cubicBezTo>
                  <a:pt x="586" y="8306"/>
                  <a:pt x="0" y="8550"/>
                  <a:pt x="0" y="10066"/>
                </a:cubicBezTo>
                <a:lnTo>
                  <a:pt x="0" y="10403"/>
                </a:lnTo>
                <a:lnTo>
                  <a:pt x="10586" y="10403"/>
                </a:lnTo>
                <a:lnTo>
                  <a:pt x="10586" y="10066"/>
                </a:lnTo>
                <a:close/>
                <a:moveTo>
                  <a:pt x="688" y="9728"/>
                </a:moveTo>
                <a:cubicBezTo>
                  <a:pt x="731" y="9184"/>
                  <a:pt x="872" y="8979"/>
                  <a:pt x="937" y="8940"/>
                </a:cubicBezTo>
                <a:lnTo>
                  <a:pt x="2922" y="8247"/>
                </a:lnTo>
                <a:cubicBezTo>
                  <a:pt x="3832" y="7943"/>
                  <a:pt x="4288" y="7615"/>
                  <a:pt x="4360" y="7212"/>
                </a:cubicBezTo>
                <a:cubicBezTo>
                  <a:pt x="4406" y="6955"/>
                  <a:pt x="4277" y="6748"/>
                  <a:pt x="4170" y="6663"/>
                </a:cubicBezTo>
                <a:cubicBezTo>
                  <a:pt x="3615" y="6155"/>
                  <a:pt x="3604" y="5232"/>
                  <a:pt x="3604" y="5223"/>
                </a:cubicBezTo>
                <a:lnTo>
                  <a:pt x="3604" y="5014"/>
                </a:lnTo>
                <a:lnTo>
                  <a:pt x="3417" y="4921"/>
                </a:lnTo>
                <a:cubicBezTo>
                  <a:pt x="3273" y="4849"/>
                  <a:pt x="3192" y="4768"/>
                  <a:pt x="3176" y="4680"/>
                </a:cubicBezTo>
                <a:cubicBezTo>
                  <a:pt x="3144" y="4506"/>
                  <a:pt x="3314" y="4253"/>
                  <a:pt x="3400" y="4158"/>
                </a:cubicBezTo>
                <a:lnTo>
                  <a:pt x="3479" y="4074"/>
                </a:lnTo>
                <a:lnTo>
                  <a:pt x="3490" y="3960"/>
                </a:lnTo>
                <a:cubicBezTo>
                  <a:pt x="3526" y="3578"/>
                  <a:pt x="3591" y="3237"/>
                  <a:pt x="3684" y="2943"/>
                </a:cubicBezTo>
                <a:lnTo>
                  <a:pt x="6902" y="2943"/>
                </a:lnTo>
                <a:cubicBezTo>
                  <a:pt x="6995" y="3237"/>
                  <a:pt x="7060" y="3578"/>
                  <a:pt x="7096" y="3960"/>
                </a:cubicBezTo>
                <a:lnTo>
                  <a:pt x="7107" y="4074"/>
                </a:lnTo>
                <a:lnTo>
                  <a:pt x="7186" y="4158"/>
                </a:lnTo>
                <a:cubicBezTo>
                  <a:pt x="7269" y="4248"/>
                  <a:pt x="7442" y="4504"/>
                  <a:pt x="7410" y="4679"/>
                </a:cubicBezTo>
                <a:cubicBezTo>
                  <a:pt x="7394" y="4767"/>
                  <a:pt x="7313" y="4849"/>
                  <a:pt x="7169" y="4921"/>
                </a:cubicBezTo>
                <a:lnTo>
                  <a:pt x="6982" y="5014"/>
                </a:lnTo>
                <a:lnTo>
                  <a:pt x="6982" y="5223"/>
                </a:lnTo>
                <a:cubicBezTo>
                  <a:pt x="6982" y="5232"/>
                  <a:pt x="6967" y="6159"/>
                  <a:pt x="6433" y="6649"/>
                </a:cubicBezTo>
                <a:cubicBezTo>
                  <a:pt x="6309" y="6748"/>
                  <a:pt x="6180" y="6955"/>
                  <a:pt x="6226" y="7212"/>
                </a:cubicBezTo>
                <a:cubicBezTo>
                  <a:pt x="6298" y="7615"/>
                  <a:pt x="6754" y="7943"/>
                  <a:pt x="7658" y="8245"/>
                </a:cubicBezTo>
                <a:lnTo>
                  <a:pt x="9627" y="8940"/>
                </a:lnTo>
                <a:lnTo>
                  <a:pt x="9649" y="8940"/>
                </a:lnTo>
                <a:cubicBezTo>
                  <a:pt x="9714" y="8979"/>
                  <a:pt x="9855" y="9184"/>
                  <a:pt x="9898" y="9728"/>
                </a:cubicBezTo>
                <a:lnTo>
                  <a:pt x="688" y="9728"/>
                </a:lnTo>
                <a:lnTo>
                  <a:pt x="688" y="97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2383341" y="4137651"/>
            <a:ext cx="74253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/>
          <p:cNvSpPr/>
          <p:nvPr/>
        </p:nvSpPr>
        <p:spPr>
          <a:xfrm>
            <a:off x="8491446" y="-5472"/>
            <a:ext cx="935747" cy="935747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</p:cSld>
  <p:clrMapOvr>
    <a:masterClrMapping/>
  </p:clrMapOvr>
  <p:transition p14:dur="500">
    <p:fade/>
  </p:transition>
</p:sld>
</file>

<file path=ppt/slides/slide1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950497" y="2"/>
            <a:ext cx="1270457" cy="2291617"/>
            <a:chOff x="10950497" y="2"/>
            <a:chExt cx="1270457" cy="2291617"/>
          </a:xfrm>
        </p:grpSpPr>
        <p:sp>
          <p:nvSpPr>
            <p:cNvPr id="8" name="任意多边形: 形状 7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19" name="等腰三角形 18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" name="组合 24"/>
          <p:cNvGrpSpPr/>
          <p:nvPr userDrawn="1"/>
        </p:nvGrpSpPr>
        <p:grpSpPr>
          <a:xfrm rot="10800000">
            <a:off x="1" y="4566383"/>
            <a:ext cx="1270457" cy="2291617"/>
            <a:chOff x="10950497" y="2"/>
            <a:chExt cx="1270457" cy="2291617"/>
          </a:xfrm>
          <a:solidFill>
            <a:srgbClr val="BAE2FF"/>
          </a:solidFill>
        </p:grpSpPr>
        <p:sp>
          <p:nvSpPr>
            <p:cNvPr id="26" name="任意多边形: 形状 25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grpFill/>
          </p:grpSpPr>
          <p:sp>
            <p:nvSpPr>
              <p:cNvPr id="28" name="等腰三角形 27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9" name="等腰三角形 28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0" name="等腰三角形 29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1" name="等腰三角形 30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9" name="椭圆 8"/>
          <p:cNvSpPr/>
          <p:nvPr/>
        </p:nvSpPr>
        <p:spPr>
          <a:xfrm>
            <a:off x="10650680" y="597491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186302" y="5864996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0889597" y="5858219"/>
            <a:ext cx="676134" cy="381689"/>
            <a:chOff x="4468761" y="1799303"/>
            <a:chExt cx="914400" cy="51619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4" name="矩形 33"/>
            <p:cNvSpPr/>
            <p:nvPr/>
          </p:nvSpPr>
          <p:spPr>
            <a:xfrm>
              <a:off x="4468761" y="1799303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4468761" y="1999942"/>
              <a:ext cx="914400" cy="114917"/>
            </a:xfrm>
            <a:prstGeom prst="rect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4468761" y="2200580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2" name="矩形: 圆角 1"/>
          <p:cNvSpPr/>
          <p:nvPr/>
        </p:nvSpPr>
        <p:spPr>
          <a:xfrm>
            <a:off x="4296937" y="991160"/>
            <a:ext cx="3598126" cy="716133"/>
          </a:xfrm>
          <a:prstGeom prst="roundRect">
            <a:avLst>
              <a:gd name="adj" fmla="val 50000"/>
            </a:avLst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200" dirty="0">
                <a:cs typeface="+mn-ea"/>
                <a:sym typeface="+mn-lt"/>
              </a:rPr>
              <a:t>目录</a:t>
            </a:r>
            <a:r>
              <a:rPr lang="en-US" altLang="zh-CN" sz="3200" dirty="0">
                <a:cs typeface="+mn-ea"/>
                <a:sym typeface="+mn-lt"/>
              </a:rPr>
              <a:t>/Contents</a:t>
            </a:r>
            <a:endParaRPr lang="en-US" altLang="zh-CN" sz="3200" dirty="0">
              <a:cs typeface="+mn-ea"/>
              <a:sym typeface="+mn-lt"/>
            </a:endParaRPr>
          </a:p>
        </p:txBody>
      </p:sp>
      <p:sp>
        <p:nvSpPr>
          <p:cNvPr id="3" name="文本框"/>
          <p:cNvSpPr/>
          <p:nvPr/>
        </p:nvSpPr>
        <p:spPr>
          <a:xfrm>
            <a:off x="1786757" y="2792471"/>
            <a:ext cx="1086878" cy="667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rgbClr val="005FA5"/>
                </a:solidFill>
                <a:cs typeface="+mn-ea"/>
                <a:sym typeface="+mn-lt"/>
              </a:rPr>
              <a:t>01</a:t>
            </a:r>
            <a:endParaRPr lang="en-US" sz="5400" dirty="0">
              <a:solidFill>
                <a:srgbClr val="005FA5"/>
              </a:solidFill>
              <a:cs typeface="+mn-ea"/>
              <a:sym typeface="+mn-lt"/>
            </a:endParaRPr>
          </a:p>
        </p:txBody>
      </p:sp>
      <p:sp>
        <p:nvSpPr>
          <p:cNvPr id="4" name="TextBox 14"/>
          <p:cNvSpPr txBox="1"/>
          <p:nvPr/>
        </p:nvSpPr>
        <p:spPr>
          <a:xfrm>
            <a:off x="2738609" y="2833658"/>
            <a:ext cx="3294142" cy="5847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cs typeface="+mn-ea"/>
                <a:sym typeface="+mn-lt"/>
              </a:rPr>
              <a:t>房颤的临床困境</a:t>
            </a:r>
            <a:endParaRPr lang="en-US" altLang="zh-CN" sz="3200" dirty="0">
              <a:cs typeface="+mn-ea"/>
              <a:sym typeface="+mn-lt"/>
            </a:endParaRPr>
          </a:p>
        </p:txBody>
      </p:sp>
      <p:sp>
        <p:nvSpPr>
          <p:cNvPr id="14" name="文本框"/>
          <p:cNvSpPr/>
          <p:nvPr/>
        </p:nvSpPr>
        <p:spPr>
          <a:xfrm>
            <a:off x="6576086" y="2792471"/>
            <a:ext cx="1086878" cy="667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rgbClr val="005FA5"/>
                </a:solidFill>
                <a:cs typeface="+mn-ea"/>
                <a:sym typeface="+mn-lt"/>
              </a:rPr>
              <a:t>02</a:t>
            </a:r>
            <a:endParaRPr lang="en-US" sz="5400" dirty="0">
              <a:solidFill>
                <a:srgbClr val="005FA5"/>
              </a:solidFill>
              <a:cs typeface="+mn-ea"/>
              <a:sym typeface="+mn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78178" y="2833659"/>
            <a:ext cx="329414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cs typeface="+mn-ea"/>
                <a:sym typeface="+mn-lt"/>
              </a:rPr>
              <a:t>NLRP3 通路</a:t>
            </a:r>
            <a:endParaRPr lang="en-US" altLang="zh-CN" sz="3200" dirty="0">
              <a:cs typeface="+mn-ea"/>
              <a:sym typeface="+mn-lt"/>
            </a:endParaRPr>
          </a:p>
        </p:txBody>
      </p:sp>
      <p:sp>
        <p:nvSpPr>
          <p:cNvPr id="16" name="文本框"/>
          <p:cNvSpPr/>
          <p:nvPr/>
        </p:nvSpPr>
        <p:spPr>
          <a:xfrm>
            <a:off x="1786757" y="4289488"/>
            <a:ext cx="1086878" cy="667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rgbClr val="005FA5"/>
                </a:solidFill>
                <a:cs typeface="+mn-ea"/>
                <a:sym typeface="+mn-lt"/>
              </a:rPr>
              <a:t>03</a:t>
            </a:r>
            <a:endParaRPr lang="en-US" sz="5400" dirty="0">
              <a:solidFill>
                <a:srgbClr val="005FA5"/>
              </a:solidFill>
              <a:cs typeface="+mn-ea"/>
              <a:sym typeface="+mn-lt"/>
            </a:endParaRPr>
          </a:p>
        </p:txBody>
      </p:sp>
      <p:sp>
        <p:nvSpPr>
          <p:cNvPr id="17" name="文本框"/>
          <p:cNvSpPr/>
          <p:nvPr/>
        </p:nvSpPr>
        <p:spPr>
          <a:xfrm>
            <a:off x="6576086" y="4289488"/>
            <a:ext cx="1086878" cy="667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rgbClr val="005FA5"/>
                </a:solidFill>
                <a:cs typeface="+mn-ea"/>
                <a:sym typeface="+mn-lt"/>
              </a:rPr>
              <a:t>04</a:t>
            </a:r>
            <a:endParaRPr lang="en-US" sz="5400" dirty="0">
              <a:solidFill>
                <a:srgbClr val="005FA5"/>
              </a:solidFill>
              <a:cs typeface="+mn-ea"/>
              <a:sym typeface="+mn-lt"/>
            </a:endParaRPr>
          </a:p>
        </p:txBody>
      </p:sp>
      <p:sp>
        <p:nvSpPr>
          <p:cNvPr id="18" name="TextBox 14"/>
          <p:cNvSpPr txBox="1"/>
          <p:nvPr/>
        </p:nvSpPr>
        <p:spPr>
          <a:xfrm>
            <a:off x="2738609" y="4330676"/>
            <a:ext cx="329414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cs typeface="+mn-ea"/>
                <a:sym typeface="+mn-lt"/>
              </a:rPr>
              <a:t>上下游证据</a:t>
            </a:r>
            <a:endParaRPr lang="en-US" altLang="zh-CN" sz="3200" dirty="0">
              <a:cs typeface="+mn-ea"/>
              <a:sym typeface="+mn-lt"/>
            </a:endParaRPr>
          </a:p>
        </p:txBody>
      </p:sp>
      <p:sp>
        <p:nvSpPr>
          <p:cNvPr id="37" name="TextBox 14"/>
          <p:cNvSpPr txBox="1"/>
          <p:nvPr/>
        </p:nvSpPr>
        <p:spPr>
          <a:xfrm>
            <a:off x="7578178" y="4330675"/>
            <a:ext cx="3294142" cy="5847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cs typeface="+mn-ea"/>
                <a:sym typeface="+mn-lt"/>
              </a:rPr>
              <a:t>干预与瓶颈</a:t>
            </a:r>
            <a:endParaRPr lang="en-US" altLang="zh-CN" sz="3200" dirty="0">
              <a:cs typeface="+mn-ea"/>
              <a:sym typeface="+mn-lt"/>
            </a:endParaRPr>
          </a:p>
        </p:txBody>
      </p:sp>
      <p:pic>
        <p:nvPicPr>
          <p:cNvPr id="38" name="图片 37" descr="1bNlb0QQN4CbnFaTduV4EpOZiSDqdwCmItAMVVWc-TUdWFMDZue1tv2d7Lpf3MXh"/>
          <p:cNvPicPr>
            <a:picLocks noChangeAspect="1"/>
          </p:cNvPicPr>
          <p:nvPr/>
        </p:nvPicPr>
        <p:blipFill>
          <a:blip r:embed="rId1"/>
          <a:srcRect t="34565" r="26454" b="37769"/>
          <a:stretch>
            <a:fillRect/>
          </a:stretch>
        </p:blipFill>
        <p:spPr>
          <a:xfrm flipH="1">
            <a:off x="8072755" y="1250950"/>
            <a:ext cx="910590" cy="456565"/>
          </a:xfrm>
          <a:prstGeom prst="rect">
            <a:avLst/>
          </a:prstGeom>
        </p:spPr>
      </p:pic>
      <p:pic>
        <p:nvPicPr>
          <p:cNvPr id="39" name="图片 38" descr="1bNlb0QQN4CbnFaTduV4EpOZiSDqdwCmItAMVVWc-TUdWFMDZue1tv2d7Lpf3MXh"/>
          <p:cNvPicPr>
            <a:picLocks noChangeAspect="1"/>
          </p:cNvPicPr>
          <p:nvPr/>
        </p:nvPicPr>
        <p:blipFill>
          <a:blip r:embed="rId1"/>
          <a:srcRect t="34565" r="26454" b="37769"/>
          <a:stretch>
            <a:fillRect/>
          </a:stretch>
        </p:blipFill>
        <p:spPr>
          <a:xfrm>
            <a:off x="3157220" y="1250950"/>
            <a:ext cx="910590" cy="456565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</p:sld>
</file>

<file path=ppt/slides/slide2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5633" b="9677"/>
          <a:stretch>
            <a:fillRect/>
          </a:stretch>
        </p:blipFill>
        <p:spPr>
          <a:xfrm>
            <a:off x="436245" y="390525"/>
            <a:ext cx="6902450" cy="608393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950497" y="2"/>
            <a:ext cx="1270457" cy="2291617"/>
            <a:chOff x="10950497" y="2"/>
            <a:chExt cx="1270457" cy="2291617"/>
          </a:xfrm>
        </p:grpSpPr>
        <p:sp>
          <p:nvSpPr>
            <p:cNvPr id="8" name="任意多边形: 形状 7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19" name="等腰三角形 18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" name="组合 24"/>
          <p:cNvGrpSpPr/>
          <p:nvPr userDrawn="1"/>
        </p:nvGrpSpPr>
        <p:grpSpPr>
          <a:xfrm rot="10800000">
            <a:off x="1" y="4566383"/>
            <a:ext cx="1270457" cy="2291617"/>
            <a:chOff x="10950497" y="2"/>
            <a:chExt cx="1270457" cy="2291617"/>
          </a:xfrm>
          <a:solidFill>
            <a:srgbClr val="BAE2FF"/>
          </a:solidFill>
        </p:grpSpPr>
        <p:sp>
          <p:nvSpPr>
            <p:cNvPr id="26" name="任意多边形: 形状 25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grpFill/>
          </p:grpSpPr>
          <p:sp>
            <p:nvSpPr>
              <p:cNvPr id="28" name="等腰三角形 27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9" name="等腰三角形 28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0" name="等腰三角形 29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1" name="等腰三角形 30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9" name="椭圆 8"/>
          <p:cNvSpPr/>
          <p:nvPr/>
        </p:nvSpPr>
        <p:spPr>
          <a:xfrm>
            <a:off x="10650680" y="597491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186302" y="5864996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0889597" y="5858219"/>
            <a:ext cx="676134" cy="381689"/>
            <a:chOff x="4468761" y="1799303"/>
            <a:chExt cx="914400" cy="51619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4" name="矩形 33"/>
            <p:cNvSpPr/>
            <p:nvPr/>
          </p:nvSpPr>
          <p:spPr>
            <a:xfrm>
              <a:off x="4468761" y="1799303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4468761" y="1999942"/>
              <a:ext cx="914400" cy="114917"/>
            </a:xfrm>
            <a:prstGeom prst="rect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4468761" y="2200580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6" name="矩形: 圆角 5"/>
          <p:cNvSpPr/>
          <p:nvPr/>
        </p:nvSpPr>
        <p:spPr>
          <a:xfrm>
            <a:off x="7295515" y="2291715"/>
            <a:ext cx="2985135" cy="753745"/>
          </a:xfrm>
          <a:prstGeom prst="roundRect">
            <a:avLst>
              <a:gd name="adj" fmla="val 50000"/>
            </a:avLst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dirty="0">
                <a:cs typeface="+mn-ea"/>
                <a:sym typeface="+mn-lt"/>
              </a:rPr>
              <a:t>PART 01</a:t>
            </a:r>
            <a:endParaRPr lang="zh-CN" altLang="en-US" sz="3200" b="1" dirty="0">
              <a:cs typeface="+mn-ea"/>
              <a:sym typeface="+mn-lt"/>
            </a:endParaRPr>
          </a:p>
        </p:txBody>
      </p:sp>
      <p:sp>
        <p:nvSpPr>
          <p:cNvPr id="10" name="Footer Text"/>
          <p:cNvSpPr txBox="1"/>
          <p:nvPr/>
        </p:nvSpPr>
        <p:spPr>
          <a:xfrm>
            <a:off x="6658610" y="3204845"/>
            <a:ext cx="4291965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800" b="1" dirty="0">
                <a:cs typeface="+mn-ea"/>
                <a:sym typeface="+mn-lt"/>
              </a:rPr>
              <a:t>背景</a:t>
            </a:r>
            <a:endParaRPr lang="zh-CN" altLang="en-US" sz="4800" b="1" dirty="0">
              <a:cs typeface="+mn-ea"/>
              <a:sym typeface="+mn-lt"/>
            </a:endParaRPr>
          </a:p>
        </p:txBody>
      </p:sp>
    </p:spTree>
  </p:cSld>
  <p:clrMapOvr>
    <a:masterClrMapping/>
  </p:clrMapOvr>
  <p:transition p14:dur="500">
    <p:fade/>
  </p:transition>
</p:sld>
</file>

<file path=ppt/slides/slide2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 userDrawn="1"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1379690" y="2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1859995" y="797633"/>
            <a:ext cx="216293" cy="1527440"/>
            <a:chOff x="11349438" y="764179"/>
            <a:chExt cx="216293" cy="1527440"/>
          </a:xfrm>
        </p:grpSpPr>
        <p:sp>
          <p:nvSpPr>
            <p:cNvPr id="9" name="等腰三角形 8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3" name="任意多边形: 形状 42"/>
          <p:cNvSpPr/>
          <p:nvPr userDrawn="1"/>
        </p:nvSpPr>
        <p:spPr>
          <a:xfrm rot="10800000">
            <a:off x="1" y="6209613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/>
        </p:nvGrpSpPr>
        <p:grpSpPr>
          <a:xfrm rot="10800000">
            <a:off x="110007" y="4544081"/>
            <a:ext cx="216293" cy="1527440"/>
            <a:chOff x="11349438" y="764179"/>
            <a:chExt cx="216293" cy="1527440"/>
          </a:xfrm>
        </p:grpSpPr>
        <p:sp>
          <p:nvSpPr>
            <p:cNvPr id="45" name="等腰三角形 44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等腰三角形 45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等腰三角形 47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6" name="Freeform: Shape 14"/>
          <p:cNvSpPr/>
          <p:nvPr/>
        </p:nvSpPr>
        <p:spPr>
          <a:xfrm>
            <a:off x="5280459" y="2155530"/>
            <a:ext cx="310886" cy="325016"/>
          </a:xfrm>
          <a:custGeom>
            <a:avLst/>
            <a:gdLst>
              <a:gd name="connsiteX0" fmla="*/ 7691 w 376007"/>
              <a:gd name="connsiteY0" fmla="*/ 393526 h 393098"/>
              <a:gd name="connsiteX1" fmla="*/ 14528 w 376007"/>
              <a:gd name="connsiteY1" fmla="*/ 391817 h 393098"/>
              <a:gd name="connsiteX2" fmla="*/ 33328 w 376007"/>
              <a:gd name="connsiteY2" fmla="*/ 373016 h 393098"/>
              <a:gd name="connsiteX3" fmla="*/ 55547 w 376007"/>
              <a:gd name="connsiteY3" fmla="*/ 378144 h 393098"/>
              <a:gd name="connsiteX4" fmla="*/ 146130 w 376007"/>
              <a:gd name="connsiteY4" fmla="*/ 330288 h 393098"/>
              <a:gd name="connsiteX5" fmla="*/ 308497 w 376007"/>
              <a:gd name="connsiteY5" fmla="*/ 167921 h 393098"/>
              <a:gd name="connsiteX6" fmla="*/ 332425 w 376007"/>
              <a:gd name="connsiteY6" fmla="*/ 191849 h 393098"/>
              <a:gd name="connsiteX7" fmla="*/ 193986 w 376007"/>
              <a:gd name="connsiteY7" fmla="*/ 330288 h 393098"/>
              <a:gd name="connsiteX8" fmla="*/ 193986 w 376007"/>
              <a:gd name="connsiteY8" fmla="*/ 342252 h 393098"/>
              <a:gd name="connsiteX9" fmla="*/ 200822 w 376007"/>
              <a:gd name="connsiteY9" fmla="*/ 343961 h 393098"/>
              <a:gd name="connsiteX10" fmla="*/ 207659 w 376007"/>
              <a:gd name="connsiteY10" fmla="*/ 342252 h 393098"/>
              <a:gd name="connsiteX11" fmla="*/ 376862 w 376007"/>
              <a:gd name="connsiteY11" fmla="*/ 173049 h 393098"/>
              <a:gd name="connsiteX12" fmla="*/ 376862 w 376007"/>
              <a:gd name="connsiteY12" fmla="*/ 161085 h 393098"/>
              <a:gd name="connsiteX13" fmla="*/ 364898 w 376007"/>
              <a:gd name="connsiteY13" fmla="*/ 161085 h 393098"/>
              <a:gd name="connsiteX14" fmla="*/ 346098 w 376007"/>
              <a:gd name="connsiteY14" fmla="*/ 179885 h 393098"/>
              <a:gd name="connsiteX15" fmla="*/ 322170 w 376007"/>
              <a:gd name="connsiteY15" fmla="*/ 155958 h 393098"/>
              <a:gd name="connsiteX16" fmla="*/ 364898 w 376007"/>
              <a:gd name="connsiteY16" fmla="*/ 113230 h 393098"/>
              <a:gd name="connsiteX17" fmla="*/ 364898 w 376007"/>
              <a:gd name="connsiteY17" fmla="*/ 101265 h 393098"/>
              <a:gd name="connsiteX18" fmla="*/ 358062 w 376007"/>
              <a:gd name="connsiteY18" fmla="*/ 94429 h 393098"/>
              <a:gd name="connsiteX19" fmla="*/ 383699 w 376007"/>
              <a:gd name="connsiteY19" fmla="*/ 68792 h 393098"/>
              <a:gd name="connsiteX20" fmla="*/ 383699 w 376007"/>
              <a:gd name="connsiteY20" fmla="*/ 24355 h 393098"/>
              <a:gd name="connsiteX21" fmla="*/ 368317 w 376007"/>
              <a:gd name="connsiteY21" fmla="*/ 8973 h 393098"/>
              <a:gd name="connsiteX22" fmla="*/ 323879 w 376007"/>
              <a:gd name="connsiteY22" fmla="*/ 8973 h 393098"/>
              <a:gd name="connsiteX23" fmla="*/ 298242 w 376007"/>
              <a:gd name="connsiteY23" fmla="*/ 34610 h 393098"/>
              <a:gd name="connsiteX24" fmla="*/ 291406 w 376007"/>
              <a:gd name="connsiteY24" fmla="*/ 27773 h 393098"/>
              <a:gd name="connsiteX25" fmla="*/ 279442 w 376007"/>
              <a:gd name="connsiteY25" fmla="*/ 27773 h 393098"/>
              <a:gd name="connsiteX26" fmla="*/ 243550 w 376007"/>
              <a:gd name="connsiteY26" fmla="*/ 63665 h 393098"/>
              <a:gd name="connsiteX27" fmla="*/ 135875 w 376007"/>
              <a:gd name="connsiteY27" fmla="*/ 171340 h 393098"/>
              <a:gd name="connsiteX28" fmla="*/ 62383 w 376007"/>
              <a:gd name="connsiteY28" fmla="*/ 244832 h 393098"/>
              <a:gd name="connsiteX29" fmla="*/ 21364 w 376007"/>
              <a:gd name="connsiteY29" fmla="*/ 359343 h 393098"/>
              <a:gd name="connsiteX30" fmla="*/ 2564 w 376007"/>
              <a:gd name="connsiteY30" fmla="*/ 378144 h 393098"/>
              <a:gd name="connsiteX31" fmla="*/ 2564 w 376007"/>
              <a:gd name="connsiteY31" fmla="*/ 390108 h 393098"/>
              <a:gd name="connsiteX32" fmla="*/ 7691 w 376007"/>
              <a:gd name="connsiteY32" fmla="*/ 393526 h 393098"/>
              <a:gd name="connsiteX33" fmla="*/ 334134 w 376007"/>
              <a:gd name="connsiteY33" fmla="*/ 22646 h 393098"/>
              <a:gd name="connsiteX34" fmla="*/ 354643 w 376007"/>
              <a:gd name="connsiteY34" fmla="*/ 22646 h 393098"/>
              <a:gd name="connsiteX35" fmla="*/ 370026 w 376007"/>
              <a:gd name="connsiteY35" fmla="*/ 38028 h 393098"/>
              <a:gd name="connsiteX36" fmla="*/ 370026 w 376007"/>
              <a:gd name="connsiteY36" fmla="*/ 58537 h 393098"/>
              <a:gd name="connsiteX37" fmla="*/ 344389 w 376007"/>
              <a:gd name="connsiteY37" fmla="*/ 84174 h 393098"/>
              <a:gd name="connsiteX38" fmla="*/ 308497 w 376007"/>
              <a:gd name="connsiteY38" fmla="*/ 48283 h 393098"/>
              <a:gd name="connsiteX39" fmla="*/ 334134 w 376007"/>
              <a:gd name="connsiteY39" fmla="*/ 22646 h 393098"/>
              <a:gd name="connsiteX40" fmla="*/ 284569 w 376007"/>
              <a:gd name="connsiteY40" fmla="*/ 48283 h 393098"/>
              <a:gd name="connsiteX41" fmla="*/ 291406 w 376007"/>
              <a:gd name="connsiteY41" fmla="*/ 55119 h 393098"/>
              <a:gd name="connsiteX42" fmla="*/ 339261 w 376007"/>
              <a:gd name="connsiteY42" fmla="*/ 102975 h 393098"/>
              <a:gd name="connsiteX43" fmla="*/ 346098 w 376007"/>
              <a:gd name="connsiteY43" fmla="*/ 109811 h 393098"/>
              <a:gd name="connsiteX44" fmla="*/ 137585 w 376007"/>
              <a:gd name="connsiteY44" fmla="*/ 314906 h 393098"/>
              <a:gd name="connsiteX45" fmla="*/ 135875 w 376007"/>
              <a:gd name="connsiteY45" fmla="*/ 314906 h 393098"/>
              <a:gd name="connsiteX46" fmla="*/ 106820 w 376007"/>
              <a:gd name="connsiteY46" fmla="*/ 301233 h 393098"/>
              <a:gd name="connsiteX47" fmla="*/ 77765 w 376007"/>
              <a:gd name="connsiteY47" fmla="*/ 256796 h 393098"/>
              <a:gd name="connsiteX48" fmla="*/ 77765 w 376007"/>
              <a:gd name="connsiteY48" fmla="*/ 255087 h 393098"/>
              <a:gd name="connsiteX49" fmla="*/ 142712 w 376007"/>
              <a:gd name="connsiteY49" fmla="*/ 190140 h 393098"/>
              <a:gd name="connsiteX50" fmla="*/ 173476 w 376007"/>
              <a:gd name="connsiteY50" fmla="*/ 220904 h 393098"/>
              <a:gd name="connsiteX51" fmla="*/ 180313 w 376007"/>
              <a:gd name="connsiteY51" fmla="*/ 222613 h 393098"/>
              <a:gd name="connsiteX52" fmla="*/ 187149 w 376007"/>
              <a:gd name="connsiteY52" fmla="*/ 220904 h 393098"/>
              <a:gd name="connsiteX53" fmla="*/ 293115 w 376007"/>
              <a:gd name="connsiteY53" fmla="*/ 114939 h 393098"/>
              <a:gd name="connsiteX54" fmla="*/ 294824 w 376007"/>
              <a:gd name="connsiteY54" fmla="*/ 108102 h 393098"/>
              <a:gd name="connsiteX55" fmla="*/ 293115 w 376007"/>
              <a:gd name="connsiteY55" fmla="*/ 101265 h 393098"/>
              <a:gd name="connsiteX56" fmla="*/ 262351 w 376007"/>
              <a:gd name="connsiteY56" fmla="*/ 70501 h 393098"/>
              <a:gd name="connsiteX57" fmla="*/ 284569 w 376007"/>
              <a:gd name="connsiteY57" fmla="*/ 48283 h 393098"/>
              <a:gd name="connsiteX58" fmla="*/ 248678 w 376007"/>
              <a:gd name="connsiteY58" fmla="*/ 84174 h 393098"/>
              <a:gd name="connsiteX59" fmla="*/ 272605 w 376007"/>
              <a:gd name="connsiteY59" fmla="*/ 108102 h 393098"/>
              <a:gd name="connsiteX60" fmla="*/ 178604 w 376007"/>
              <a:gd name="connsiteY60" fmla="*/ 202104 h 393098"/>
              <a:gd name="connsiteX61" fmla="*/ 154676 w 376007"/>
              <a:gd name="connsiteY61" fmla="*/ 178176 h 393098"/>
              <a:gd name="connsiteX62" fmla="*/ 248678 w 376007"/>
              <a:gd name="connsiteY62" fmla="*/ 84174 h 393098"/>
              <a:gd name="connsiteX63" fmla="*/ 64092 w 376007"/>
              <a:gd name="connsiteY63" fmla="*/ 270469 h 393098"/>
              <a:gd name="connsiteX64" fmla="*/ 64092 w 376007"/>
              <a:gd name="connsiteY64" fmla="*/ 272178 h 393098"/>
              <a:gd name="connsiteX65" fmla="*/ 65801 w 376007"/>
              <a:gd name="connsiteY65" fmla="*/ 275596 h 393098"/>
              <a:gd name="connsiteX66" fmla="*/ 69220 w 376007"/>
              <a:gd name="connsiteY66" fmla="*/ 282433 h 393098"/>
              <a:gd name="connsiteX67" fmla="*/ 70929 w 376007"/>
              <a:gd name="connsiteY67" fmla="*/ 285851 h 393098"/>
              <a:gd name="connsiteX68" fmla="*/ 76056 w 376007"/>
              <a:gd name="connsiteY68" fmla="*/ 292688 h 393098"/>
              <a:gd name="connsiteX69" fmla="*/ 77765 w 376007"/>
              <a:gd name="connsiteY69" fmla="*/ 296106 h 393098"/>
              <a:gd name="connsiteX70" fmla="*/ 94856 w 376007"/>
              <a:gd name="connsiteY70" fmla="*/ 313197 h 393098"/>
              <a:gd name="connsiteX71" fmla="*/ 98275 w 376007"/>
              <a:gd name="connsiteY71" fmla="*/ 314906 h 393098"/>
              <a:gd name="connsiteX72" fmla="*/ 105111 w 376007"/>
              <a:gd name="connsiteY72" fmla="*/ 320033 h 393098"/>
              <a:gd name="connsiteX73" fmla="*/ 108529 w 376007"/>
              <a:gd name="connsiteY73" fmla="*/ 321743 h 393098"/>
              <a:gd name="connsiteX74" fmla="*/ 115366 w 376007"/>
              <a:gd name="connsiteY74" fmla="*/ 325161 h 393098"/>
              <a:gd name="connsiteX75" fmla="*/ 118784 w 376007"/>
              <a:gd name="connsiteY75" fmla="*/ 326870 h 393098"/>
              <a:gd name="connsiteX76" fmla="*/ 120493 w 376007"/>
              <a:gd name="connsiteY76" fmla="*/ 326870 h 393098"/>
              <a:gd name="connsiteX77" fmla="*/ 35037 w 376007"/>
              <a:gd name="connsiteY77" fmla="*/ 352507 h 393098"/>
              <a:gd name="connsiteX78" fmla="*/ 64092 w 376007"/>
              <a:gd name="connsiteY78" fmla="*/ 270469 h 393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376007" h="393098">
                <a:moveTo>
                  <a:pt x="7691" y="393526"/>
                </a:moveTo>
                <a:cubicBezTo>
                  <a:pt x="9400" y="393526"/>
                  <a:pt x="12818" y="393526"/>
                  <a:pt x="14528" y="391817"/>
                </a:cubicBezTo>
                <a:lnTo>
                  <a:pt x="33328" y="373016"/>
                </a:lnTo>
                <a:cubicBezTo>
                  <a:pt x="40164" y="376435"/>
                  <a:pt x="47001" y="378144"/>
                  <a:pt x="55547" y="378144"/>
                </a:cubicBezTo>
                <a:cubicBezTo>
                  <a:pt x="81183" y="378144"/>
                  <a:pt x="117075" y="361053"/>
                  <a:pt x="146130" y="330288"/>
                </a:cubicBezTo>
                <a:lnTo>
                  <a:pt x="308497" y="167921"/>
                </a:lnTo>
                <a:lnTo>
                  <a:pt x="332425" y="191849"/>
                </a:lnTo>
                <a:lnTo>
                  <a:pt x="193986" y="330288"/>
                </a:lnTo>
                <a:cubicBezTo>
                  <a:pt x="190567" y="333706"/>
                  <a:pt x="190567" y="338834"/>
                  <a:pt x="193986" y="342252"/>
                </a:cubicBezTo>
                <a:cubicBezTo>
                  <a:pt x="195695" y="343961"/>
                  <a:pt x="197404" y="343961"/>
                  <a:pt x="200822" y="343961"/>
                </a:cubicBezTo>
                <a:cubicBezTo>
                  <a:pt x="204240" y="343961"/>
                  <a:pt x="205950" y="343961"/>
                  <a:pt x="207659" y="342252"/>
                </a:cubicBezTo>
                <a:lnTo>
                  <a:pt x="376862" y="173049"/>
                </a:lnTo>
                <a:cubicBezTo>
                  <a:pt x="380280" y="169630"/>
                  <a:pt x="380280" y="164503"/>
                  <a:pt x="376862" y="161085"/>
                </a:cubicBezTo>
                <a:cubicBezTo>
                  <a:pt x="373444" y="157667"/>
                  <a:pt x="368317" y="157667"/>
                  <a:pt x="364898" y="161085"/>
                </a:cubicBezTo>
                <a:lnTo>
                  <a:pt x="346098" y="179885"/>
                </a:lnTo>
                <a:lnTo>
                  <a:pt x="322170" y="155958"/>
                </a:lnTo>
                <a:lnTo>
                  <a:pt x="364898" y="113230"/>
                </a:lnTo>
                <a:cubicBezTo>
                  <a:pt x="368317" y="109811"/>
                  <a:pt x="368317" y="104684"/>
                  <a:pt x="364898" y="101265"/>
                </a:cubicBezTo>
                <a:lnTo>
                  <a:pt x="358062" y="94429"/>
                </a:lnTo>
                <a:lnTo>
                  <a:pt x="383699" y="68792"/>
                </a:lnTo>
                <a:cubicBezTo>
                  <a:pt x="395663" y="56828"/>
                  <a:pt x="395663" y="36319"/>
                  <a:pt x="383699" y="24355"/>
                </a:cubicBezTo>
                <a:lnTo>
                  <a:pt x="368317" y="8973"/>
                </a:lnTo>
                <a:cubicBezTo>
                  <a:pt x="356353" y="-2991"/>
                  <a:pt x="335843" y="-2991"/>
                  <a:pt x="323879" y="8973"/>
                </a:cubicBezTo>
                <a:lnTo>
                  <a:pt x="298242" y="34610"/>
                </a:lnTo>
                <a:lnTo>
                  <a:pt x="291406" y="27773"/>
                </a:lnTo>
                <a:cubicBezTo>
                  <a:pt x="287988" y="24355"/>
                  <a:pt x="282860" y="24355"/>
                  <a:pt x="279442" y="27773"/>
                </a:cubicBezTo>
                <a:lnTo>
                  <a:pt x="243550" y="63665"/>
                </a:lnTo>
                <a:lnTo>
                  <a:pt x="135875" y="171340"/>
                </a:lnTo>
                <a:lnTo>
                  <a:pt x="62383" y="244832"/>
                </a:lnTo>
                <a:cubicBezTo>
                  <a:pt x="21364" y="285851"/>
                  <a:pt x="5982" y="331997"/>
                  <a:pt x="21364" y="359343"/>
                </a:cubicBezTo>
                <a:lnTo>
                  <a:pt x="2564" y="378144"/>
                </a:lnTo>
                <a:cubicBezTo>
                  <a:pt x="-855" y="381562"/>
                  <a:pt x="-855" y="386689"/>
                  <a:pt x="2564" y="390108"/>
                </a:cubicBezTo>
                <a:cubicBezTo>
                  <a:pt x="2564" y="393526"/>
                  <a:pt x="5982" y="393526"/>
                  <a:pt x="7691" y="393526"/>
                </a:cubicBezTo>
                <a:close/>
                <a:moveTo>
                  <a:pt x="334134" y="22646"/>
                </a:moveTo>
                <a:cubicBezTo>
                  <a:pt x="339261" y="17518"/>
                  <a:pt x="349516" y="17518"/>
                  <a:pt x="354643" y="22646"/>
                </a:cubicBezTo>
                <a:lnTo>
                  <a:pt x="370026" y="38028"/>
                </a:lnTo>
                <a:cubicBezTo>
                  <a:pt x="375153" y="43155"/>
                  <a:pt x="375153" y="53410"/>
                  <a:pt x="370026" y="58537"/>
                </a:cubicBezTo>
                <a:lnTo>
                  <a:pt x="344389" y="84174"/>
                </a:lnTo>
                <a:lnTo>
                  <a:pt x="308497" y="48283"/>
                </a:lnTo>
                <a:lnTo>
                  <a:pt x="334134" y="22646"/>
                </a:lnTo>
                <a:close/>
                <a:moveTo>
                  <a:pt x="284569" y="48283"/>
                </a:moveTo>
                <a:lnTo>
                  <a:pt x="291406" y="55119"/>
                </a:lnTo>
                <a:lnTo>
                  <a:pt x="339261" y="102975"/>
                </a:lnTo>
                <a:lnTo>
                  <a:pt x="346098" y="109811"/>
                </a:lnTo>
                <a:lnTo>
                  <a:pt x="137585" y="314906"/>
                </a:lnTo>
                <a:lnTo>
                  <a:pt x="135875" y="314906"/>
                </a:lnTo>
                <a:cubicBezTo>
                  <a:pt x="125621" y="313197"/>
                  <a:pt x="115366" y="308070"/>
                  <a:pt x="106820" y="301233"/>
                </a:cubicBezTo>
                <a:cubicBezTo>
                  <a:pt x="93147" y="290978"/>
                  <a:pt x="82893" y="275596"/>
                  <a:pt x="77765" y="256796"/>
                </a:cubicBezTo>
                <a:lnTo>
                  <a:pt x="77765" y="255087"/>
                </a:lnTo>
                <a:lnTo>
                  <a:pt x="142712" y="190140"/>
                </a:lnTo>
                <a:lnTo>
                  <a:pt x="173476" y="220904"/>
                </a:lnTo>
                <a:cubicBezTo>
                  <a:pt x="175185" y="222613"/>
                  <a:pt x="176894" y="222613"/>
                  <a:pt x="180313" y="222613"/>
                </a:cubicBezTo>
                <a:cubicBezTo>
                  <a:pt x="183731" y="222613"/>
                  <a:pt x="185440" y="220904"/>
                  <a:pt x="187149" y="220904"/>
                </a:cubicBezTo>
                <a:lnTo>
                  <a:pt x="293115" y="114939"/>
                </a:lnTo>
                <a:cubicBezTo>
                  <a:pt x="294824" y="113230"/>
                  <a:pt x="294824" y="111520"/>
                  <a:pt x="294824" y="108102"/>
                </a:cubicBezTo>
                <a:cubicBezTo>
                  <a:pt x="294824" y="104684"/>
                  <a:pt x="293115" y="102975"/>
                  <a:pt x="293115" y="101265"/>
                </a:cubicBezTo>
                <a:lnTo>
                  <a:pt x="262351" y="70501"/>
                </a:lnTo>
                <a:lnTo>
                  <a:pt x="284569" y="48283"/>
                </a:lnTo>
                <a:close/>
                <a:moveTo>
                  <a:pt x="248678" y="84174"/>
                </a:moveTo>
                <a:lnTo>
                  <a:pt x="272605" y="108102"/>
                </a:lnTo>
                <a:lnTo>
                  <a:pt x="178604" y="202104"/>
                </a:lnTo>
                <a:lnTo>
                  <a:pt x="154676" y="178176"/>
                </a:lnTo>
                <a:lnTo>
                  <a:pt x="248678" y="84174"/>
                </a:lnTo>
                <a:close/>
                <a:moveTo>
                  <a:pt x="64092" y="270469"/>
                </a:moveTo>
                <a:cubicBezTo>
                  <a:pt x="64092" y="270469"/>
                  <a:pt x="64092" y="272178"/>
                  <a:pt x="64092" y="272178"/>
                </a:cubicBezTo>
                <a:cubicBezTo>
                  <a:pt x="64092" y="273887"/>
                  <a:pt x="65801" y="275596"/>
                  <a:pt x="65801" y="275596"/>
                </a:cubicBezTo>
                <a:cubicBezTo>
                  <a:pt x="67510" y="277305"/>
                  <a:pt x="67510" y="280724"/>
                  <a:pt x="69220" y="282433"/>
                </a:cubicBezTo>
                <a:cubicBezTo>
                  <a:pt x="69220" y="284142"/>
                  <a:pt x="70929" y="285851"/>
                  <a:pt x="70929" y="285851"/>
                </a:cubicBezTo>
                <a:cubicBezTo>
                  <a:pt x="72638" y="287560"/>
                  <a:pt x="74347" y="290978"/>
                  <a:pt x="76056" y="292688"/>
                </a:cubicBezTo>
                <a:cubicBezTo>
                  <a:pt x="76056" y="294397"/>
                  <a:pt x="77765" y="294397"/>
                  <a:pt x="77765" y="296106"/>
                </a:cubicBezTo>
                <a:cubicBezTo>
                  <a:pt x="82893" y="302942"/>
                  <a:pt x="88020" y="308070"/>
                  <a:pt x="94856" y="313197"/>
                </a:cubicBezTo>
                <a:cubicBezTo>
                  <a:pt x="96566" y="313197"/>
                  <a:pt x="96566" y="314906"/>
                  <a:pt x="98275" y="314906"/>
                </a:cubicBezTo>
                <a:cubicBezTo>
                  <a:pt x="99984" y="316615"/>
                  <a:pt x="103402" y="318324"/>
                  <a:pt x="105111" y="320033"/>
                </a:cubicBezTo>
                <a:cubicBezTo>
                  <a:pt x="106820" y="320033"/>
                  <a:pt x="108529" y="321743"/>
                  <a:pt x="108529" y="321743"/>
                </a:cubicBezTo>
                <a:cubicBezTo>
                  <a:pt x="110239" y="323452"/>
                  <a:pt x="113657" y="323452"/>
                  <a:pt x="115366" y="325161"/>
                </a:cubicBezTo>
                <a:cubicBezTo>
                  <a:pt x="117075" y="325161"/>
                  <a:pt x="118784" y="326870"/>
                  <a:pt x="118784" y="326870"/>
                </a:cubicBezTo>
                <a:cubicBezTo>
                  <a:pt x="118784" y="326870"/>
                  <a:pt x="120493" y="326870"/>
                  <a:pt x="120493" y="326870"/>
                </a:cubicBezTo>
                <a:cubicBezTo>
                  <a:pt x="84602" y="357634"/>
                  <a:pt x="48710" y="366180"/>
                  <a:pt x="35037" y="352507"/>
                </a:cubicBezTo>
                <a:cubicBezTo>
                  <a:pt x="24782" y="342252"/>
                  <a:pt x="33328" y="304651"/>
                  <a:pt x="64092" y="270469"/>
                </a:cubicBezTo>
                <a:close/>
              </a:path>
            </a:pathLst>
          </a:custGeom>
          <a:solidFill>
            <a:schemeClr val="accent1"/>
          </a:solidFill>
          <a:ln w="17082" cap="flat">
            <a:noFill/>
            <a:prstDash val="solid"/>
            <a:miter/>
          </a:ln>
        </p:spPr>
        <p:txBody>
          <a:bodyPr rtlCol="0" anchor="ctr"/>
          <a:lstStyle/>
          <a:p>
            <a:endParaRPr lang="en-ID">
              <a:cs typeface="+mn-ea"/>
              <a:sym typeface="+mn-lt"/>
            </a:endParaRPr>
          </a:p>
        </p:txBody>
      </p:sp>
      <p:sp>
        <p:nvSpPr>
          <p:cNvPr id="4" name="Freeform: Shape 15"/>
          <p:cNvSpPr/>
          <p:nvPr/>
        </p:nvSpPr>
        <p:spPr>
          <a:xfrm>
            <a:off x="7408783" y="2155958"/>
            <a:ext cx="296753" cy="325016"/>
          </a:xfrm>
          <a:custGeom>
            <a:avLst/>
            <a:gdLst>
              <a:gd name="connsiteX0" fmla="*/ 274315 w 358916"/>
              <a:gd name="connsiteY0" fmla="*/ 0 h 393098"/>
              <a:gd name="connsiteX1" fmla="*/ 207659 w 358916"/>
              <a:gd name="connsiteY1" fmla="*/ 27346 h 393098"/>
              <a:gd name="connsiteX2" fmla="*/ 2564 w 358916"/>
              <a:gd name="connsiteY2" fmla="*/ 234150 h 393098"/>
              <a:gd name="connsiteX3" fmla="*/ 2564 w 358916"/>
              <a:gd name="connsiteY3" fmla="*/ 246114 h 393098"/>
              <a:gd name="connsiteX4" fmla="*/ 14528 w 358916"/>
              <a:gd name="connsiteY4" fmla="*/ 246114 h 393098"/>
              <a:gd name="connsiteX5" fmla="*/ 219623 w 358916"/>
              <a:gd name="connsiteY5" fmla="*/ 39310 h 393098"/>
              <a:gd name="connsiteX6" fmla="*/ 274315 w 358916"/>
              <a:gd name="connsiteY6" fmla="*/ 17091 h 393098"/>
              <a:gd name="connsiteX7" fmla="*/ 329007 w 358916"/>
              <a:gd name="connsiteY7" fmla="*/ 39310 h 393098"/>
              <a:gd name="connsiteX8" fmla="*/ 351225 w 358916"/>
              <a:gd name="connsiteY8" fmla="*/ 94002 h 393098"/>
              <a:gd name="connsiteX9" fmla="*/ 329007 w 358916"/>
              <a:gd name="connsiteY9" fmla="*/ 148694 h 393098"/>
              <a:gd name="connsiteX10" fmla="*/ 117075 w 358916"/>
              <a:gd name="connsiteY10" fmla="*/ 360625 h 393098"/>
              <a:gd name="connsiteX11" fmla="*/ 45292 w 358916"/>
              <a:gd name="connsiteY11" fmla="*/ 360625 h 393098"/>
              <a:gd name="connsiteX12" fmla="*/ 45292 w 358916"/>
              <a:gd name="connsiteY12" fmla="*/ 288842 h 393098"/>
              <a:gd name="connsiteX13" fmla="*/ 221332 w 358916"/>
              <a:gd name="connsiteY13" fmla="*/ 112802 h 393098"/>
              <a:gd name="connsiteX14" fmla="*/ 257223 w 358916"/>
              <a:gd name="connsiteY14" fmla="*/ 112802 h 393098"/>
              <a:gd name="connsiteX15" fmla="*/ 257223 w 358916"/>
              <a:gd name="connsiteY15" fmla="*/ 148694 h 393098"/>
              <a:gd name="connsiteX16" fmla="*/ 171767 w 358916"/>
              <a:gd name="connsiteY16" fmla="*/ 232441 h 393098"/>
              <a:gd name="connsiteX17" fmla="*/ 171767 w 358916"/>
              <a:gd name="connsiteY17" fmla="*/ 244405 h 393098"/>
              <a:gd name="connsiteX18" fmla="*/ 178604 w 358916"/>
              <a:gd name="connsiteY18" fmla="*/ 246114 h 393098"/>
              <a:gd name="connsiteX19" fmla="*/ 185440 w 358916"/>
              <a:gd name="connsiteY19" fmla="*/ 244405 h 393098"/>
              <a:gd name="connsiteX20" fmla="*/ 270896 w 358916"/>
              <a:gd name="connsiteY20" fmla="*/ 160658 h 393098"/>
              <a:gd name="connsiteX21" fmla="*/ 270896 w 358916"/>
              <a:gd name="connsiteY21" fmla="*/ 100838 h 393098"/>
              <a:gd name="connsiteX22" fmla="*/ 211077 w 358916"/>
              <a:gd name="connsiteY22" fmla="*/ 100838 h 393098"/>
              <a:gd name="connsiteX23" fmla="*/ 35037 w 358916"/>
              <a:gd name="connsiteY23" fmla="*/ 276878 h 393098"/>
              <a:gd name="connsiteX24" fmla="*/ 35037 w 358916"/>
              <a:gd name="connsiteY24" fmla="*/ 374298 h 393098"/>
              <a:gd name="connsiteX25" fmla="*/ 82893 w 358916"/>
              <a:gd name="connsiteY25" fmla="*/ 394808 h 393098"/>
              <a:gd name="connsiteX26" fmla="*/ 130748 w 358916"/>
              <a:gd name="connsiteY26" fmla="*/ 374298 h 393098"/>
              <a:gd name="connsiteX27" fmla="*/ 342680 w 358916"/>
              <a:gd name="connsiteY27" fmla="*/ 162367 h 393098"/>
              <a:gd name="connsiteX28" fmla="*/ 370026 w 358916"/>
              <a:gd name="connsiteY28" fmla="*/ 95711 h 393098"/>
              <a:gd name="connsiteX29" fmla="*/ 342680 w 358916"/>
              <a:gd name="connsiteY29" fmla="*/ 29055 h 393098"/>
              <a:gd name="connsiteX30" fmla="*/ 274315 w 358916"/>
              <a:gd name="connsiteY30" fmla="*/ 0 h 393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58916" h="393098">
                <a:moveTo>
                  <a:pt x="274315" y="0"/>
                </a:moveTo>
                <a:cubicBezTo>
                  <a:pt x="248678" y="0"/>
                  <a:pt x="224750" y="10255"/>
                  <a:pt x="207659" y="27346"/>
                </a:cubicBezTo>
                <a:lnTo>
                  <a:pt x="2564" y="234150"/>
                </a:lnTo>
                <a:cubicBezTo>
                  <a:pt x="-855" y="237568"/>
                  <a:pt x="-855" y="242696"/>
                  <a:pt x="2564" y="246114"/>
                </a:cubicBezTo>
                <a:cubicBezTo>
                  <a:pt x="5982" y="249532"/>
                  <a:pt x="11109" y="249532"/>
                  <a:pt x="14528" y="246114"/>
                </a:cubicBezTo>
                <a:lnTo>
                  <a:pt x="219623" y="39310"/>
                </a:lnTo>
                <a:cubicBezTo>
                  <a:pt x="233296" y="23928"/>
                  <a:pt x="253805" y="17091"/>
                  <a:pt x="274315" y="17091"/>
                </a:cubicBezTo>
                <a:cubicBezTo>
                  <a:pt x="294824" y="17091"/>
                  <a:pt x="313624" y="25637"/>
                  <a:pt x="329007" y="39310"/>
                </a:cubicBezTo>
                <a:cubicBezTo>
                  <a:pt x="344389" y="54692"/>
                  <a:pt x="351225" y="73492"/>
                  <a:pt x="351225" y="94002"/>
                </a:cubicBezTo>
                <a:cubicBezTo>
                  <a:pt x="351225" y="114511"/>
                  <a:pt x="342680" y="133312"/>
                  <a:pt x="329007" y="148694"/>
                </a:cubicBezTo>
                <a:lnTo>
                  <a:pt x="117075" y="360625"/>
                </a:lnTo>
                <a:cubicBezTo>
                  <a:pt x="96566" y="381135"/>
                  <a:pt x="64092" y="381135"/>
                  <a:pt x="45292" y="360625"/>
                </a:cubicBezTo>
                <a:cubicBezTo>
                  <a:pt x="24782" y="340116"/>
                  <a:pt x="24782" y="307642"/>
                  <a:pt x="45292" y="288842"/>
                </a:cubicBezTo>
                <a:lnTo>
                  <a:pt x="221332" y="112802"/>
                </a:lnTo>
                <a:cubicBezTo>
                  <a:pt x="231587" y="102547"/>
                  <a:pt x="248678" y="102547"/>
                  <a:pt x="257223" y="112802"/>
                </a:cubicBezTo>
                <a:cubicBezTo>
                  <a:pt x="267478" y="123057"/>
                  <a:pt x="267478" y="138439"/>
                  <a:pt x="257223" y="148694"/>
                </a:cubicBezTo>
                <a:lnTo>
                  <a:pt x="171767" y="232441"/>
                </a:lnTo>
                <a:cubicBezTo>
                  <a:pt x="168349" y="235859"/>
                  <a:pt x="168349" y="240987"/>
                  <a:pt x="171767" y="244405"/>
                </a:cubicBezTo>
                <a:cubicBezTo>
                  <a:pt x="173476" y="246114"/>
                  <a:pt x="175185" y="246114"/>
                  <a:pt x="178604" y="246114"/>
                </a:cubicBezTo>
                <a:cubicBezTo>
                  <a:pt x="182022" y="246114"/>
                  <a:pt x="183731" y="246114"/>
                  <a:pt x="185440" y="244405"/>
                </a:cubicBezTo>
                <a:lnTo>
                  <a:pt x="270896" y="160658"/>
                </a:lnTo>
                <a:cubicBezTo>
                  <a:pt x="287987" y="143566"/>
                  <a:pt x="287987" y="116221"/>
                  <a:pt x="270896" y="100838"/>
                </a:cubicBezTo>
                <a:cubicBezTo>
                  <a:pt x="255514" y="85456"/>
                  <a:pt x="226459" y="85456"/>
                  <a:pt x="211077" y="100838"/>
                </a:cubicBezTo>
                <a:lnTo>
                  <a:pt x="35037" y="276878"/>
                </a:lnTo>
                <a:cubicBezTo>
                  <a:pt x="7691" y="304224"/>
                  <a:pt x="7691" y="346952"/>
                  <a:pt x="35037" y="374298"/>
                </a:cubicBezTo>
                <a:cubicBezTo>
                  <a:pt x="48710" y="387971"/>
                  <a:pt x="65801" y="394808"/>
                  <a:pt x="82893" y="394808"/>
                </a:cubicBezTo>
                <a:cubicBezTo>
                  <a:pt x="99984" y="394808"/>
                  <a:pt x="117075" y="387971"/>
                  <a:pt x="130748" y="374298"/>
                </a:cubicBezTo>
                <a:lnTo>
                  <a:pt x="342680" y="162367"/>
                </a:lnTo>
                <a:cubicBezTo>
                  <a:pt x="359771" y="145276"/>
                  <a:pt x="370026" y="121348"/>
                  <a:pt x="370026" y="95711"/>
                </a:cubicBezTo>
                <a:cubicBezTo>
                  <a:pt x="370026" y="70074"/>
                  <a:pt x="359771" y="46146"/>
                  <a:pt x="342680" y="29055"/>
                </a:cubicBezTo>
                <a:cubicBezTo>
                  <a:pt x="323879" y="10255"/>
                  <a:pt x="299952" y="0"/>
                  <a:pt x="274315" y="0"/>
                </a:cubicBezTo>
                <a:close/>
              </a:path>
            </a:pathLst>
          </a:custGeom>
          <a:solidFill>
            <a:schemeClr val="accent1"/>
          </a:solidFill>
          <a:ln w="17082" cap="flat">
            <a:noFill/>
            <a:prstDash val="solid"/>
            <a:miter/>
          </a:ln>
        </p:spPr>
        <p:txBody>
          <a:bodyPr rtlCol="0" anchor="ctr"/>
          <a:lstStyle/>
          <a:p>
            <a:endParaRPr lang="en-ID">
              <a:cs typeface="+mn-ea"/>
              <a:sym typeface="+mn-lt"/>
            </a:endParaRPr>
          </a:p>
        </p:txBody>
      </p:sp>
      <p:sp>
        <p:nvSpPr>
          <p:cNvPr id="8" name="Freeform: Shape 16"/>
          <p:cNvSpPr/>
          <p:nvPr/>
        </p:nvSpPr>
        <p:spPr>
          <a:xfrm>
            <a:off x="9545714" y="2155863"/>
            <a:ext cx="310886" cy="325016"/>
          </a:xfrm>
          <a:custGeom>
            <a:avLst/>
            <a:gdLst>
              <a:gd name="connsiteX0" fmla="*/ 1709 w 376007"/>
              <a:gd name="connsiteY0" fmla="*/ 391484 h 393098"/>
              <a:gd name="connsiteX1" fmla="*/ 8546 w 376007"/>
              <a:gd name="connsiteY1" fmla="*/ 393194 h 393098"/>
              <a:gd name="connsiteX2" fmla="*/ 11964 w 376007"/>
              <a:gd name="connsiteY2" fmla="*/ 393194 h 393098"/>
              <a:gd name="connsiteX3" fmla="*/ 126475 w 376007"/>
              <a:gd name="connsiteY3" fmla="*/ 350465 h 393098"/>
              <a:gd name="connsiteX4" fmla="*/ 157240 w 376007"/>
              <a:gd name="connsiteY4" fmla="*/ 367557 h 393098"/>
              <a:gd name="connsiteX5" fmla="*/ 179458 w 376007"/>
              <a:gd name="connsiteY5" fmla="*/ 372684 h 393098"/>
              <a:gd name="connsiteX6" fmla="*/ 206804 w 376007"/>
              <a:gd name="connsiteY6" fmla="*/ 365847 h 393098"/>
              <a:gd name="connsiteX7" fmla="*/ 234150 w 376007"/>
              <a:gd name="connsiteY7" fmla="*/ 323119 h 393098"/>
              <a:gd name="connsiteX8" fmla="*/ 225605 w 376007"/>
              <a:gd name="connsiteY8" fmla="*/ 270137 h 393098"/>
              <a:gd name="connsiteX9" fmla="*/ 299097 w 376007"/>
              <a:gd name="connsiteY9" fmla="*/ 196644 h 393098"/>
              <a:gd name="connsiteX10" fmla="*/ 309352 w 376007"/>
              <a:gd name="connsiteY10" fmla="*/ 198353 h 393098"/>
              <a:gd name="connsiteX11" fmla="*/ 321315 w 376007"/>
              <a:gd name="connsiteY11" fmla="*/ 198353 h 393098"/>
              <a:gd name="connsiteX12" fmla="*/ 384553 w 376007"/>
              <a:gd name="connsiteY12" fmla="*/ 171007 h 393098"/>
              <a:gd name="connsiteX13" fmla="*/ 386262 w 376007"/>
              <a:gd name="connsiteY13" fmla="*/ 169298 h 393098"/>
              <a:gd name="connsiteX14" fmla="*/ 387972 w 376007"/>
              <a:gd name="connsiteY14" fmla="*/ 167589 h 393098"/>
              <a:gd name="connsiteX15" fmla="*/ 387972 w 376007"/>
              <a:gd name="connsiteY15" fmla="*/ 167589 h 393098"/>
              <a:gd name="connsiteX16" fmla="*/ 333279 w 376007"/>
              <a:gd name="connsiteY16" fmla="*/ 59914 h 393098"/>
              <a:gd name="connsiteX17" fmla="*/ 225605 w 376007"/>
              <a:gd name="connsiteY17" fmla="*/ 5222 h 393098"/>
              <a:gd name="connsiteX18" fmla="*/ 199968 w 376007"/>
              <a:gd name="connsiteY18" fmla="*/ 92388 h 393098"/>
              <a:gd name="connsiteX19" fmla="*/ 124766 w 376007"/>
              <a:gd name="connsiteY19" fmla="*/ 167589 h 393098"/>
              <a:gd name="connsiteX20" fmla="*/ 70074 w 376007"/>
              <a:gd name="connsiteY20" fmla="*/ 159044 h 393098"/>
              <a:gd name="connsiteX21" fmla="*/ 27346 w 376007"/>
              <a:gd name="connsiteY21" fmla="*/ 186389 h 393098"/>
              <a:gd name="connsiteX22" fmla="*/ 25637 w 376007"/>
              <a:gd name="connsiteY22" fmla="*/ 237663 h 393098"/>
              <a:gd name="connsiteX23" fmla="*/ 42728 w 376007"/>
              <a:gd name="connsiteY23" fmla="*/ 268427 h 393098"/>
              <a:gd name="connsiteX24" fmla="*/ 0 w 376007"/>
              <a:gd name="connsiteY24" fmla="*/ 382939 h 393098"/>
              <a:gd name="connsiteX25" fmla="*/ 1709 w 376007"/>
              <a:gd name="connsiteY25" fmla="*/ 391484 h 393098"/>
              <a:gd name="connsiteX26" fmla="*/ 321315 w 376007"/>
              <a:gd name="connsiteY26" fmla="*/ 71878 h 393098"/>
              <a:gd name="connsiteX27" fmla="*/ 376008 w 376007"/>
              <a:gd name="connsiteY27" fmla="*/ 153916 h 393098"/>
              <a:gd name="connsiteX28" fmla="*/ 358916 w 376007"/>
              <a:gd name="connsiteY28" fmla="*/ 148789 h 393098"/>
              <a:gd name="connsiteX29" fmla="*/ 357207 w 376007"/>
              <a:gd name="connsiteY29" fmla="*/ 148789 h 393098"/>
              <a:gd name="connsiteX30" fmla="*/ 348661 w 376007"/>
              <a:gd name="connsiteY30" fmla="*/ 143661 h 393098"/>
              <a:gd name="connsiteX31" fmla="*/ 345244 w 376007"/>
              <a:gd name="connsiteY31" fmla="*/ 141952 h 393098"/>
              <a:gd name="connsiteX32" fmla="*/ 336698 w 376007"/>
              <a:gd name="connsiteY32" fmla="*/ 136825 h 393098"/>
              <a:gd name="connsiteX33" fmla="*/ 331570 w 376007"/>
              <a:gd name="connsiteY33" fmla="*/ 133407 h 393098"/>
              <a:gd name="connsiteX34" fmla="*/ 323025 w 376007"/>
              <a:gd name="connsiteY34" fmla="*/ 126570 h 393098"/>
              <a:gd name="connsiteX35" fmla="*/ 314479 w 376007"/>
              <a:gd name="connsiteY35" fmla="*/ 119734 h 393098"/>
              <a:gd name="connsiteX36" fmla="*/ 307643 w 376007"/>
              <a:gd name="connsiteY36" fmla="*/ 114606 h 393098"/>
              <a:gd name="connsiteX37" fmla="*/ 292261 w 376007"/>
              <a:gd name="connsiteY37" fmla="*/ 99224 h 393098"/>
              <a:gd name="connsiteX38" fmla="*/ 276879 w 376007"/>
              <a:gd name="connsiteY38" fmla="*/ 82133 h 393098"/>
              <a:gd name="connsiteX39" fmla="*/ 237568 w 376007"/>
              <a:gd name="connsiteY39" fmla="*/ 15477 h 393098"/>
              <a:gd name="connsiteX40" fmla="*/ 239278 w 376007"/>
              <a:gd name="connsiteY40" fmla="*/ 15477 h 393098"/>
              <a:gd name="connsiteX41" fmla="*/ 321315 w 376007"/>
              <a:gd name="connsiteY41" fmla="*/ 71878 h 393098"/>
              <a:gd name="connsiteX42" fmla="*/ 223896 w 376007"/>
              <a:gd name="connsiteY42" fmla="*/ 35987 h 393098"/>
              <a:gd name="connsiteX43" fmla="*/ 223896 w 376007"/>
              <a:gd name="connsiteY43" fmla="*/ 35987 h 393098"/>
              <a:gd name="connsiteX44" fmla="*/ 225605 w 376007"/>
              <a:gd name="connsiteY44" fmla="*/ 41114 h 393098"/>
              <a:gd name="connsiteX45" fmla="*/ 227313 w 376007"/>
              <a:gd name="connsiteY45" fmla="*/ 44532 h 393098"/>
              <a:gd name="connsiteX46" fmla="*/ 232441 w 376007"/>
              <a:gd name="connsiteY46" fmla="*/ 53078 h 393098"/>
              <a:gd name="connsiteX47" fmla="*/ 280296 w 376007"/>
              <a:gd name="connsiteY47" fmla="*/ 114606 h 393098"/>
              <a:gd name="connsiteX48" fmla="*/ 302515 w 376007"/>
              <a:gd name="connsiteY48" fmla="*/ 135116 h 393098"/>
              <a:gd name="connsiteX49" fmla="*/ 302515 w 376007"/>
              <a:gd name="connsiteY49" fmla="*/ 135116 h 393098"/>
              <a:gd name="connsiteX50" fmla="*/ 312770 w 376007"/>
              <a:gd name="connsiteY50" fmla="*/ 143661 h 393098"/>
              <a:gd name="connsiteX51" fmla="*/ 316188 w 376007"/>
              <a:gd name="connsiteY51" fmla="*/ 147080 h 393098"/>
              <a:gd name="connsiteX52" fmla="*/ 323025 w 376007"/>
              <a:gd name="connsiteY52" fmla="*/ 152207 h 393098"/>
              <a:gd name="connsiteX53" fmla="*/ 328152 w 376007"/>
              <a:gd name="connsiteY53" fmla="*/ 155625 h 393098"/>
              <a:gd name="connsiteX54" fmla="*/ 331570 w 376007"/>
              <a:gd name="connsiteY54" fmla="*/ 157334 h 393098"/>
              <a:gd name="connsiteX55" fmla="*/ 355498 w 376007"/>
              <a:gd name="connsiteY55" fmla="*/ 171007 h 393098"/>
              <a:gd name="connsiteX56" fmla="*/ 357207 w 376007"/>
              <a:gd name="connsiteY56" fmla="*/ 171007 h 393098"/>
              <a:gd name="connsiteX57" fmla="*/ 311061 w 376007"/>
              <a:gd name="connsiteY57" fmla="*/ 181262 h 393098"/>
              <a:gd name="connsiteX58" fmla="*/ 297388 w 376007"/>
              <a:gd name="connsiteY58" fmla="*/ 177844 h 393098"/>
              <a:gd name="connsiteX59" fmla="*/ 290551 w 376007"/>
              <a:gd name="connsiteY59" fmla="*/ 174426 h 393098"/>
              <a:gd name="connsiteX60" fmla="*/ 282006 w 376007"/>
              <a:gd name="connsiteY60" fmla="*/ 171007 h 393098"/>
              <a:gd name="connsiteX61" fmla="*/ 275169 w 376007"/>
              <a:gd name="connsiteY61" fmla="*/ 167589 h 393098"/>
              <a:gd name="connsiteX62" fmla="*/ 264914 w 376007"/>
              <a:gd name="connsiteY62" fmla="*/ 160753 h 393098"/>
              <a:gd name="connsiteX63" fmla="*/ 259787 w 376007"/>
              <a:gd name="connsiteY63" fmla="*/ 157334 h 393098"/>
              <a:gd name="connsiteX64" fmla="*/ 246114 w 376007"/>
              <a:gd name="connsiteY64" fmla="*/ 145370 h 393098"/>
              <a:gd name="connsiteX65" fmla="*/ 235859 w 376007"/>
              <a:gd name="connsiteY65" fmla="*/ 133407 h 393098"/>
              <a:gd name="connsiteX66" fmla="*/ 215350 w 376007"/>
              <a:gd name="connsiteY66" fmla="*/ 92388 h 393098"/>
              <a:gd name="connsiteX67" fmla="*/ 215350 w 376007"/>
              <a:gd name="connsiteY67" fmla="*/ 92388 h 393098"/>
              <a:gd name="connsiteX68" fmla="*/ 223896 w 376007"/>
              <a:gd name="connsiteY68" fmla="*/ 35987 h 393098"/>
              <a:gd name="connsiteX69" fmla="*/ 210222 w 376007"/>
              <a:gd name="connsiteY69" fmla="*/ 121443 h 393098"/>
              <a:gd name="connsiteX70" fmla="*/ 211931 w 376007"/>
              <a:gd name="connsiteY70" fmla="*/ 123152 h 393098"/>
              <a:gd name="connsiteX71" fmla="*/ 217059 w 376007"/>
              <a:gd name="connsiteY71" fmla="*/ 133407 h 393098"/>
              <a:gd name="connsiteX72" fmla="*/ 218768 w 376007"/>
              <a:gd name="connsiteY72" fmla="*/ 136825 h 393098"/>
              <a:gd name="connsiteX73" fmla="*/ 225605 w 376007"/>
              <a:gd name="connsiteY73" fmla="*/ 145370 h 393098"/>
              <a:gd name="connsiteX74" fmla="*/ 227313 w 376007"/>
              <a:gd name="connsiteY74" fmla="*/ 147080 h 393098"/>
              <a:gd name="connsiteX75" fmla="*/ 235859 w 376007"/>
              <a:gd name="connsiteY75" fmla="*/ 157334 h 393098"/>
              <a:gd name="connsiteX76" fmla="*/ 246114 w 376007"/>
              <a:gd name="connsiteY76" fmla="*/ 165880 h 393098"/>
              <a:gd name="connsiteX77" fmla="*/ 249532 w 376007"/>
              <a:gd name="connsiteY77" fmla="*/ 167589 h 393098"/>
              <a:gd name="connsiteX78" fmla="*/ 256369 w 376007"/>
              <a:gd name="connsiteY78" fmla="*/ 172717 h 393098"/>
              <a:gd name="connsiteX79" fmla="*/ 259787 w 376007"/>
              <a:gd name="connsiteY79" fmla="*/ 174426 h 393098"/>
              <a:gd name="connsiteX80" fmla="*/ 268333 w 376007"/>
              <a:gd name="connsiteY80" fmla="*/ 179553 h 393098"/>
              <a:gd name="connsiteX81" fmla="*/ 270042 w 376007"/>
              <a:gd name="connsiteY81" fmla="*/ 181262 h 393098"/>
              <a:gd name="connsiteX82" fmla="*/ 282006 w 376007"/>
              <a:gd name="connsiteY82" fmla="*/ 186389 h 393098"/>
              <a:gd name="connsiteX83" fmla="*/ 244405 w 376007"/>
              <a:gd name="connsiteY83" fmla="*/ 223990 h 393098"/>
              <a:gd name="connsiteX84" fmla="*/ 208513 w 376007"/>
              <a:gd name="connsiteY84" fmla="*/ 259882 h 393098"/>
              <a:gd name="connsiteX85" fmla="*/ 162367 w 376007"/>
              <a:gd name="connsiteY85" fmla="*/ 229117 h 393098"/>
              <a:gd name="connsiteX86" fmla="*/ 133312 w 376007"/>
              <a:gd name="connsiteY86" fmla="*/ 188099 h 393098"/>
              <a:gd name="connsiteX87" fmla="*/ 131603 w 376007"/>
              <a:gd name="connsiteY87" fmla="*/ 182971 h 393098"/>
              <a:gd name="connsiteX88" fmla="*/ 205095 w 376007"/>
              <a:gd name="connsiteY88" fmla="*/ 109479 h 393098"/>
              <a:gd name="connsiteX89" fmla="*/ 210222 w 376007"/>
              <a:gd name="connsiteY89" fmla="*/ 121443 h 393098"/>
              <a:gd name="connsiteX90" fmla="*/ 42728 w 376007"/>
              <a:gd name="connsiteY90" fmla="*/ 194935 h 393098"/>
              <a:gd name="connsiteX91" fmla="*/ 71783 w 376007"/>
              <a:gd name="connsiteY91" fmla="*/ 176135 h 393098"/>
              <a:gd name="connsiteX92" fmla="*/ 80329 w 376007"/>
              <a:gd name="connsiteY92" fmla="*/ 176135 h 393098"/>
              <a:gd name="connsiteX93" fmla="*/ 112802 w 376007"/>
              <a:gd name="connsiteY93" fmla="*/ 181262 h 393098"/>
              <a:gd name="connsiteX94" fmla="*/ 112802 w 376007"/>
              <a:gd name="connsiteY94" fmla="*/ 184680 h 393098"/>
              <a:gd name="connsiteX95" fmla="*/ 150403 w 376007"/>
              <a:gd name="connsiteY95" fmla="*/ 244500 h 393098"/>
              <a:gd name="connsiteX96" fmla="*/ 208513 w 376007"/>
              <a:gd name="connsiteY96" fmla="*/ 282100 h 393098"/>
              <a:gd name="connsiteX97" fmla="*/ 210222 w 376007"/>
              <a:gd name="connsiteY97" fmla="*/ 282100 h 393098"/>
              <a:gd name="connsiteX98" fmla="*/ 210222 w 376007"/>
              <a:gd name="connsiteY98" fmla="*/ 282100 h 393098"/>
              <a:gd name="connsiteX99" fmla="*/ 210222 w 376007"/>
              <a:gd name="connsiteY99" fmla="*/ 282100 h 393098"/>
              <a:gd name="connsiteX100" fmla="*/ 215350 w 376007"/>
              <a:gd name="connsiteY100" fmla="*/ 323119 h 393098"/>
              <a:gd name="connsiteX101" fmla="*/ 196549 w 376007"/>
              <a:gd name="connsiteY101" fmla="*/ 352175 h 393098"/>
              <a:gd name="connsiteX102" fmla="*/ 160658 w 376007"/>
              <a:gd name="connsiteY102" fmla="*/ 353884 h 393098"/>
              <a:gd name="connsiteX103" fmla="*/ 129894 w 376007"/>
              <a:gd name="connsiteY103" fmla="*/ 335083 h 393098"/>
              <a:gd name="connsiteX104" fmla="*/ 129894 w 376007"/>
              <a:gd name="connsiteY104" fmla="*/ 335083 h 393098"/>
              <a:gd name="connsiteX105" fmla="*/ 109384 w 376007"/>
              <a:gd name="connsiteY105" fmla="*/ 319701 h 393098"/>
              <a:gd name="connsiteX106" fmla="*/ 109384 w 376007"/>
              <a:gd name="connsiteY106" fmla="*/ 319701 h 393098"/>
              <a:gd name="connsiteX107" fmla="*/ 90583 w 376007"/>
              <a:gd name="connsiteY107" fmla="*/ 302610 h 393098"/>
              <a:gd name="connsiteX108" fmla="*/ 73492 w 376007"/>
              <a:gd name="connsiteY108" fmla="*/ 283810 h 393098"/>
              <a:gd name="connsiteX109" fmla="*/ 73492 w 376007"/>
              <a:gd name="connsiteY109" fmla="*/ 283810 h 393098"/>
              <a:gd name="connsiteX110" fmla="*/ 58110 w 376007"/>
              <a:gd name="connsiteY110" fmla="*/ 265009 h 393098"/>
              <a:gd name="connsiteX111" fmla="*/ 39310 w 376007"/>
              <a:gd name="connsiteY111" fmla="*/ 232536 h 393098"/>
              <a:gd name="connsiteX112" fmla="*/ 42728 w 376007"/>
              <a:gd name="connsiteY112" fmla="*/ 194935 h 393098"/>
              <a:gd name="connsiteX113" fmla="*/ 54692 w 376007"/>
              <a:gd name="connsiteY113" fmla="*/ 283810 h 393098"/>
              <a:gd name="connsiteX114" fmla="*/ 58110 w 376007"/>
              <a:gd name="connsiteY114" fmla="*/ 288937 h 393098"/>
              <a:gd name="connsiteX115" fmla="*/ 64947 w 376007"/>
              <a:gd name="connsiteY115" fmla="*/ 295773 h 393098"/>
              <a:gd name="connsiteX116" fmla="*/ 80329 w 376007"/>
              <a:gd name="connsiteY116" fmla="*/ 312865 h 393098"/>
              <a:gd name="connsiteX117" fmla="*/ 97420 w 376007"/>
              <a:gd name="connsiteY117" fmla="*/ 328247 h 393098"/>
              <a:gd name="connsiteX118" fmla="*/ 105966 w 376007"/>
              <a:gd name="connsiteY118" fmla="*/ 335083 h 393098"/>
              <a:gd name="connsiteX119" fmla="*/ 111093 w 376007"/>
              <a:gd name="connsiteY119" fmla="*/ 338502 h 393098"/>
              <a:gd name="connsiteX120" fmla="*/ 25637 w 376007"/>
              <a:gd name="connsiteY120" fmla="*/ 370975 h 393098"/>
              <a:gd name="connsiteX121" fmla="*/ 54692 w 376007"/>
              <a:gd name="connsiteY121" fmla="*/ 283810 h 393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376007" h="393098">
                <a:moveTo>
                  <a:pt x="1709" y="391484"/>
                </a:moveTo>
                <a:cubicBezTo>
                  <a:pt x="3418" y="393194"/>
                  <a:pt x="5127" y="393194"/>
                  <a:pt x="8546" y="393194"/>
                </a:cubicBezTo>
                <a:cubicBezTo>
                  <a:pt x="10255" y="393194"/>
                  <a:pt x="10255" y="393194"/>
                  <a:pt x="11964" y="393194"/>
                </a:cubicBezTo>
                <a:lnTo>
                  <a:pt x="126475" y="350465"/>
                </a:lnTo>
                <a:cubicBezTo>
                  <a:pt x="136730" y="357302"/>
                  <a:pt x="146985" y="364138"/>
                  <a:pt x="157240" y="367557"/>
                </a:cubicBezTo>
                <a:cubicBezTo>
                  <a:pt x="164076" y="370975"/>
                  <a:pt x="172622" y="372684"/>
                  <a:pt x="179458" y="372684"/>
                </a:cubicBezTo>
                <a:cubicBezTo>
                  <a:pt x="189713" y="372684"/>
                  <a:pt x="198259" y="370975"/>
                  <a:pt x="206804" y="365847"/>
                </a:cubicBezTo>
                <a:cubicBezTo>
                  <a:pt x="222186" y="357302"/>
                  <a:pt x="232441" y="341920"/>
                  <a:pt x="234150" y="323119"/>
                </a:cubicBezTo>
                <a:cubicBezTo>
                  <a:pt x="235859" y="306028"/>
                  <a:pt x="232441" y="288937"/>
                  <a:pt x="225605" y="270137"/>
                </a:cubicBezTo>
                <a:lnTo>
                  <a:pt x="299097" y="196644"/>
                </a:lnTo>
                <a:cubicBezTo>
                  <a:pt x="302515" y="196644"/>
                  <a:pt x="305933" y="198353"/>
                  <a:pt x="309352" y="198353"/>
                </a:cubicBezTo>
                <a:cubicBezTo>
                  <a:pt x="312770" y="198353"/>
                  <a:pt x="317897" y="198353"/>
                  <a:pt x="321315" y="198353"/>
                </a:cubicBezTo>
                <a:cubicBezTo>
                  <a:pt x="345244" y="198353"/>
                  <a:pt x="367462" y="189808"/>
                  <a:pt x="384553" y="171007"/>
                </a:cubicBezTo>
                <a:cubicBezTo>
                  <a:pt x="384553" y="171007"/>
                  <a:pt x="384553" y="169298"/>
                  <a:pt x="386262" y="169298"/>
                </a:cubicBezTo>
                <a:cubicBezTo>
                  <a:pt x="386262" y="169298"/>
                  <a:pt x="387972" y="169298"/>
                  <a:pt x="387972" y="167589"/>
                </a:cubicBezTo>
                <a:cubicBezTo>
                  <a:pt x="387972" y="167589"/>
                  <a:pt x="387972" y="167589"/>
                  <a:pt x="387972" y="167589"/>
                </a:cubicBezTo>
                <a:cubicBezTo>
                  <a:pt x="408481" y="147080"/>
                  <a:pt x="362335" y="90679"/>
                  <a:pt x="333279" y="59914"/>
                </a:cubicBezTo>
                <a:cubicBezTo>
                  <a:pt x="304224" y="29150"/>
                  <a:pt x="246114" y="-15287"/>
                  <a:pt x="225605" y="5222"/>
                </a:cubicBezTo>
                <a:cubicBezTo>
                  <a:pt x="201677" y="29150"/>
                  <a:pt x="193131" y="59914"/>
                  <a:pt x="199968" y="92388"/>
                </a:cubicBezTo>
                <a:lnTo>
                  <a:pt x="124766" y="167589"/>
                </a:lnTo>
                <a:cubicBezTo>
                  <a:pt x="105966" y="160753"/>
                  <a:pt x="87165" y="157334"/>
                  <a:pt x="70074" y="159044"/>
                </a:cubicBezTo>
                <a:cubicBezTo>
                  <a:pt x="51274" y="160753"/>
                  <a:pt x="35892" y="171007"/>
                  <a:pt x="27346" y="186389"/>
                </a:cubicBezTo>
                <a:cubicBezTo>
                  <a:pt x="18800" y="201772"/>
                  <a:pt x="17091" y="220572"/>
                  <a:pt x="25637" y="237663"/>
                </a:cubicBezTo>
                <a:cubicBezTo>
                  <a:pt x="30764" y="247918"/>
                  <a:pt x="35892" y="258173"/>
                  <a:pt x="42728" y="268427"/>
                </a:cubicBezTo>
                <a:lnTo>
                  <a:pt x="0" y="382939"/>
                </a:lnTo>
                <a:cubicBezTo>
                  <a:pt x="0" y="384648"/>
                  <a:pt x="0" y="388066"/>
                  <a:pt x="1709" y="391484"/>
                </a:cubicBezTo>
                <a:close/>
                <a:moveTo>
                  <a:pt x="321315" y="71878"/>
                </a:moveTo>
                <a:cubicBezTo>
                  <a:pt x="365753" y="116315"/>
                  <a:pt x="379426" y="148789"/>
                  <a:pt x="376008" y="153916"/>
                </a:cubicBezTo>
                <a:cubicBezTo>
                  <a:pt x="372589" y="155625"/>
                  <a:pt x="367462" y="153916"/>
                  <a:pt x="358916" y="148789"/>
                </a:cubicBezTo>
                <a:cubicBezTo>
                  <a:pt x="358916" y="148789"/>
                  <a:pt x="358916" y="148789"/>
                  <a:pt x="357207" y="148789"/>
                </a:cubicBezTo>
                <a:cubicBezTo>
                  <a:pt x="353789" y="147080"/>
                  <a:pt x="352080" y="145370"/>
                  <a:pt x="348661" y="143661"/>
                </a:cubicBezTo>
                <a:cubicBezTo>
                  <a:pt x="346952" y="143661"/>
                  <a:pt x="346952" y="141952"/>
                  <a:pt x="345244" y="141952"/>
                </a:cubicBezTo>
                <a:cubicBezTo>
                  <a:pt x="341825" y="140243"/>
                  <a:pt x="340116" y="138534"/>
                  <a:pt x="336698" y="136825"/>
                </a:cubicBezTo>
                <a:cubicBezTo>
                  <a:pt x="334989" y="135116"/>
                  <a:pt x="333279" y="135116"/>
                  <a:pt x="331570" y="133407"/>
                </a:cubicBezTo>
                <a:cubicBezTo>
                  <a:pt x="328152" y="131697"/>
                  <a:pt x="326443" y="129988"/>
                  <a:pt x="323025" y="126570"/>
                </a:cubicBezTo>
                <a:cubicBezTo>
                  <a:pt x="321315" y="124861"/>
                  <a:pt x="317897" y="121443"/>
                  <a:pt x="314479" y="119734"/>
                </a:cubicBezTo>
                <a:cubicBezTo>
                  <a:pt x="312770" y="118024"/>
                  <a:pt x="309352" y="116315"/>
                  <a:pt x="307643" y="114606"/>
                </a:cubicBezTo>
                <a:cubicBezTo>
                  <a:pt x="302515" y="109479"/>
                  <a:pt x="297388" y="104352"/>
                  <a:pt x="292261" y="99224"/>
                </a:cubicBezTo>
                <a:cubicBezTo>
                  <a:pt x="287133" y="94097"/>
                  <a:pt x="282006" y="87260"/>
                  <a:pt x="276879" y="82133"/>
                </a:cubicBezTo>
                <a:cubicBezTo>
                  <a:pt x="244405" y="46241"/>
                  <a:pt x="235859" y="20604"/>
                  <a:pt x="237568" y="15477"/>
                </a:cubicBezTo>
                <a:cubicBezTo>
                  <a:pt x="237568" y="15477"/>
                  <a:pt x="239278" y="15477"/>
                  <a:pt x="239278" y="15477"/>
                </a:cubicBezTo>
                <a:cubicBezTo>
                  <a:pt x="249532" y="17186"/>
                  <a:pt x="278587" y="30859"/>
                  <a:pt x="321315" y="71878"/>
                </a:cubicBezTo>
                <a:close/>
                <a:moveTo>
                  <a:pt x="223896" y="35987"/>
                </a:moveTo>
                <a:cubicBezTo>
                  <a:pt x="223896" y="35987"/>
                  <a:pt x="223896" y="35987"/>
                  <a:pt x="223896" y="35987"/>
                </a:cubicBezTo>
                <a:cubicBezTo>
                  <a:pt x="223896" y="37696"/>
                  <a:pt x="225605" y="39405"/>
                  <a:pt x="225605" y="41114"/>
                </a:cubicBezTo>
                <a:cubicBezTo>
                  <a:pt x="225605" y="42823"/>
                  <a:pt x="227313" y="42823"/>
                  <a:pt x="227313" y="44532"/>
                </a:cubicBezTo>
                <a:cubicBezTo>
                  <a:pt x="229023" y="47950"/>
                  <a:pt x="230732" y="49659"/>
                  <a:pt x="232441" y="53078"/>
                </a:cubicBezTo>
                <a:cubicBezTo>
                  <a:pt x="242696" y="71878"/>
                  <a:pt x="259787" y="92388"/>
                  <a:pt x="280296" y="114606"/>
                </a:cubicBezTo>
                <a:cubicBezTo>
                  <a:pt x="287133" y="121443"/>
                  <a:pt x="293970" y="128279"/>
                  <a:pt x="302515" y="135116"/>
                </a:cubicBezTo>
                <a:cubicBezTo>
                  <a:pt x="302515" y="135116"/>
                  <a:pt x="302515" y="135116"/>
                  <a:pt x="302515" y="135116"/>
                </a:cubicBezTo>
                <a:cubicBezTo>
                  <a:pt x="305933" y="138534"/>
                  <a:pt x="309352" y="141952"/>
                  <a:pt x="312770" y="143661"/>
                </a:cubicBezTo>
                <a:cubicBezTo>
                  <a:pt x="314479" y="145370"/>
                  <a:pt x="314479" y="145370"/>
                  <a:pt x="316188" y="147080"/>
                </a:cubicBezTo>
                <a:cubicBezTo>
                  <a:pt x="317897" y="148789"/>
                  <a:pt x="321315" y="150498"/>
                  <a:pt x="323025" y="152207"/>
                </a:cubicBezTo>
                <a:cubicBezTo>
                  <a:pt x="324734" y="153916"/>
                  <a:pt x="326443" y="155625"/>
                  <a:pt x="328152" y="155625"/>
                </a:cubicBezTo>
                <a:cubicBezTo>
                  <a:pt x="329861" y="157334"/>
                  <a:pt x="329861" y="157334"/>
                  <a:pt x="331570" y="157334"/>
                </a:cubicBezTo>
                <a:cubicBezTo>
                  <a:pt x="340116" y="162462"/>
                  <a:pt x="348661" y="167589"/>
                  <a:pt x="355498" y="171007"/>
                </a:cubicBezTo>
                <a:cubicBezTo>
                  <a:pt x="355498" y="171007"/>
                  <a:pt x="355498" y="171007"/>
                  <a:pt x="357207" y="171007"/>
                </a:cubicBezTo>
                <a:cubicBezTo>
                  <a:pt x="343534" y="179553"/>
                  <a:pt x="326443" y="182971"/>
                  <a:pt x="311061" y="181262"/>
                </a:cubicBezTo>
                <a:cubicBezTo>
                  <a:pt x="305933" y="181262"/>
                  <a:pt x="302515" y="179553"/>
                  <a:pt x="297388" y="177844"/>
                </a:cubicBezTo>
                <a:cubicBezTo>
                  <a:pt x="295678" y="177844"/>
                  <a:pt x="292261" y="176135"/>
                  <a:pt x="290551" y="174426"/>
                </a:cubicBezTo>
                <a:cubicBezTo>
                  <a:pt x="287133" y="172717"/>
                  <a:pt x="285424" y="172717"/>
                  <a:pt x="282006" y="171007"/>
                </a:cubicBezTo>
                <a:cubicBezTo>
                  <a:pt x="280296" y="169298"/>
                  <a:pt x="276879" y="169298"/>
                  <a:pt x="275169" y="167589"/>
                </a:cubicBezTo>
                <a:cubicBezTo>
                  <a:pt x="271751" y="165880"/>
                  <a:pt x="268333" y="164171"/>
                  <a:pt x="264914" y="160753"/>
                </a:cubicBezTo>
                <a:cubicBezTo>
                  <a:pt x="263205" y="159044"/>
                  <a:pt x="261496" y="159044"/>
                  <a:pt x="259787" y="157334"/>
                </a:cubicBezTo>
                <a:cubicBezTo>
                  <a:pt x="254660" y="153916"/>
                  <a:pt x="249532" y="150498"/>
                  <a:pt x="246114" y="145370"/>
                </a:cubicBezTo>
                <a:cubicBezTo>
                  <a:pt x="242696" y="141952"/>
                  <a:pt x="239278" y="136825"/>
                  <a:pt x="235859" y="133407"/>
                </a:cubicBezTo>
                <a:cubicBezTo>
                  <a:pt x="225605" y="121443"/>
                  <a:pt x="218768" y="107770"/>
                  <a:pt x="215350" y="92388"/>
                </a:cubicBezTo>
                <a:cubicBezTo>
                  <a:pt x="215350" y="92388"/>
                  <a:pt x="215350" y="92388"/>
                  <a:pt x="215350" y="92388"/>
                </a:cubicBezTo>
                <a:cubicBezTo>
                  <a:pt x="211931" y="71878"/>
                  <a:pt x="213641" y="53078"/>
                  <a:pt x="223896" y="35987"/>
                </a:cubicBezTo>
                <a:close/>
                <a:moveTo>
                  <a:pt x="210222" y="121443"/>
                </a:moveTo>
                <a:cubicBezTo>
                  <a:pt x="210222" y="121443"/>
                  <a:pt x="210222" y="123152"/>
                  <a:pt x="211931" y="123152"/>
                </a:cubicBezTo>
                <a:cubicBezTo>
                  <a:pt x="213641" y="126570"/>
                  <a:pt x="215350" y="129988"/>
                  <a:pt x="217059" y="133407"/>
                </a:cubicBezTo>
                <a:cubicBezTo>
                  <a:pt x="217059" y="135116"/>
                  <a:pt x="218768" y="135116"/>
                  <a:pt x="218768" y="136825"/>
                </a:cubicBezTo>
                <a:cubicBezTo>
                  <a:pt x="220477" y="140243"/>
                  <a:pt x="222186" y="141952"/>
                  <a:pt x="225605" y="145370"/>
                </a:cubicBezTo>
                <a:cubicBezTo>
                  <a:pt x="225605" y="145370"/>
                  <a:pt x="227313" y="147080"/>
                  <a:pt x="227313" y="147080"/>
                </a:cubicBezTo>
                <a:cubicBezTo>
                  <a:pt x="230732" y="150498"/>
                  <a:pt x="232441" y="153916"/>
                  <a:pt x="235859" y="157334"/>
                </a:cubicBezTo>
                <a:cubicBezTo>
                  <a:pt x="239278" y="160753"/>
                  <a:pt x="242696" y="164171"/>
                  <a:pt x="246114" y="165880"/>
                </a:cubicBezTo>
                <a:cubicBezTo>
                  <a:pt x="247823" y="165880"/>
                  <a:pt x="247823" y="167589"/>
                  <a:pt x="249532" y="167589"/>
                </a:cubicBezTo>
                <a:cubicBezTo>
                  <a:pt x="251242" y="169298"/>
                  <a:pt x="254660" y="171007"/>
                  <a:pt x="256369" y="172717"/>
                </a:cubicBezTo>
                <a:cubicBezTo>
                  <a:pt x="258078" y="172717"/>
                  <a:pt x="258078" y="174426"/>
                  <a:pt x="259787" y="174426"/>
                </a:cubicBezTo>
                <a:cubicBezTo>
                  <a:pt x="263205" y="176135"/>
                  <a:pt x="266624" y="177844"/>
                  <a:pt x="268333" y="179553"/>
                </a:cubicBezTo>
                <a:cubicBezTo>
                  <a:pt x="268333" y="179553"/>
                  <a:pt x="270042" y="179553"/>
                  <a:pt x="270042" y="181262"/>
                </a:cubicBezTo>
                <a:cubicBezTo>
                  <a:pt x="273460" y="182971"/>
                  <a:pt x="278587" y="184680"/>
                  <a:pt x="282006" y="186389"/>
                </a:cubicBezTo>
                <a:lnTo>
                  <a:pt x="244405" y="223990"/>
                </a:lnTo>
                <a:lnTo>
                  <a:pt x="208513" y="259882"/>
                </a:lnTo>
                <a:cubicBezTo>
                  <a:pt x="193131" y="254754"/>
                  <a:pt x="177749" y="244500"/>
                  <a:pt x="162367" y="229117"/>
                </a:cubicBezTo>
                <a:cubicBezTo>
                  <a:pt x="146985" y="213735"/>
                  <a:pt x="138439" y="200062"/>
                  <a:pt x="133312" y="188099"/>
                </a:cubicBezTo>
                <a:cubicBezTo>
                  <a:pt x="133312" y="186389"/>
                  <a:pt x="131603" y="184680"/>
                  <a:pt x="131603" y="182971"/>
                </a:cubicBezTo>
                <a:lnTo>
                  <a:pt x="205095" y="109479"/>
                </a:lnTo>
                <a:cubicBezTo>
                  <a:pt x="206804" y="114606"/>
                  <a:pt x="208513" y="118024"/>
                  <a:pt x="210222" y="121443"/>
                </a:cubicBezTo>
                <a:close/>
                <a:moveTo>
                  <a:pt x="42728" y="194935"/>
                </a:moveTo>
                <a:cubicBezTo>
                  <a:pt x="49565" y="184680"/>
                  <a:pt x="59819" y="177844"/>
                  <a:pt x="71783" y="176135"/>
                </a:cubicBezTo>
                <a:cubicBezTo>
                  <a:pt x="75201" y="176135"/>
                  <a:pt x="76911" y="176135"/>
                  <a:pt x="80329" y="176135"/>
                </a:cubicBezTo>
                <a:cubicBezTo>
                  <a:pt x="90583" y="176135"/>
                  <a:pt x="100838" y="177844"/>
                  <a:pt x="112802" y="181262"/>
                </a:cubicBezTo>
                <a:cubicBezTo>
                  <a:pt x="112802" y="182971"/>
                  <a:pt x="112802" y="182971"/>
                  <a:pt x="112802" y="184680"/>
                </a:cubicBezTo>
                <a:cubicBezTo>
                  <a:pt x="117930" y="203481"/>
                  <a:pt x="129894" y="222281"/>
                  <a:pt x="150403" y="244500"/>
                </a:cubicBezTo>
                <a:cubicBezTo>
                  <a:pt x="169203" y="263300"/>
                  <a:pt x="189713" y="276973"/>
                  <a:pt x="208513" y="282100"/>
                </a:cubicBezTo>
                <a:cubicBezTo>
                  <a:pt x="208513" y="282100"/>
                  <a:pt x="210222" y="282100"/>
                  <a:pt x="210222" y="282100"/>
                </a:cubicBezTo>
                <a:cubicBezTo>
                  <a:pt x="210222" y="282100"/>
                  <a:pt x="210222" y="282100"/>
                  <a:pt x="210222" y="282100"/>
                </a:cubicBezTo>
                <a:cubicBezTo>
                  <a:pt x="210222" y="282100"/>
                  <a:pt x="210222" y="282100"/>
                  <a:pt x="210222" y="282100"/>
                </a:cubicBezTo>
                <a:cubicBezTo>
                  <a:pt x="215350" y="295773"/>
                  <a:pt x="217059" y="309447"/>
                  <a:pt x="215350" y="323119"/>
                </a:cubicBezTo>
                <a:cubicBezTo>
                  <a:pt x="213641" y="335083"/>
                  <a:pt x="206804" y="347047"/>
                  <a:pt x="196549" y="352175"/>
                </a:cubicBezTo>
                <a:cubicBezTo>
                  <a:pt x="186295" y="359011"/>
                  <a:pt x="172622" y="359011"/>
                  <a:pt x="160658" y="353884"/>
                </a:cubicBezTo>
                <a:cubicBezTo>
                  <a:pt x="150403" y="348756"/>
                  <a:pt x="140148" y="343629"/>
                  <a:pt x="129894" y="335083"/>
                </a:cubicBezTo>
                <a:cubicBezTo>
                  <a:pt x="129894" y="335083"/>
                  <a:pt x="129894" y="335083"/>
                  <a:pt x="129894" y="335083"/>
                </a:cubicBezTo>
                <a:cubicBezTo>
                  <a:pt x="123057" y="329956"/>
                  <a:pt x="116220" y="324829"/>
                  <a:pt x="109384" y="319701"/>
                </a:cubicBezTo>
                <a:cubicBezTo>
                  <a:pt x="109384" y="319701"/>
                  <a:pt x="109384" y="319701"/>
                  <a:pt x="109384" y="319701"/>
                </a:cubicBezTo>
                <a:cubicBezTo>
                  <a:pt x="102548" y="314574"/>
                  <a:pt x="95711" y="307737"/>
                  <a:pt x="90583" y="302610"/>
                </a:cubicBezTo>
                <a:cubicBezTo>
                  <a:pt x="83747" y="295773"/>
                  <a:pt x="78620" y="290646"/>
                  <a:pt x="73492" y="283810"/>
                </a:cubicBezTo>
                <a:cubicBezTo>
                  <a:pt x="73492" y="283810"/>
                  <a:pt x="73492" y="283810"/>
                  <a:pt x="73492" y="283810"/>
                </a:cubicBezTo>
                <a:cubicBezTo>
                  <a:pt x="68365" y="276973"/>
                  <a:pt x="63238" y="270137"/>
                  <a:pt x="58110" y="265009"/>
                </a:cubicBezTo>
                <a:cubicBezTo>
                  <a:pt x="49565" y="254754"/>
                  <a:pt x="44437" y="242791"/>
                  <a:pt x="39310" y="232536"/>
                </a:cubicBezTo>
                <a:cubicBezTo>
                  <a:pt x="35892" y="217154"/>
                  <a:pt x="35892" y="205190"/>
                  <a:pt x="42728" y="194935"/>
                </a:cubicBezTo>
                <a:close/>
                <a:moveTo>
                  <a:pt x="54692" y="283810"/>
                </a:moveTo>
                <a:cubicBezTo>
                  <a:pt x="56401" y="285519"/>
                  <a:pt x="58110" y="287228"/>
                  <a:pt x="58110" y="288937"/>
                </a:cubicBezTo>
                <a:cubicBezTo>
                  <a:pt x="59819" y="290646"/>
                  <a:pt x="61529" y="294064"/>
                  <a:pt x="64947" y="295773"/>
                </a:cubicBezTo>
                <a:cubicBezTo>
                  <a:pt x="70074" y="300901"/>
                  <a:pt x="75201" y="306028"/>
                  <a:pt x="80329" y="312865"/>
                </a:cubicBezTo>
                <a:cubicBezTo>
                  <a:pt x="85456" y="317992"/>
                  <a:pt x="90583" y="323119"/>
                  <a:pt x="97420" y="328247"/>
                </a:cubicBezTo>
                <a:cubicBezTo>
                  <a:pt x="100838" y="329956"/>
                  <a:pt x="102548" y="333374"/>
                  <a:pt x="105966" y="335083"/>
                </a:cubicBezTo>
                <a:cubicBezTo>
                  <a:pt x="107675" y="336792"/>
                  <a:pt x="109384" y="338502"/>
                  <a:pt x="111093" y="338502"/>
                </a:cubicBezTo>
                <a:lnTo>
                  <a:pt x="25637" y="370975"/>
                </a:lnTo>
                <a:lnTo>
                  <a:pt x="54692" y="283810"/>
                </a:lnTo>
                <a:close/>
              </a:path>
            </a:pathLst>
          </a:custGeom>
          <a:solidFill>
            <a:schemeClr val="accent1"/>
          </a:solidFill>
          <a:ln w="17082" cap="flat">
            <a:noFill/>
            <a:prstDash val="solid"/>
            <a:miter/>
          </a:ln>
        </p:spPr>
        <p:txBody>
          <a:bodyPr rtlCol="0" anchor="ctr"/>
          <a:lstStyle/>
          <a:p>
            <a:endParaRPr lang="en-ID">
              <a:cs typeface="+mn-ea"/>
              <a:sym typeface="+mn-lt"/>
            </a:endParaRPr>
          </a:p>
        </p:txBody>
      </p:sp>
      <p:cxnSp>
        <p:nvCxnSpPr>
          <p:cNvPr id="14" name="Straight Connector 24"/>
          <p:cNvCxnSpPr/>
          <p:nvPr/>
        </p:nvCxnSpPr>
        <p:spPr>
          <a:xfrm>
            <a:off x="4790229" y="2155530"/>
            <a:ext cx="0" cy="161125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5147438" y="2632054"/>
            <a:ext cx="2089698" cy="113473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抗凝与消融规范化改善了预后，但术后复发率仍不容忽视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591345" y="2155530"/>
            <a:ext cx="1456202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节律控制有限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7283458" y="2632054"/>
            <a:ext cx="2089698" cy="113473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单纯消除肺静脉触发灶，不足以逆转已形成的心房基质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727365" y="2155530"/>
            <a:ext cx="1456202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心房基质已成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Text Box 10"/>
          <p:cNvSpPr txBox="1">
            <a:spLocks noChangeArrowheads="1"/>
          </p:cNvSpPr>
          <p:nvPr/>
        </p:nvSpPr>
        <p:spPr bwMode="auto">
          <a:xfrm>
            <a:off x="9444377" y="2632054"/>
            <a:ext cx="2089698" cy="113473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缺血性卒中与心力衰竭，是房颤致残致死的两条主路径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88284" y="2155530"/>
            <a:ext cx="1456202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并发症负担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791738" y="4483991"/>
            <a:ext cx="10638262" cy="14117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rPr>
              <a:t>正是这一临床落差，推动了疾病概念本身的更新：房颤不再被视为孤立的心电学故障，而被理解为心房心肌病的临床表现。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3" name="Footer Text"/>
          <p:cNvSpPr txBox="1"/>
          <p:nvPr/>
        </p:nvSpPr>
        <p:spPr>
          <a:xfrm>
            <a:off x="1343247" y="710205"/>
            <a:ext cx="32956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cs typeface="+mn-ea"/>
                <a:sym typeface="+mn-lt"/>
              </a:rPr>
              <a:t>房颤为什么难治</a:t>
            </a:r>
            <a:endParaRPr lang="zh-CN" altLang="en-US" sz="2800" dirty="0">
              <a:cs typeface="+mn-ea"/>
              <a:sym typeface="+mn-lt"/>
            </a:endParaRPr>
          </a:p>
        </p:txBody>
      </p:sp>
      <p:pic>
        <p:nvPicPr>
          <p:cNvPr id="30" name="图片 29" descr="caef76094b36acaf4fbac5a272e12c1600e99c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880" y="381635"/>
            <a:ext cx="792480" cy="1586230"/>
          </a:xfrm>
          <a:prstGeom prst="rect">
            <a:avLst/>
          </a:prstGeom>
        </p:spPr>
      </p:pic>
      <p:pic>
        <p:nvPicPr>
          <p:cNvPr id="24" name="图片 23" descr="005Rm9jOly4grelek7dmbj30u00u0k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95325" y="601345"/>
            <a:ext cx="647700" cy="647700"/>
          </a:xfrm>
          <a:prstGeom prst="rect">
            <a:avLst/>
          </a:prstGeom>
        </p:spPr>
      </p:pic>
      <p:pic>
        <p:nvPicPr>
          <p:cNvPr id="2" name="图片 1" descr="吴衍锋 翔安图书馆学习14"/>
          <p:cNvPicPr>
            <a:picLocks noChangeAspect="1"/>
          </p:cNvPicPr>
          <p:nvPr/>
        </p:nvPicPr>
        <p:blipFill>
          <a:blip r:embed="rId3"/>
          <a:srcRect t="10856" b="3530"/>
          <a:stretch>
            <a:fillRect/>
          </a:stretch>
        </p:blipFill>
        <p:spPr>
          <a:xfrm>
            <a:off x="649605" y="1838325"/>
            <a:ext cx="3938905" cy="2248535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</p:sld>
</file>

<file path=ppt/slides/slide22.xml><?xml version="1.0" encoding="utf-8"?>
<p:sld xmlns:a="http://schemas.openxmlformats.org/drawingml/2006/main" xmlns:ns3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 userDrawn="1"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1379690" y="2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1859995" y="797633"/>
            <a:ext cx="216293" cy="1527440"/>
            <a:chOff x="11349438" y="764179"/>
            <a:chExt cx="216293" cy="1527440"/>
          </a:xfrm>
        </p:grpSpPr>
        <p:sp>
          <p:nvSpPr>
            <p:cNvPr id="9" name="等腰三角形 8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3" name="任意多边形: 形状 42"/>
          <p:cNvSpPr/>
          <p:nvPr userDrawn="1"/>
        </p:nvSpPr>
        <p:spPr>
          <a:xfrm rot="10800000">
            <a:off x="1" y="6209613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/>
        </p:nvGrpSpPr>
        <p:grpSpPr>
          <a:xfrm rot="10800000">
            <a:off x="110007" y="4544081"/>
            <a:ext cx="216293" cy="1527440"/>
            <a:chOff x="11349438" y="764179"/>
            <a:chExt cx="216293" cy="1527440"/>
          </a:xfrm>
        </p:grpSpPr>
        <p:sp>
          <p:nvSpPr>
            <p:cNvPr id="45" name="等腰三角形 44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等腰三角形 45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等腰三角形 47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30" name="图片 29" descr="caef76094b36acaf4fbac5a272e12c1600e99c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880" y="381635"/>
            <a:ext cx="792480" cy="1586230"/>
          </a:xfrm>
          <a:prstGeom prst="rect">
            <a:avLst/>
          </a:prstGeom>
        </p:spPr>
      </p:pic>
      <p:sp>
        <p:nvSpPr>
          <p:cNvPr id="2" name="Rectangle 20"/>
          <p:cNvSpPr/>
          <p:nvPr/>
        </p:nvSpPr>
        <p:spPr>
          <a:xfrm>
            <a:off x="1469923" y="2159360"/>
            <a:ext cx="9252154" cy="2188029"/>
          </a:xfrm>
          <a:prstGeom prst="rect">
            <a:avLst/>
          </a:prstGeom>
          <a:solidFill>
            <a:srgbClr val="BAE2FF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d-ID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d-ID">
              <a:cs typeface="+mn-ea"/>
              <a:sym typeface="+mn-lt"/>
            </a:endParaRPr>
          </a:p>
        </p:txBody>
      </p:sp>
      <p:grpSp>
        <p:nvGrpSpPr>
          <p:cNvPr id="3" name="Group 26"/>
          <p:cNvGrpSpPr/>
          <p:nvPr/>
        </p:nvGrpSpPr>
        <p:grpSpPr>
          <a:xfrm>
            <a:off x="5878728" y="2380712"/>
            <a:ext cx="464040" cy="464812"/>
            <a:chOff x="7827963" y="8048626"/>
            <a:chExt cx="1905000" cy="1908175"/>
          </a:xfrm>
          <a:solidFill>
            <a:schemeClr val="accent1"/>
          </a:solidFill>
        </p:grpSpPr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7827963" y="8048626"/>
              <a:ext cx="1905000" cy="1908175"/>
            </a:xfrm>
            <a:custGeom>
              <a:avLst/>
              <a:gdLst>
                <a:gd name="T0" fmla="*/ 1509 w 1566"/>
                <a:gd name="T1" fmla="*/ 711 h 1566"/>
                <a:gd name="T2" fmla="*/ 1566 w 1566"/>
                <a:gd name="T3" fmla="*/ 653 h 1566"/>
                <a:gd name="T4" fmla="*/ 1566 w 1566"/>
                <a:gd name="T5" fmla="*/ 264 h 1566"/>
                <a:gd name="T6" fmla="*/ 1302 w 1566"/>
                <a:gd name="T7" fmla="*/ 0 h 1566"/>
                <a:gd name="T8" fmla="*/ 264 w 1566"/>
                <a:gd name="T9" fmla="*/ 0 h 1566"/>
                <a:gd name="T10" fmla="*/ 0 w 1566"/>
                <a:gd name="T11" fmla="*/ 264 h 1566"/>
                <a:gd name="T12" fmla="*/ 0 w 1566"/>
                <a:gd name="T13" fmla="*/ 1302 h 1566"/>
                <a:gd name="T14" fmla="*/ 264 w 1566"/>
                <a:gd name="T15" fmla="*/ 1566 h 1566"/>
                <a:gd name="T16" fmla="*/ 1302 w 1566"/>
                <a:gd name="T17" fmla="*/ 1566 h 1566"/>
                <a:gd name="T18" fmla="*/ 1566 w 1566"/>
                <a:gd name="T19" fmla="*/ 1302 h 1566"/>
                <a:gd name="T20" fmla="*/ 1566 w 1566"/>
                <a:gd name="T21" fmla="*/ 1035 h 1566"/>
                <a:gd name="T22" fmla="*/ 1549 w 1566"/>
                <a:gd name="T23" fmla="*/ 993 h 1566"/>
                <a:gd name="T24" fmla="*/ 1174 w 1566"/>
                <a:gd name="T25" fmla="*/ 619 h 1566"/>
                <a:gd name="T26" fmla="*/ 1133 w 1566"/>
                <a:gd name="T27" fmla="*/ 602 h 1566"/>
                <a:gd name="T28" fmla="*/ 1093 w 1566"/>
                <a:gd name="T29" fmla="*/ 619 h 1566"/>
                <a:gd name="T30" fmla="*/ 664 w 1566"/>
                <a:gd name="T31" fmla="*/ 1047 h 1566"/>
                <a:gd name="T32" fmla="*/ 433 w 1566"/>
                <a:gd name="T33" fmla="*/ 816 h 1566"/>
                <a:gd name="T34" fmla="*/ 351 w 1566"/>
                <a:gd name="T35" fmla="*/ 816 h 1566"/>
                <a:gd name="T36" fmla="*/ 116 w 1566"/>
                <a:gd name="T37" fmla="*/ 1052 h 1566"/>
                <a:gd name="T38" fmla="*/ 116 w 1566"/>
                <a:gd name="T39" fmla="*/ 264 h 1566"/>
                <a:gd name="T40" fmla="*/ 265 w 1566"/>
                <a:gd name="T41" fmla="*/ 115 h 1566"/>
                <a:gd name="T42" fmla="*/ 1302 w 1566"/>
                <a:gd name="T43" fmla="*/ 115 h 1566"/>
                <a:gd name="T44" fmla="*/ 1451 w 1566"/>
                <a:gd name="T45" fmla="*/ 264 h 1566"/>
                <a:gd name="T46" fmla="*/ 1451 w 1566"/>
                <a:gd name="T47" fmla="*/ 653 h 1566"/>
                <a:gd name="T48" fmla="*/ 1509 w 1566"/>
                <a:gd name="T49" fmla="*/ 711 h 1566"/>
                <a:gd name="T50" fmla="*/ 392 w 1566"/>
                <a:gd name="T51" fmla="*/ 938 h 1566"/>
                <a:gd name="T52" fmla="*/ 623 w 1566"/>
                <a:gd name="T53" fmla="*/ 1169 h 1566"/>
                <a:gd name="T54" fmla="*/ 664 w 1566"/>
                <a:gd name="T55" fmla="*/ 1186 h 1566"/>
                <a:gd name="T56" fmla="*/ 704 w 1566"/>
                <a:gd name="T57" fmla="*/ 1169 h 1566"/>
                <a:gd name="T58" fmla="*/ 1133 w 1566"/>
                <a:gd name="T59" fmla="*/ 740 h 1566"/>
                <a:gd name="T60" fmla="*/ 1451 w 1566"/>
                <a:gd name="T61" fmla="*/ 1058 h 1566"/>
                <a:gd name="T62" fmla="*/ 1451 w 1566"/>
                <a:gd name="T63" fmla="*/ 1302 h 1566"/>
                <a:gd name="T64" fmla="*/ 1301 w 1566"/>
                <a:gd name="T65" fmla="*/ 1451 h 1566"/>
                <a:gd name="T66" fmla="*/ 264 w 1566"/>
                <a:gd name="T67" fmla="*/ 1451 h 1566"/>
                <a:gd name="T68" fmla="*/ 115 w 1566"/>
                <a:gd name="T69" fmla="*/ 1302 h 1566"/>
                <a:gd name="T70" fmla="*/ 115 w 1566"/>
                <a:gd name="T71" fmla="*/ 1215 h 1566"/>
                <a:gd name="T72" fmla="*/ 392 w 1566"/>
                <a:gd name="T73" fmla="*/ 938 h 1566"/>
                <a:gd name="T74" fmla="*/ 392 w 1566"/>
                <a:gd name="T75" fmla="*/ 938 h 1566"/>
                <a:gd name="T76" fmla="*/ 392 w 1566"/>
                <a:gd name="T77" fmla="*/ 938 h 1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66" h="1566">
                  <a:moveTo>
                    <a:pt x="1509" y="711"/>
                  </a:moveTo>
                  <a:cubicBezTo>
                    <a:pt x="1541" y="711"/>
                    <a:pt x="1566" y="685"/>
                    <a:pt x="1566" y="653"/>
                  </a:cubicBezTo>
                  <a:cubicBezTo>
                    <a:pt x="1566" y="264"/>
                    <a:pt x="1566" y="264"/>
                    <a:pt x="1566" y="264"/>
                  </a:cubicBezTo>
                  <a:cubicBezTo>
                    <a:pt x="1566" y="118"/>
                    <a:pt x="1448" y="0"/>
                    <a:pt x="1302" y="0"/>
                  </a:cubicBezTo>
                  <a:cubicBezTo>
                    <a:pt x="264" y="0"/>
                    <a:pt x="264" y="0"/>
                    <a:pt x="264" y="0"/>
                  </a:cubicBezTo>
                  <a:cubicBezTo>
                    <a:pt x="119" y="0"/>
                    <a:pt x="0" y="118"/>
                    <a:pt x="0" y="264"/>
                  </a:cubicBezTo>
                  <a:cubicBezTo>
                    <a:pt x="0" y="1302"/>
                    <a:pt x="0" y="1302"/>
                    <a:pt x="0" y="1302"/>
                  </a:cubicBezTo>
                  <a:cubicBezTo>
                    <a:pt x="0" y="1448"/>
                    <a:pt x="119" y="1566"/>
                    <a:pt x="264" y="1566"/>
                  </a:cubicBezTo>
                  <a:cubicBezTo>
                    <a:pt x="1302" y="1566"/>
                    <a:pt x="1302" y="1566"/>
                    <a:pt x="1302" y="1566"/>
                  </a:cubicBezTo>
                  <a:cubicBezTo>
                    <a:pt x="1447" y="1566"/>
                    <a:pt x="1566" y="1448"/>
                    <a:pt x="1566" y="1302"/>
                  </a:cubicBezTo>
                  <a:cubicBezTo>
                    <a:pt x="1566" y="1035"/>
                    <a:pt x="1566" y="1035"/>
                    <a:pt x="1566" y="1035"/>
                  </a:cubicBezTo>
                  <a:cubicBezTo>
                    <a:pt x="1566" y="1020"/>
                    <a:pt x="1561" y="1005"/>
                    <a:pt x="1549" y="993"/>
                  </a:cubicBezTo>
                  <a:cubicBezTo>
                    <a:pt x="1174" y="619"/>
                    <a:pt x="1174" y="619"/>
                    <a:pt x="1174" y="619"/>
                  </a:cubicBezTo>
                  <a:cubicBezTo>
                    <a:pt x="1163" y="608"/>
                    <a:pt x="1149" y="602"/>
                    <a:pt x="1133" y="602"/>
                  </a:cubicBezTo>
                  <a:cubicBezTo>
                    <a:pt x="1118" y="602"/>
                    <a:pt x="1103" y="608"/>
                    <a:pt x="1093" y="619"/>
                  </a:cubicBezTo>
                  <a:cubicBezTo>
                    <a:pt x="664" y="1047"/>
                    <a:pt x="664" y="1047"/>
                    <a:pt x="664" y="1047"/>
                  </a:cubicBezTo>
                  <a:cubicBezTo>
                    <a:pt x="433" y="816"/>
                    <a:pt x="433" y="816"/>
                    <a:pt x="433" y="816"/>
                  </a:cubicBezTo>
                  <a:cubicBezTo>
                    <a:pt x="411" y="794"/>
                    <a:pt x="374" y="794"/>
                    <a:pt x="351" y="816"/>
                  </a:cubicBezTo>
                  <a:cubicBezTo>
                    <a:pt x="116" y="1052"/>
                    <a:pt x="116" y="1052"/>
                    <a:pt x="116" y="1052"/>
                  </a:cubicBezTo>
                  <a:cubicBezTo>
                    <a:pt x="116" y="264"/>
                    <a:pt x="116" y="264"/>
                    <a:pt x="116" y="264"/>
                  </a:cubicBezTo>
                  <a:cubicBezTo>
                    <a:pt x="116" y="182"/>
                    <a:pt x="182" y="115"/>
                    <a:pt x="265" y="115"/>
                  </a:cubicBezTo>
                  <a:cubicBezTo>
                    <a:pt x="1302" y="115"/>
                    <a:pt x="1302" y="115"/>
                    <a:pt x="1302" y="115"/>
                  </a:cubicBezTo>
                  <a:cubicBezTo>
                    <a:pt x="1384" y="115"/>
                    <a:pt x="1451" y="182"/>
                    <a:pt x="1451" y="264"/>
                  </a:cubicBezTo>
                  <a:cubicBezTo>
                    <a:pt x="1451" y="653"/>
                    <a:pt x="1451" y="653"/>
                    <a:pt x="1451" y="653"/>
                  </a:cubicBezTo>
                  <a:cubicBezTo>
                    <a:pt x="1451" y="685"/>
                    <a:pt x="1477" y="711"/>
                    <a:pt x="1509" y="711"/>
                  </a:cubicBezTo>
                  <a:close/>
                  <a:moveTo>
                    <a:pt x="392" y="938"/>
                  </a:moveTo>
                  <a:cubicBezTo>
                    <a:pt x="623" y="1169"/>
                    <a:pt x="623" y="1169"/>
                    <a:pt x="623" y="1169"/>
                  </a:cubicBezTo>
                  <a:cubicBezTo>
                    <a:pt x="634" y="1180"/>
                    <a:pt x="649" y="1186"/>
                    <a:pt x="664" y="1186"/>
                  </a:cubicBezTo>
                  <a:cubicBezTo>
                    <a:pt x="678" y="1186"/>
                    <a:pt x="693" y="1180"/>
                    <a:pt x="704" y="1169"/>
                  </a:cubicBezTo>
                  <a:cubicBezTo>
                    <a:pt x="1133" y="740"/>
                    <a:pt x="1133" y="740"/>
                    <a:pt x="1133" y="740"/>
                  </a:cubicBezTo>
                  <a:cubicBezTo>
                    <a:pt x="1451" y="1058"/>
                    <a:pt x="1451" y="1058"/>
                    <a:pt x="1451" y="1058"/>
                  </a:cubicBezTo>
                  <a:cubicBezTo>
                    <a:pt x="1451" y="1302"/>
                    <a:pt x="1451" y="1302"/>
                    <a:pt x="1451" y="1302"/>
                  </a:cubicBezTo>
                  <a:cubicBezTo>
                    <a:pt x="1451" y="1384"/>
                    <a:pt x="1384" y="1451"/>
                    <a:pt x="1301" y="1451"/>
                  </a:cubicBezTo>
                  <a:cubicBezTo>
                    <a:pt x="264" y="1451"/>
                    <a:pt x="264" y="1451"/>
                    <a:pt x="264" y="1451"/>
                  </a:cubicBezTo>
                  <a:cubicBezTo>
                    <a:pt x="182" y="1451"/>
                    <a:pt x="115" y="1384"/>
                    <a:pt x="115" y="1302"/>
                  </a:cubicBezTo>
                  <a:cubicBezTo>
                    <a:pt x="115" y="1215"/>
                    <a:pt x="115" y="1215"/>
                    <a:pt x="115" y="1215"/>
                  </a:cubicBezTo>
                  <a:lnTo>
                    <a:pt x="392" y="938"/>
                  </a:lnTo>
                  <a:close/>
                  <a:moveTo>
                    <a:pt x="392" y="938"/>
                  </a:moveTo>
                  <a:cubicBezTo>
                    <a:pt x="392" y="938"/>
                    <a:pt x="392" y="938"/>
                    <a:pt x="392" y="93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ns3:hiddenLine w="9525">
                  <a:solidFill>
                    <a:srgbClr val="000000"/>
                  </a:solidFill>
                  <a:round/>
                </ns3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d-ID">
                <a:cs typeface="+mn-ea"/>
                <a:sym typeface="+mn-lt"/>
              </a:endParaRPr>
            </a:p>
          </p:txBody>
        </p:sp>
        <p:sp>
          <p:nvSpPr>
            <p:cNvPr id="18" name="Freeform 10"/>
            <p:cNvSpPr>
              <a:spLocks noEditPoints="1"/>
            </p:cNvSpPr>
            <p:nvPr/>
          </p:nvSpPr>
          <p:spPr bwMode="auto">
            <a:xfrm>
              <a:off x="8175625" y="8347076"/>
              <a:ext cx="515938" cy="517525"/>
            </a:xfrm>
            <a:custGeom>
              <a:avLst/>
              <a:gdLst>
                <a:gd name="T0" fmla="*/ 367 w 425"/>
                <a:gd name="T1" fmla="*/ 155 h 425"/>
                <a:gd name="T2" fmla="*/ 310 w 425"/>
                <a:gd name="T3" fmla="*/ 212 h 425"/>
                <a:gd name="T4" fmla="*/ 212 w 425"/>
                <a:gd name="T5" fmla="*/ 310 h 425"/>
                <a:gd name="T6" fmla="*/ 115 w 425"/>
                <a:gd name="T7" fmla="*/ 212 h 425"/>
                <a:gd name="T8" fmla="*/ 212 w 425"/>
                <a:gd name="T9" fmla="*/ 115 h 425"/>
                <a:gd name="T10" fmla="*/ 270 w 425"/>
                <a:gd name="T11" fmla="*/ 57 h 425"/>
                <a:gd name="T12" fmla="*/ 212 w 425"/>
                <a:gd name="T13" fmla="*/ 0 h 425"/>
                <a:gd name="T14" fmla="*/ 0 w 425"/>
                <a:gd name="T15" fmla="*/ 212 h 425"/>
                <a:gd name="T16" fmla="*/ 212 w 425"/>
                <a:gd name="T17" fmla="*/ 425 h 425"/>
                <a:gd name="T18" fmla="*/ 425 w 425"/>
                <a:gd name="T19" fmla="*/ 212 h 425"/>
                <a:gd name="T20" fmla="*/ 367 w 425"/>
                <a:gd name="T21" fmla="*/ 155 h 425"/>
                <a:gd name="T22" fmla="*/ 367 w 425"/>
                <a:gd name="T23" fmla="*/ 155 h 425"/>
                <a:gd name="T24" fmla="*/ 367 w 425"/>
                <a:gd name="T25" fmla="*/ 15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25" h="425">
                  <a:moveTo>
                    <a:pt x="367" y="155"/>
                  </a:moveTo>
                  <a:cubicBezTo>
                    <a:pt x="335" y="155"/>
                    <a:pt x="310" y="181"/>
                    <a:pt x="310" y="212"/>
                  </a:cubicBezTo>
                  <a:cubicBezTo>
                    <a:pt x="310" y="266"/>
                    <a:pt x="266" y="310"/>
                    <a:pt x="212" y="310"/>
                  </a:cubicBezTo>
                  <a:cubicBezTo>
                    <a:pt x="159" y="310"/>
                    <a:pt x="115" y="266"/>
                    <a:pt x="115" y="212"/>
                  </a:cubicBezTo>
                  <a:cubicBezTo>
                    <a:pt x="115" y="159"/>
                    <a:pt x="159" y="115"/>
                    <a:pt x="212" y="115"/>
                  </a:cubicBezTo>
                  <a:cubicBezTo>
                    <a:pt x="244" y="115"/>
                    <a:pt x="270" y="89"/>
                    <a:pt x="270" y="57"/>
                  </a:cubicBezTo>
                  <a:cubicBezTo>
                    <a:pt x="270" y="26"/>
                    <a:pt x="244" y="0"/>
                    <a:pt x="212" y="0"/>
                  </a:cubicBezTo>
                  <a:cubicBezTo>
                    <a:pt x="95" y="0"/>
                    <a:pt x="0" y="95"/>
                    <a:pt x="0" y="212"/>
                  </a:cubicBezTo>
                  <a:cubicBezTo>
                    <a:pt x="0" y="329"/>
                    <a:pt x="95" y="425"/>
                    <a:pt x="212" y="425"/>
                  </a:cubicBezTo>
                  <a:cubicBezTo>
                    <a:pt x="329" y="425"/>
                    <a:pt x="425" y="329"/>
                    <a:pt x="425" y="212"/>
                  </a:cubicBezTo>
                  <a:cubicBezTo>
                    <a:pt x="425" y="181"/>
                    <a:pt x="399" y="155"/>
                    <a:pt x="367" y="155"/>
                  </a:cubicBezTo>
                  <a:close/>
                  <a:moveTo>
                    <a:pt x="367" y="155"/>
                  </a:moveTo>
                  <a:cubicBezTo>
                    <a:pt x="367" y="155"/>
                    <a:pt x="367" y="155"/>
                    <a:pt x="367" y="15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ns3:hiddenLine w="9525">
                  <a:solidFill>
                    <a:srgbClr val="000000"/>
                  </a:solidFill>
                  <a:round/>
                </ns3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d-ID">
                <a:cs typeface="+mn-ea"/>
                <a:sym typeface="+mn-lt"/>
              </a:endParaRPr>
            </a:p>
          </p:txBody>
        </p:sp>
      </p:grpSp>
      <p:grpSp>
        <p:nvGrpSpPr>
          <p:cNvPr id="4" name="Group 32"/>
          <p:cNvGrpSpPr/>
          <p:nvPr/>
        </p:nvGrpSpPr>
        <p:grpSpPr>
          <a:xfrm>
            <a:off x="2583943" y="2366983"/>
            <a:ext cx="492656" cy="492270"/>
            <a:chOff x="5221288" y="22225"/>
            <a:chExt cx="2022475" cy="2020888"/>
          </a:xfrm>
          <a:solidFill>
            <a:schemeClr val="accent1"/>
          </a:solidFill>
        </p:grpSpPr>
        <p:sp>
          <p:nvSpPr>
            <p:cNvPr id="15" name="Freeform 61"/>
            <p:cNvSpPr>
              <a:spLocks noEditPoints="1"/>
            </p:cNvSpPr>
            <p:nvPr/>
          </p:nvSpPr>
          <p:spPr bwMode="auto">
            <a:xfrm>
              <a:off x="5614988" y="22225"/>
              <a:ext cx="1628775" cy="1622425"/>
            </a:xfrm>
            <a:custGeom>
              <a:avLst/>
              <a:gdLst>
                <a:gd name="T0" fmla="*/ 1259 w 1261"/>
                <a:gd name="T1" fmla="*/ 322 h 1255"/>
                <a:gd name="T2" fmla="*/ 1254 w 1261"/>
                <a:gd name="T3" fmla="*/ 304 h 1255"/>
                <a:gd name="T4" fmla="*/ 1238 w 1261"/>
                <a:gd name="T5" fmla="*/ 249 h 1255"/>
                <a:gd name="T6" fmla="*/ 1002 w 1261"/>
                <a:gd name="T7" fmla="*/ 18 h 1255"/>
                <a:gd name="T8" fmla="*/ 935 w 1261"/>
                <a:gd name="T9" fmla="*/ 3 h 1255"/>
                <a:gd name="T10" fmla="*/ 930 w 1261"/>
                <a:gd name="T11" fmla="*/ 3 h 1255"/>
                <a:gd name="T12" fmla="*/ 838 w 1261"/>
                <a:gd name="T13" fmla="*/ 37 h 1255"/>
                <a:gd name="T14" fmla="*/ 418 w 1261"/>
                <a:gd name="T15" fmla="*/ 458 h 1255"/>
                <a:gd name="T16" fmla="*/ 316 w 1261"/>
                <a:gd name="T17" fmla="*/ 558 h 1255"/>
                <a:gd name="T18" fmla="*/ 271 w 1261"/>
                <a:gd name="T19" fmla="*/ 604 h 1255"/>
                <a:gd name="T20" fmla="*/ 233 w 1261"/>
                <a:gd name="T21" fmla="*/ 642 h 1255"/>
                <a:gd name="T22" fmla="*/ 234 w 1261"/>
                <a:gd name="T23" fmla="*/ 724 h 1255"/>
                <a:gd name="T24" fmla="*/ 315 w 1261"/>
                <a:gd name="T25" fmla="*/ 723 h 1255"/>
                <a:gd name="T26" fmla="*/ 354 w 1261"/>
                <a:gd name="T27" fmla="*/ 684 h 1255"/>
                <a:gd name="T28" fmla="*/ 361 w 1261"/>
                <a:gd name="T29" fmla="*/ 677 h 1255"/>
                <a:gd name="T30" fmla="*/ 398 w 1261"/>
                <a:gd name="T31" fmla="*/ 640 h 1255"/>
                <a:gd name="T32" fmla="*/ 499 w 1261"/>
                <a:gd name="T33" fmla="*/ 539 h 1255"/>
                <a:gd name="T34" fmla="*/ 920 w 1261"/>
                <a:gd name="T35" fmla="*/ 118 h 1255"/>
                <a:gd name="T36" fmla="*/ 920 w 1261"/>
                <a:gd name="T37" fmla="*/ 117 h 1255"/>
                <a:gd name="T38" fmla="*/ 921 w 1261"/>
                <a:gd name="T39" fmla="*/ 117 h 1255"/>
                <a:gd name="T40" fmla="*/ 959 w 1261"/>
                <a:gd name="T41" fmla="*/ 125 h 1255"/>
                <a:gd name="T42" fmla="*/ 1133 w 1261"/>
                <a:gd name="T43" fmla="*/ 295 h 1255"/>
                <a:gd name="T44" fmla="*/ 1141 w 1261"/>
                <a:gd name="T45" fmla="*/ 328 h 1255"/>
                <a:gd name="T46" fmla="*/ 1143 w 1261"/>
                <a:gd name="T47" fmla="*/ 337 h 1255"/>
                <a:gd name="T48" fmla="*/ 1142 w 1261"/>
                <a:gd name="T49" fmla="*/ 338 h 1255"/>
                <a:gd name="T50" fmla="*/ 409 w 1261"/>
                <a:gd name="T51" fmla="*/ 1071 h 1255"/>
                <a:gd name="T52" fmla="*/ 405 w 1261"/>
                <a:gd name="T53" fmla="*/ 1073 h 1255"/>
                <a:gd name="T54" fmla="*/ 141 w 1261"/>
                <a:gd name="T55" fmla="*/ 1129 h 1255"/>
                <a:gd name="T56" fmla="*/ 127 w 1261"/>
                <a:gd name="T57" fmla="*/ 1132 h 1255"/>
                <a:gd name="T58" fmla="*/ 130 w 1261"/>
                <a:gd name="T59" fmla="*/ 1120 h 1255"/>
                <a:gd name="T60" fmla="*/ 187 w 1261"/>
                <a:gd name="T61" fmla="*/ 852 h 1255"/>
                <a:gd name="T62" fmla="*/ 143 w 1261"/>
                <a:gd name="T63" fmla="*/ 783 h 1255"/>
                <a:gd name="T64" fmla="*/ 75 w 1261"/>
                <a:gd name="T65" fmla="*/ 827 h 1255"/>
                <a:gd name="T66" fmla="*/ 17 w 1261"/>
                <a:gd name="T67" fmla="*/ 1096 h 1255"/>
                <a:gd name="T68" fmla="*/ 7 w 1261"/>
                <a:gd name="T69" fmla="*/ 1146 h 1255"/>
                <a:gd name="T70" fmla="*/ 30 w 1261"/>
                <a:gd name="T71" fmla="*/ 1229 h 1255"/>
                <a:gd name="T72" fmla="*/ 93 w 1261"/>
                <a:gd name="T73" fmla="*/ 1255 h 1255"/>
                <a:gd name="T74" fmla="*/ 113 w 1261"/>
                <a:gd name="T75" fmla="*/ 1252 h 1255"/>
                <a:gd name="T76" fmla="*/ 165 w 1261"/>
                <a:gd name="T77" fmla="*/ 1242 h 1255"/>
                <a:gd name="T78" fmla="*/ 429 w 1261"/>
                <a:gd name="T79" fmla="*/ 1186 h 1255"/>
                <a:gd name="T80" fmla="*/ 491 w 1261"/>
                <a:gd name="T81" fmla="*/ 1153 h 1255"/>
                <a:gd name="T82" fmla="*/ 1224 w 1261"/>
                <a:gd name="T83" fmla="*/ 419 h 1255"/>
                <a:gd name="T84" fmla="*/ 1260 w 1261"/>
                <a:gd name="T85" fmla="*/ 342 h 1255"/>
                <a:gd name="T86" fmla="*/ 1259 w 1261"/>
                <a:gd name="T87" fmla="*/ 322 h 1255"/>
                <a:gd name="T88" fmla="*/ 1259 w 1261"/>
                <a:gd name="T89" fmla="*/ 322 h 1255"/>
                <a:gd name="T90" fmla="*/ 1259 w 1261"/>
                <a:gd name="T91" fmla="*/ 322 h 1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61" h="1255">
                  <a:moveTo>
                    <a:pt x="1259" y="322"/>
                  </a:moveTo>
                  <a:cubicBezTo>
                    <a:pt x="1256" y="317"/>
                    <a:pt x="1255" y="311"/>
                    <a:pt x="1254" y="304"/>
                  </a:cubicBezTo>
                  <a:cubicBezTo>
                    <a:pt x="1250" y="287"/>
                    <a:pt x="1246" y="268"/>
                    <a:pt x="1238" y="249"/>
                  </a:cubicBezTo>
                  <a:cubicBezTo>
                    <a:pt x="1190" y="140"/>
                    <a:pt x="1110" y="62"/>
                    <a:pt x="1002" y="18"/>
                  </a:cubicBezTo>
                  <a:cubicBezTo>
                    <a:pt x="979" y="9"/>
                    <a:pt x="955" y="6"/>
                    <a:pt x="935" y="3"/>
                  </a:cubicBezTo>
                  <a:cubicBezTo>
                    <a:pt x="930" y="3"/>
                    <a:pt x="930" y="3"/>
                    <a:pt x="930" y="3"/>
                  </a:cubicBezTo>
                  <a:cubicBezTo>
                    <a:pt x="906" y="0"/>
                    <a:pt x="871" y="3"/>
                    <a:pt x="838" y="37"/>
                  </a:cubicBezTo>
                  <a:cubicBezTo>
                    <a:pt x="698" y="177"/>
                    <a:pt x="555" y="320"/>
                    <a:pt x="418" y="458"/>
                  </a:cubicBezTo>
                  <a:cubicBezTo>
                    <a:pt x="316" y="558"/>
                    <a:pt x="316" y="558"/>
                    <a:pt x="316" y="558"/>
                  </a:cubicBezTo>
                  <a:cubicBezTo>
                    <a:pt x="271" y="604"/>
                    <a:pt x="271" y="604"/>
                    <a:pt x="271" y="604"/>
                  </a:cubicBezTo>
                  <a:cubicBezTo>
                    <a:pt x="267" y="608"/>
                    <a:pt x="258" y="617"/>
                    <a:pt x="233" y="642"/>
                  </a:cubicBezTo>
                  <a:cubicBezTo>
                    <a:pt x="211" y="665"/>
                    <a:pt x="211" y="701"/>
                    <a:pt x="234" y="724"/>
                  </a:cubicBezTo>
                  <a:cubicBezTo>
                    <a:pt x="257" y="746"/>
                    <a:pt x="293" y="746"/>
                    <a:pt x="315" y="723"/>
                  </a:cubicBezTo>
                  <a:cubicBezTo>
                    <a:pt x="341" y="698"/>
                    <a:pt x="349" y="689"/>
                    <a:pt x="354" y="684"/>
                  </a:cubicBezTo>
                  <a:cubicBezTo>
                    <a:pt x="361" y="677"/>
                    <a:pt x="361" y="677"/>
                    <a:pt x="361" y="677"/>
                  </a:cubicBezTo>
                  <a:cubicBezTo>
                    <a:pt x="398" y="640"/>
                    <a:pt x="398" y="640"/>
                    <a:pt x="398" y="640"/>
                  </a:cubicBezTo>
                  <a:cubicBezTo>
                    <a:pt x="499" y="539"/>
                    <a:pt x="499" y="539"/>
                    <a:pt x="499" y="539"/>
                  </a:cubicBezTo>
                  <a:cubicBezTo>
                    <a:pt x="637" y="401"/>
                    <a:pt x="779" y="258"/>
                    <a:pt x="920" y="118"/>
                  </a:cubicBezTo>
                  <a:cubicBezTo>
                    <a:pt x="920" y="117"/>
                    <a:pt x="920" y="117"/>
                    <a:pt x="920" y="117"/>
                  </a:cubicBezTo>
                  <a:cubicBezTo>
                    <a:pt x="921" y="117"/>
                    <a:pt x="921" y="117"/>
                    <a:pt x="921" y="117"/>
                  </a:cubicBezTo>
                  <a:cubicBezTo>
                    <a:pt x="936" y="119"/>
                    <a:pt x="950" y="121"/>
                    <a:pt x="959" y="125"/>
                  </a:cubicBezTo>
                  <a:cubicBezTo>
                    <a:pt x="1040" y="157"/>
                    <a:pt x="1097" y="213"/>
                    <a:pt x="1133" y="295"/>
                  </a:cubicBezTo>
                  <a:cubicBezTo>
                    <a:pt x="1136" y="304"/>
                    <a:pt x="1139" y="315"/>
                    <a:pt x="1141" y="328"/>
                  </a:cubicBezTo>
                  <a:cubicBezTo>
                    <a:pt x="1142" y="331"/>
                    <a:pt x="1143" y="334"/>
                    <a:pt x="1143" y="337"/>
                  </a:cubicBezTo>
                  <a:cubicBezTo>
                    <a:pt x="1142" y="338"/>
                    <a:pt x="1142" y="338"/>
                    <a:pt x="1142" y="338"/>
                  </a:cubicBezTo>
                  <a:cubicBezTo>
                    <a:pt x="912" y="568"/>
                    <a:pt x="672" y="808"/>
                    <a:pt x="409" y="1071"/>
                  </a:cubicBezTo>
                  <a:cubicBezTo>
                    <a:pt x="407" y="1073"/>
                    <a:pt x="407" y="1073"/>
                    <a:pt x="405" y="1073"/>
                  </a:cubicBezTo>
                  <a:cubicBezTo>
                    <a:pt x="317" y="1092"/>
                    <a:pt x="227" y="1111"/>
                    <a:pt x="141" y="1129"/>
                  </a:cubicBezTo>
                  <a:cubicBezTo>
                    <a:pt x="127" y="1132"/>
                    <a:pt x="127" y="1132"/>
                    <a:pt x="127" y="1132"/>
                  </a:cubicBezTo>
                  <a:cubicBezTo>
                    <a:pt x="130" y="1120"/>
                    <a:pt x="130" y="1120"/>
                    <a:pt x="130" y="1120"/>
                  </a:cubicBezTo>
                  <a:cubicBezTo>
                    <a:pt x="148" y="1032"/>
                    <a:pt x="167" y="941"/>
                    <a:pt x="187" y="852"/>
                  </a:cubicBezTo>
                  <a:cubicBezTo>
                    <a:pt x="194" y="821"/>
                    <a:pt x="174" y="790"/>
                    <a:pt x="143" y="783"/>
                  </a:cubicBezTo>
                  <a:cubicBezTo>
                    <a:pt x="112" y="777"/>
                    <a:pt x="81" y="796"/>
                    <a:pt x="75" y="827"/>
                  </a:cubicBezTo>
                  <a:cubicBezTo>
                    <a:pt x="55" y="917"/>
                    <a:pt x="36" y="1008"/>
                    <a:pt x="17" y="1096"/>
                  </a:cubicBezTo>
                  <a:cubicBezTo>
                    <a:pt x="7" y="1146"/>
                    <a:pt x="7" y="1146"/>
                    <a:pt x="7" y="1146"/>
                  </a:cubicBezTo>
                  <a:cubicBezTo>
                    <a:pt x="0" y="1177"/>
                    <a:pt x="9" y="1208"/>
                    <a:pt x="30" y="1229"/>
                  </a:cubicBezTo>
                  <a:cubicBezTo>
                    <a:pt x="47" y="1246"/>
                    <a:pt x="69" y="1255"/>
                    <a:pt x="93" y="1255"/>
                  </a:cubicBezTo>
                  <a:cubicBezTo>
                    <a:pt x="100" y="1255"/>
                    <a:pt x="107" y="1254"/>
                    <a:pt x="113" y="1252"/>
                  </a:cubicBezTo>
                  <a:cubicBezTo>
                    <a:pt x="165" y="1242"/>
                    <a:pt x="165" y="1242"/>
                    <a:pt x="165" y="1242"/>
                  </a:cubicBezTo>
                  <a:cubicBezTo>
                    <a:pt x="252" y="1223"/>
                    <a:pt x="341" y="1204"/>
                    <a:pt x="429" y="1186"/>
                  </a:cubicBezTo>
                  <a:cubicBezTo>
                    <a:pt x="454" y="1181"/>
                    <a:pt x="474" y="1170"/>
                    <a:pt x="491" y="1153"/>
                  </a:cubicBezTo>
                  <a:cubicBezTo>
                    <a:pt x="754" y="889"/>
                    <a:pt x="994" y="649"/>
                    <a:pt x="1224" y="419"/>
                  </a:cubicBezTo>
                  <a:cubicBezTo>
                    <a:pt x="1245" y="398"/>
                    <a:pt x="1257" y="372"/>
                    <a:pt x="1260" y="342"/>
                  </a:cubicBezTo>
                  <a:cubicBezTo>
                    <a:pt x="1261" y="335"/>
                    <a:pt x="1260" y="329"/>
                    <a:pt x="1259" y="322"/>
                  </a:cubicBezTo>
                  <a:close/>
                  <a:moveTo>
                    <a:pt x="1259" y="322"/>
                  </a:moveTo>
                  <a:cubicBezTo>
                    <a:pt x="1259" y="322"/>
                    <a:pt x="1259" y="322"/>
                    <a:pt x="1259" y="32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ns3:hiddenLine w="9525">
                  <a:solidFill>
                    <a:srgbClr val="000000"/>
                  </a:solidFill>
                  <a:round/>
                </ns3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d-ID">
                <a:cs typeface="+mn-ea"/>
                <a:sym typeface="+mn-lt"/>
              </a:endParaRPr>
            </a:p>
          </p:txBody>
        </p:sp>
        <p:sp>
          <p:nvSpPr>
            <p:cNvPr id="16" name="Freeform 62"/>
            <p:cNvSpPr>
              <a:spLocks noEditPoints="1"/>
            </p:cNvSpPr>
            <p:nvPr/>
          </p:nvSpPr>
          <p:spPr bwMode="auto">
            <a:xfrm>
              <a:off x="5221288" y="365125"/>
              <a:ext cx="1676400" cy="1677988"/>
            </a:xfrm>
            <a:custGeom>
              <a:avLst/>
              <a:gdLst>
                <a:gd name="T0" fmla="*/ 1241 w 1298"/>
                <a:gd name="T1" fmla="*/ 579 h 1298"/>
                <a:gd name="T2" fmla="*/ 1183 w 1298"/>
                <a:gd name="T3" fmla="*/ 637 h 1298"/>
                <a:gd name="T4" fmla="*/ 1183 w 1298"/>
                <a:gd name="T5" fmla="*/ 1158 h 1298"/>
                <a:gd name="T6" fmla="*/ 1158 w 1298"/>
                <a:gd name="T7" fmla="*/ 1183 h 1298"/>
                <a:gd name="T8" fmla="*/ 140 w 1298"/>
                <a:gd name="T9" fmla="*/ 1183 h 1298"/>
                <a:gd name="T10" fmla="*/ 115 w 1298"/>
                <a:gd name="T11" fmla="*/ 1158 h 1298"/>
                <a:gd name="T12" fmla="*/ 115 w 1298"/>
                <a:gd name="T13" fmla="*/ 140 h 1298"/>
                <a:gd name="T14" fmla="*/ 140 w 1298"/>
                <a:gd name="T15" fmla="*/ 115 h 1298"/>
                <a:gd name="T16" fmla="*/ 683 w 1298"/>
                <a:gd name="T17" fmla="*/ 115 h 1298"/>
                <a:gd name="T18" fmla="*/ 741 w 1298"/>
                <a:gd name="T19" fmla="*/ 57 h 1298"/>
                <a:gd name="T20" fmla="*/ 683 w 1298"/>
                <a:gd name="T21" fmla="*/ 0 h 1298"/>
                <a:gd name="T22" fmla="*/ 140 w 1298"/>
                <a:gd name="T23" fmla="*/ 0 h 1298"/>
                <a:gd name="T24" fmla="*/ 0 w 1298"/>
                <a:gd name="T25" fmla="*/ 140 h 1298"/>
                <a:gd name="T26" fmla="*/ 0 w 1298"/>
                <a:gd name="T27" fmla="*/ 1158 h 1298"/>
                <a:gd name="T28" fmla="*/ 140 w 1298"/>
                <a:gd name="T29" fmla="*/ 1298 h 1298"/>
                <a:gd name="T30" fmla="*/ 1158 w 1298"/>
                <a:gd name="T31" fmla="*/ 1298 h 1298"/>
                <a:gd name="T32" fmla="*/ 1298 w 1298"/>
                <a:gd name="T33" fmla="*/ 1158 h 1298"/>
                <a:gd name="T34" fmla="*/ 1298 w 1298"/>
                <a:gd name="T35" fmla="*/ 637 h 1298"/>
                <a:gd name="T36" fmla="*/ 1241 w 1298"/>
                <a:gd name="T37" fmla="*/ 579 h 1298"/>
                <a:gd name="T38" fmla="*/ 1241 w 1298"/>
                <a:gd name="T39" fmla="*/ 579 h 1298"/>
                <a:gd name="T40" fmla="*/ 1241 w 1298"/>
                <a:gd name="T41" fmla="*/ 579 h 1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98" h="1298">
                  <a:moveTo>
                    <a:pt x="1241" y="579"/>
                  </a:moveTo>
                  <a:cubicBezTo>
                    <a:pt x="1209" y="579"/>
                    <a:pt x="1183" y="605"/>
                    <a:pt x="1183" y="637"/>
                  </a:cubicBezTo>
                  <a:cubicBezTo>
                    <a:pt x="1183" y="1158"/>
                    <a:pt x="1183" y="1158"/>
                    <a:pt x="1183" y="1158"/>
                  </a:cubicBezTo>
                  <a:cubicBezTo>
                    <a:pt x="1183" y="1172"/>
                    <a:pt x="1172" y="1183"/>
                    <a:pt x="1158" y="1183"/>
                  </a:cubicBezTo>
                  <a:cubicBezTo>
                    <a:pt x="140" y="1183"/>
                    <a:pt x="140" y="1183"/>
                    <a:pt x="140" y="1183"/>
                  </a:cubicBezTo>
                  <a:cubicBezTo>
                    <a:pt x="126" y="1183"/>
                    <a:pt x="115" y="1172"/>
                    <a:pt x="115" y="1158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5" y="126"/>
                    <a:pt x="126" y="115"/>
                    <a:pt x="140" y="115"/>
                  </a:cubicBezTo>
                  <a:cubicBezTo>
                    <a:pt x="683" y="115"/>
                    <a:pt x="683" y="115"/>
                    <a:pt x="683" y="115"/>
                  </a:cubicBezTo>
                  <a:cubicBezTo>
                    <a:pt x="715" y="115"/>
                    <a:pt x="741" y="89"/>
                    <a:pt x="741" y="57"/>
                  </a:cubicBezTo>
                  <a:cubicBezTo>
                    <a:pt x="741" y="26"/>
                    <a:pt x="715" y="0"/>
                    <a:pt x="683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63" y="0"/>
                    <a:pt x="0" y="63"/>
                    <a:pt x="0" y="140"/>
                  </a:cubicBezTo>
                  <a:cubicBezTo>
                    <a:pt x="0" y="1158"/>
                    <a:pt x="0" y="1158"/>
                    <a:pt x="0" y="1158"/>
                  </a:cubicBezTo>
                  <a:cubicBezTo>
                    <a:pt x="0" y="1235"/>
                    <a:pt x="63" y="1298"/>
                    <a:pt x="140" y="1298"/>
                  </a:cubicBezTo>
                  <a:cubicBezTo>
                    <a:pt x="1158" y="1298"/>
                    <a:pt x="1158" y="1298"/>
                    <a:pt x="1158" y="1298"/>
                  </a:cubicBezTo>
                  <a:cubicBezTo>
                    <a:pt x="1235" y="1298"/>
                    <a:pt x="1298" y="1235"/>
                    <a:pt x="1298" y="1158"/>
                  </a:cubicBezTo>
                  <a:cubicBezTo>
                    <a:pt x="1298" y="637"/>
                    <a:pt x="1298" y="637"/>
                    <a:pt x="1298" y="637"/>
                  </a:cubicBezTo>
                  <a:cubicBezTo>
                    <a:pt x="1298" y="605"/>
                    <a:pt x="1272" y="579"/>
                    <a:pt x="1241" y="579"/>
                  </a:cubicBezTo>
                  <a:close/>
                  <a:moveTo>
                    <a:pt x="1241" y="579"/>
                  </a:moveTo>
                  <a:cubicBezTo>
                    <a:pt x="1241" y="579"/>
                    <a:pt x="1241" y="579"/>
                    <a:pt x="1241" y="57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ns3:hiddenLine w="9525">
                  <a:solidFill>
                    <a:srgbClr val="000000"/>
                  </a:solidFill>
                  <a:round/>
                </ns3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d-ID">
                <a:cs typeface="+mn-ea"/>
                <a:sym typeface="+mn-lt"/>
              </a:endParaRPr>
            </a:p>
          </p:txBody>
        </p:sp>
      </p:grpSp>
      <p:grpSp>
        <p:nvGrpSpPr>
          <p:cNvPr id="6" name="Group 29"/>
          <p:cNvGrpSpPr/>
          <p:nvPr/>
        </p:nvGrpSpPr>
        <p:grpSpPr>
          <a:xfrm>
            <a:off x="9144896" y="2328121"/>
            <a:ext cx="522430" cy="569994"/>
            <a:chOff x="10045700" y="4910138"/>
            <a:chExt cx="2144713" cy="2339976"/>
          </a:xfrm>
          <a:solidFill>
            <a:schemeClr val="accent1"/>
          </a:solidFill>
        </p:grpSpPr>
        <p:sp>
          <p:nvSpPr>
            <p:cNvPr id="8" name="Freeform 26"/>
            <p:cNvSpPr>
              <a:spLocks noEditPoints="1"/>
            </p:cNvSpPr>
            <p:nvPr/>
          </p:nvSpPr>
          <p:spPr bwMode="auto">
            <a:xfrm>
              <a:off x="10045700" y="4910138"/>
              <a:ext cx="1674813" cy="2054225"/>
            </a:xfrm>
            <a:custGeom>
              <a:avLst/>
              <a:gdLst>
                <a:gd name="T0" fmla="*/ 943 w 1127"/>
                <a:gd name="T1" fmla="*/ 66 h 1380"/>
                <a:gd name="T2" fmla="*/ 564 w 1127"/>
                <a:gd name="T3" fmla="*/ 0 h 1380"/>
                <a:gd name="T4" fmla="*/ 184 w 1127"/>
                <a:gd name="T5" fmla="*/ 66 h 1380"/>
                <a:gd name="T6" fmla="*/ 0 w 1127"/>
                <a:gd name="T7" fmla="*/ 268 h 1380"/>
                <a:gd name="T8" fmla="*/ 0 w 1127"/>
                <a:gd name="T9" fmla="*/ 1113 h 1380"/>
                <a:gd name="T10" fmla="*/ 183 w 1127"/>
                <a:gd name="T11" fmla="*/ 1315 h 1380"/>
                <a:gd name="T12" fmla="*/ 563 w 1127"/>
                <a:gd name="T13" fmla="*/ 1380 h 1380"/>
                <a:gd name="T14" fmla="*/ 621 w 1127"/>
                <a:gd name="T15" fmla="*/ 1323 h 1380"/>
                <a:gd name="T16" fmla="*/ 563 w 1127"/>
                <a:gd name="T17" fmla="*/ 1265 h 1380"/>
                <a:gd name="T18" fmla="*/ 228 w 1127"/>
                <a:gd name="T19" fmla="*/ 1208 h 1380"/>
                <a:gd name="T20" fmla="*/ 115 w 1127"/>
                <a:gd name="T21" fmla="*/ 1112 h 1380"/>
                <a:gd name="T22" fmla="*/ 115 w 1127"/>
                <a:gd name="T23" fmla="*/ 998 h 1380"/>
                <a:gd name="T24" fmla="*/ 177 w 1127"/>
                <a:gd name="T25" fmla="*/ 1030 h 1380"/>
                <a:gd name="T26" fmla="*/ 544 w 1127"/>
                <a:gd name="T27" fmla="*/ 1099 h 1380"/>
                <a:gd name="T28" fmla="*/ 564 w 1127"/>
                <a:gd name="T29" fmla="*/ 1099 h 1380"/>
                <a:gd name="T30" fmla="*/ 621 w 1127"/>
                <a:gd name="T31" fmla="*/ 1041 h 1380"/>
                <a:gd name="T32" fmla="*/ 564 w 1127"/>
                <a:gd name="T33" fmla="*/ 983 h 1380"/>
                <a:gd name="T34" fmla="*/ 546 w 1127"/>
                <a:gd name="T35" fmla="*/ 983 h 1380"/>
                <a:gd name="T36" fmla="*/ 222 w 1127"/>
                <a:gd name="T37" fmla="*/ 924 h 1380"/>
                <a:gd name="T38" fmla="*/ 115 w 1127"/>
                <a:gd name="T39" fmla="*/ 831 h 1380"/>
                <a:gd name="T40" fmla="*/ 115 w 1127"/>
                <a:gd name="T41" fmla="*/ 717 h 1380"/>
                <a:gd name="T42" fmla="*/ 184 w 1127"/>
                <a:gd name="T43" fmla="*/ 751 h 1380"/>
                <a:gd name="T44" fmla="*/ 564 w 1127"/>
                <a:gd name="T45" fmla="*/ 817 h 1380"/>
                <a:gd name="T46" fmla="*/ 943 w 1127"/>
                <a:gd name="T47" fmla="*/ 751 h 1380"/>
                <a:gd name="T48" fmla="*/ 1127 w 1127"/>
                <a:gd name="T49" fmla="*/ 549 h 1380"/>
                <a:gd name="T50" fmla="*/ 1127 w 1127"/>
                <a:gd name="T51" fmla="*/ 268 h 1380"/>
                <a:gd name="T52" fmla="*/ 943 w 1127"/>
                <a:gd name="T53" fmla="*/ 66 h 1380"/>
                <a:gd name="T54" fmla="*/ 340 w 1127"/>
                <a:gd name="T55" fmla="*/ 516 h 1380"/>
                <a:gd name="T56" fmla="*/ 563 w 1127"/>
                <a:gd name="T57" fmla="*/ 536 h 1380"/>
                <a:gd name="T58" fmla="*/ 943 w 1127"/>
                <a:gd name="T59" fmla="*/ 470 h 1380"/>
                <a:gd name="T60" fmla="*/ 1012 w 1127"/>
                <a:gd name="T61" fmla="*/ 436 h 1380"/>
                <a:gd name="T62" fmla="*/ 1012 w 1127"/>
                <a:gd name="T63" fmla="*/ 549 h 1380"/>
                <a:gd name="T64" fmla="*/ 899 w 1127"/>
                <a:gd name="T65" fmla="*/ 645 h 1380"/>
                <a:gd name="T66" fmla="*/ 563 w 1127"/>
                <a:gd name="T67" fmla="*/ 702 h 1380"/>
                <a:gd name="T68" fmla="*/ 228 w 1127"/>
                <a:gd name="T69" fmla="*/ 645 h 1380"/>
                <a:gd name="T70" fmla="*/ 115 w 1127"/>
                <a:gd name="T71" fmla="*/ 549 h 1380"/>
                <a:gd name="T72" fmla="*/ 115 w 1127"/>
                <a:gd name="T73" fmla="*/ 268 h 1380"/>
                <a:gd name="T74" fmla="*/ 228 w 1127"/>
                <a:gd name="T75" fmla="*/ 172 h 1380"/>
                <a:gd name="T76" fmla="*/ 563 w 1127"/>
                <a:gd name="T77" fmla="*/ 115 h 1380"/>
                <a:gd name="T78" fmla="*/ 899 w 1127"/>
                <a:gd name="T79" fmla="*/ 172 h 1380"/>
                <a:gd name="T80" fmla="*/ 1012 w 1127"/>
                <a:gd name="T81" fmla="*/ 268 h 1380"/>
                <a:gd name="T82" fmla="*/ 899 w 1127"/>
                <a:gd name="T83" fmla="*/ 364 h 1380"/>
                <a:gd name="T84" fmla="*/ 563 w 1127"/>
                <a:gd name="T85" fmla="*/ 421 h 1380"/>
                <a:gd name="T86" fmla="*/ 362 w 1127"/>
                <a:gd name="T87" fmla="*/ 403 h 1380"/>
                <a:gd name="T88" fmla="*/ 294 w 1127"/>
                <a:gd name="T89" fmla="*/ 448 h 1380"/>
                <a:gd name="T90" fmla="*/ 340 w 1127"/>
                <a:gd name="T91" fmla="*/ 516 h 1380"/>
                <a:gd name="T92" fmla="*/ 340 w 1127"/>
                <a:gd name="T93" fmla="*/ 516 h 1380"/>
                <a:gd name="T94" fmla="*/ 340 w 1127"/>
                <a:gd name="T95" fmla="*/ 516 h 1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127" h="1380">
                  <a:moveTo>
                    <a:pt x="943" y="66"/>
                  </a:moveTo>
                  <a:cubicBezTo>
                    <a:pt x="841" y="23"/>
                    <a:pt x="706" y="0"/>
                    <a:pt x="564" y="0"/>
                  </a:cubicBezTo>
                  <a:cubicBezTo>
                    <a:pt x="421" y="0"/>
                    <a:pt x="286" y="23"/>
                    <a:pt x="184" y="66"/>
                  </a:cubicBezTo>
                  <a:cubicBezTo>
                    <a:pt x="65" y="115"/>
                    <a:pt x="0" y="187"/>
                    <a:pt x="0" y="268"/>
                  </a:cubicBezTo>
                  <a:cubicBezTo>
                    <a:pt x="0" y="1113"/>
                    <a:pt x="0" y="1113"/>
                    <a:pt x="0" y="1113"/>
                  </a:cubicBezTo>
                  <a:cubicBezTo>
                    <a:pt x="0" y="1194"/>
                    <a:pt x="65" y="1265"/>
                    <a:pt x="183" y="1315"/>
                  </a:cubicBezTo>
                  <a:cubicBezTo>
                    <a:pt x="286" y="1357"/>
                    <a:pt x="421" y="1380"/>
                    <a:pt x="563" y="1380"/>
                  </a:cubicBezTo>
                  <a:cubicBezTo>
                    <a:pt x="595" y="1380"/>
                    <a:pt x="621" y="1355"/>
                    <a:pt x="621" y="1323"/>
                  </a:cubicBezTo>
                  <a:cubicBezTo>
                    <a:pt x="621" y="1291"/>
                    <a:pt x="595" y="1265"/>
                    <a:pt x="563" y="1265"/>
                  </a:cubicBezTo>
                  <a:cubicBezTo>
                    <a:pt x="436" y="1265"/>
                    <a:pt x="316" y="1245"/>
                    <a:pt x="228" y="1208"/>
                  </a:cubicBezTo>
                  <a:cubicBezTo>
                    <a:pt x="159" y="1180"/>
                    <a:pt x="115" y="1142"/>
                    <a:pt x="115" y="1112"/>
                  </a:cubicBezTo>
                  <a:cubicBezTo>
                    <a:pt x="115" y="998"/>
                    <a:pt x="115" y="998"/>
                    <a:pt x="115" y="998"/>
                  </a:cubicBezTo>
                  <a:cubicBezTo>
                    <a:pt x="133" y="1009"/>
                    <a:pt x="154" y="1020"/>
                    <a:pt x="177" y="1030"/>
                  </a:cubicBezTo>
                  <a:cubicBezTo>
                    <a:pt x="275" y="1072"/>
                    <a:pt x="405" y="1096"/>
                    <a:pt x="544" y="1099"/>
                  </a:cubicBezTo>
                  <a:cubicBezTo>
                    <a:pt x="564" y="1099"/>
                    <a:pt x="564" y="1099"/>
                    <a:pt x="564" y="1099"/>
                  </a:cubicBezTo>
                  <a:cubicBezTo>
                    <a:pt x="595" y="1099"/>
                    <a:pt x="621" y="1073"/>
                    <a:pt x="621" y="1041"/>
                  </a:cubicBezTo>
                  <a:cubicBezTo>
                    <a:pt x="621" y="1009"/>
                    <a:pt x="595" y="983"/>
                    <a:pt x="564" y="983"/>
                  </a:cubicBezTo>
                  <a:cubicBezTo>
                    <a:pt x="546" y="983"/>
                    <a:pt x="546" y="983"/>
                    <a:pt x="546" y="983"/>
                  </a:cubicBezTo>
                  <a:cubicBezTo>
                    <a:pt x="422" y="981"/>
                    <a:pt x="307" y="960"/>
                    <a:pt x="222" y="924"/>
                  </a:cubicBezTo>
                  <a:cubicBezTo>
                    <a:pt x="157" y="896"/>
                    <a:pt x="115" y="859"/>
                    <a:pt x="115" y="831"/>
                  </a:cubicBezTo>
                  <a:cubicBezTo>
                    <a:pt x="115" y="717"/>
                    <a:pt x="115" y="717"/>
                    <a:pt x="115" y="717"/>
                  </a:cubicBezTo>
                  <a:cubicBezTo>
                    <a:pt x="136" y="729"/>
                    <a:pt x="158" y="741"/>
                    <a:pt x="184" y="751"/>
                  </a:cubicBezTo>
                  <a:cubicBezTo>
                    <a:pt x="286" y="794"/>
                    <a:pt x="421" y="817"/>
                    <a:pt x="564" y="817"/>
                  </a:cubicBezTo>
                  <a:cubicBezTo>
                    <a:pt x="706" y="817"/>
                    <a:pt x="841" y="794"/>
                    <a:pt x="943" y="751"/>
                  </a:cubicBezTo>
                  <a:cubicBezTo>
                    <a:pt x="1062" y="702"/>
                    <a:pt x="1127" y="630"/>
                    <a:pt x="1127" y="549"/>
                  </a:cubicBezTo>
                  <a:cubicBezTo>
                    <a:pt x="1127" y="268"/>
                    <a:pt x="1127" y="268"/>
                    <a:pt x="1127" y="268"/>
                  </a:cubicBezTo>
                  <a:cubicBezTo>
                    <a:pt x="1127" y="187"/>
                    <a:pt x="1062" y="115"/>
                    <a:pt x="943" y="66"/>
                  </a:cubicBezTo>
                  <a:close/>
                  <a:moveTo>
                    <a:pt x="340" y="516"/>
                  </a:moveTo>
                  <a:cubicBezTo>
                    <a:pt x="411" y="529"/>
                    <a:pt x="485" y="536"/>
                    <a:pt x="563" y="536"/>
                  </a:cubicBezTo>
                  <a:cubicBezTo>
                    <a:pt x="706" y="536"/>
                    <a:pt x="841" y="513"/>
                    <a:pt x="943" y="470"/>
                  </a:cubicBezTo>
                  <a:cubicBezTo>
                    <a:pt x="968" y="460"/>
                    <a:pt x="991" y="448"/>
                    <a:pt x="1012" y="436"/>
                  </a:cubicBezTo>
                  <a:cubicBezTo>
                    <a:pt x="1012" y="549"/>
                    <a:pt x="1012" y="549"/>
                    <a:pt x="1012" y="549"/>
                  </a:cubicBezTo>
                  <a:cubicBezTo>
                    <a:pt x="1012" y="579"/>
                    <a:pt x="967" y="617"/>
                    <a:pt x="899" y="645"/>
                  </a:cubicBezTo>
                  <a:cubicBezTo>
                    <a:pt x="810" y="682"/>
                    <a:pt x="691" y="702"/>
                    <a:pt x="563" y="702"/>
                  </a:cubicBezTo>
                  <a:cubicBezTo>
                    <a:pt x="436" y="702"/>
                    <a:pt x="316" y="682"/>
                    <a:pt x="228" y="645"/>
                  </a:cubicBezTo>
                  <a:cubicBezTo>
                    <a:pt x="159" y="617"/>
                    <a:pt x="115" y="579"/>
                    <a:pt x="115" y="549"/>
                  </a:cubicBezTo>
                  <a:cubicBezTo>
                    <a:pt x="115" y="268"/>
                    <a:pt x="115" y="268"/>
                    <a:pt x="115" y="268"/>
                  </a:cubicBezTo>
                  <a:cubicBezTo>
                    <a:pt x="115" y="238"/>
                    <a:pt x="159" y="201"/>
                    <a:pt x="228" y="172"/>
                  </a:cubicBezTo>
                  <a:cubicBezTo>
                    <a:pt x="316" y="135"/>
                    <a:pt x="436" y="115"/>
                    <a:pt x="563" y="115"/>
                  </a:cubicBezTo>
                  <a:cubicBezTo>
                    <a:pt x="691" y="115"/>
                    <a:pt x="810" y="135"/>
                    <a:pt x="899" y="172"/>
                  </a:cubicBezTo>
                  <a:cubicBezTo>
                    <a:pt x="967" y="201"/>
                    <a:pt x="1012" y="238"/>
                    <a:pt x="1012" y="268"/>
                  </a:cubicBezTo>
                  <a:cubicBezTo>
                    <a:pt x="1012" y="298"/>
                    <a:pt x="967" y="335"/>
                    <a:pt x="899" y="364"/>
                  </a:cubicBezTo>
                  <a:cubicBezTo>
                    <a:pt x="810" y="400"/>
                    <a:pt x="691" y="421"/>
                    <a:pt x="563" y="421"/>
                  </a:cubicBezTo>
                  <a:cubicBezTo>
                    <a:pt x="493" y="421"/>
                    <a:pt x="425" y="415"/>
                    <a:pt x="362" y="403"/>
                  </a:cubicBezTo>
                  <a:cubicBezTo>
                    <a:pt x="331" y="396"/>
                    <a:pt x="300" y="417"/>
                    <a:pt x="294" y="448"/>
                  </a:cubicBezTo>
                  <a:cubicBezTo>
                    <a:pt x="288" y="480"/>
                    <a:pt x="309" y="510"/>
                    <a:pt x="340" y="516"/>
                  </a:cubicBezTo>
                  <a:close/>
                  <a:moveTo>
                    <a:pt x="340" y="516"/>
                  </a:moveTo>
                  <a:cubicBezTo>
                    <a:pt x="340" y="516"/>
                    <a:pt x="340" y="516"/>
                    <a:pt x="340" y="51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ns3:hiddenLine w="9525">
                  <a:solidFill>
                    <a:srgbClr val="000000"/>
                  </a:solidFill>
                  <a:round/>
                </ns3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d-ID">
                <a:cs typeface="+mn-ea"/>
                <a:sym typeface="+mn-lt"/>
              </a:endParaRPr>
            </a:p>
          </p:txBody>
        </p:sp>
        <p:sp>
          <p:nvSpPr>
            <p:cNvPr id="14" name="Freeform 27"/>
            <p:cNvSpPr>
              <a:spLocks noEditPoints="1"/>
            </p:cNvSpPr>
            <p:nvPr/>
          </p:nvSpPr>
          <p:spPr bwMode="auto">
            <a:xfrm>
              <a:off x="11082338" y="6140451"/>
              <a:ext cx="1108075" cy="1109663"/>
            </a:xfrm>
            <a:custGeom>
              <a:avLst/>
              <a:gdLst>
                <a:gd name="T0" fmla="*/ 619 w 746"/>
                <a:gd name="T1" fmla="*/ 92 h 745"/>
                <a:gd name="T2" fmla="*/ 537 w 746"/>
                <a:gd name="T3" fmla="*/ 97 h 745"/>
                <a:gd name="T4" fmla="*/ 542 w 746"/>
                <a:gd name="T5" fmla="*/ 179 h 745"/>
                <a:gd name="T6" fmla="*/ 630 w 746"/>
                <a:gd name="T7" fmla="*/ 372 h 745"/>
                <a:gd name="T8" fmla="*/ 372 w 746"/>
                <a:gd name="T9" fmla="*/ 630 h 745"/>
                <a:gd name="T10" fmla="*/ 115 w 746"/>
                <a:gd name="T11" fmla="*/ 372 h 745"/>
                <a:gd name="T12" fmla="*/ 315 w 746"/>
                <a:gd name="T13" fmla="*/ 121 h 745"/>
                <a:gd name="T14" fmla="*/ 315 w 746"/>
                <a:gd name="T15" fmla="*/ 364 h 745"/>
                <a:gd name="T16" fmla="*/ 296 w 746"/>
                <a:gd name="T17" fmla="*/ 346 h 745"/>
                <a:gd name="T18" fmla="*/ 214 w 746"/>
                <a:gd name="T19" fmla="*/ 350 h 745"/>
                <a:gd name="T20" fmla="*/ 218 w 746"/>
                <a:gd name="T21" fmla="*/ 431 h 745"/>
                <a:gd name="T22" fmla="*/ 334 w 746"/>
                <a:gd name="T23" fmla="*/ 537 h 745"/>
                <a:gd name="T24" fmla="*/ 373 w 746"/>
                <a:gd name="T25" fmla="*/ 552 h 745"/>
                <a:gd name="T26" fmla="*/ 411 w 746"/>
                <a:gd name="T27" fmla="*/ 537 h 745"/>
                <a:gd name="T28" fmla="*/ 527 w 746"/>
                <a:gd name="T29" fmla="*/ 431 h 745"/>
                <a:gd name="T30" fmla="*/ 531 w 746"/>
                <a:gd name="T31" fmla="*/ 350 h 745"/>
                <a:gd name="T32" fmla="*/ 450 w 746"/>
                <a:gd name="T33" fmla="*/ 346 h 745"/>
                <a:gd name="T34" fmla="*/ 431 w 746"/>
                <a:gd name="T35" fmla="*/ 364 h 745"/>
                <a:gd name="T36" fmla="*/ 431 w 746"/>
                <a:gd name="T37" fmla="*/ 57 h 745"/>
                <a:gd name="T38" fmla="*/ 373 w 746"/>
                <a:gd name="T39" fmla="*/ 0 h 745"/>
                <a:gd name="T40" fmla="*/ 0 w 746"/>
                <a:gd name="T41" fmla="*/ 372 h 745"/>
                <a:gd name="T42" fmla="*/ 373 w 746"/>
                <a:gd name="T43" fmla="*/ 745 h 745"/>
                <a:gd name="T44" fmla="*/ 746 w 746"/>
                <a:gd name="T45" fmla="*/ 372 h 745"/>
                <a:gd name="T46" fmla="*/ 619 w 746"/>
                <a:gd name="T47" fmla="*/ 92 h 745"/>
                <a:gd name="T48" fmla="*/ 619 w 746"/>
                <a:gd name="T49" fmla="*/ 92 h 745"/>
                <a:gd name="T50" fmla="*/ 619 w 746"/>
                <a:gd name="T51" fmla="*/ 92 h 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46" h="745">
                  <a:moveTo>
                    <a:pt x="619" y="92"/>
                  </a:moveTo>
                  <a:cubicBezTo>
                    <a:pt x="595" y="71"/>
                    <a:pt x="558" y="74"/>
                    <a:pt x="537" y="97"/>
                  </a:cubicBezTo>
                  <a:cubicBezTo>
                    <a:pt x="516" y="121"/>
                    <a:pt x="519" y="158"/>
                    <a:pt x="542" y="179"/>
                  </a:cubicBezTo>
                  <a:cubicBezTo>
                    <a:pt x="598" y="228"/>
                    <a:pt x="630" y="298"/>
                    <a:pt x="630" y="372"/>
                  </a:cubicBezTo>
                  <a:cubicBezTo>
                    <a:pt x="630" y="514"/>
                    <a:pt x="515" y="630"/>
                    <a:pt x="372" y="630"/>
                  </a:cubicBezTo>
                  <a:cubicBezTo>
                    <a:pt x="230" y="630"/>
                    <a:pt x="115" y="514"/>
                    <a:pt x="115" y="372"/>
                  </a:cubicBezTo>
                  <a:cubicBezTo>
                    <a:pt x="115" y="250"/>
                    <a:pt x="201" y="147"/>
                    <a:pt x="315" y="121"/>
                  </a:cubicBezTo>
                  <a:cubicBezTo>
                    <a:pt x="315" y="364"/>
                    <a:pt x="315" y="364"/>
                    <a:pt x="315" y="364"/>
                  </a:cubicBezTo>
                  <a:cubicBezTo>
                    <a:pt x="296" y="346"/>
                    <a:pt x="296" y="346"/>
                    <a:pt x="296" y="346"/>
                  </a:cubicBezTo>
                  <a:cubicBezTo>
                    <a:pt x="272" y="325"/>
                    <a:pt x="236" y="326"/>
                    <a:pt x="214" y="350"/>
                  </a:cubicBezTo>
                  <a:cubicBezTo>
                    <a:pt x="193" y="373"/>
                    <a:pt x="195" y="410"/>
                    <a:pt x="218" y="431"/>
                  </a:cubicBezTo>
                  <a:cubicBezTo>
                    <a:pt x="334" y="537"/>
                    <a:pt x="334" y="537"/>
                    <a:pt x="334" y="537"/>
                  </a:cubicBezTo>
                  <a:cubicBezTo>
                    <a:pt x="345" y="547"/>
                    <a:pt x="359" y="552"/>
                    <a:pt x="373" y="552"/>
                  </a:cubicBezTo>
                  <a:cubicBezTo>
                    <a:pt x="387" y="552"/>
                    <a:pt x="401" y="547"/>
                    <a:pt x="411" y="537"/>
                  </a:cubicBezTo>
                  <a:cubicBezTo>
                    <a:pt x="527" y="431"/>
                    <a:pt x="527" y="431"/>
                    <a:pt x="527" y="431"/>
                  </a:cubicBezTo>
                  <a:cubicBezTo>
                    <a:pt x="551" y="410"/>
                    <a:pt x="553" y="373"/>
                    <a:pt x="531" y="350"/>
                  </a:cubicBezTo>
                  <a:cubicBezTo>
                    <a:pt x="510" y="327"/>
                    <a:pt x="473" y="325"/>
                    <a:pt x="450" y="346"/>
                  </a:cubicBezTo>
                  <a:cubicBezTo>
                    <a:pt x="431" y="364"/>
                    <a:pt x="431" y="364"/>
                    <a:pt x="431" y="364"/>
                  </a:cubicBezTo>
                  <a:cubicBezTo>
                    <a:pt x="431" y="57"/>
                    <a:pt x="431" y="57"/>
                    <a:pt x="431" y="57"/>
                  </a:cubicBezTo>
                  <a:cubicBezTo>
                    <a:pt x="431" y="25"/>
                    <a:pt x="405" y="0"/>
                    <a:pt x="373" y="0"/>
                  </a:cubicBezTo>
                  <a:cubicBezTo>
                    <a:pt x="167" y="0"/>
                    <a:pt x="0" y="167"/>
                    <a:pt x="0" y="372"/>
                  </a:cubicBezTo>
                  <a:cubicBezTo>
                    <a:pt x="0" y="578"/>
                    <a:pt x="168" y="745"/>
                    <a:pt x="373" y="745"/>
                  </a:cubicBezTo>
                  <a:cubicBezTo>
                    <a:pt x="579" y="745"/>
                    <a:pt x="746" y="578"/>
                    <a:pt x="746" y="372"/>
                  </a:cubicBezTo>
                  <a:cubicBezTo>
                    <a:pt x="745" y="265"/>
                    <a:pt x="699" y="163"/>
                    <a:pt x="619" y="92"/>
                  </a:cubicBezTo>
                  <a:close/>
                  <a:moveTo>
                    <a:pt x="619" y="92"/>
                  </a:moveTo>
                  <a:cubicBezTo>
                    <a:pt x="619" y="92"/>
                    <a:pt x="619" y="92"/>
                    <a:pt x="619" y="9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ns3:hiddenLine w="9525">
                  <a:solidFill>
                    <a:srgbClr val="000000"/>
                  </a:solidFill>
                  <a:round/>
                </ns3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d-ID">
                <a:cs typeface="+mn-ea"/>
                <a:sym typeface="+mn-lt"/>
              </a:endParaRPr>
            </a:p>
          </p:txBody>
        </p:sp>
      </p:grpSp>
      <p:sp>
        <p:nvSpPr>
          <p:cNvPr id="19" name="Text Box 10"/>
          <p:cNvSpPr txBox="1">
            <a:spLocks noChangeArrowheads="1"/>
          </p:cNvSpPr>
          <p:nvPr/>
        </p:nvSpPr>
        <p:spPr bwMode="auto">
          <a:xfrm>
            <a:off x="1469923" y="4568741"/>
            <a:ext cx="9252154" cy="113473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三者被理解为同一病理过程的不同侧面，研究重心随之从离子通道转向组织与细胞微环境。</a:t>
            </a:r>
            <a:r>
              <a:rPr lang="zh-CN" altLang="en-US" sz="1200" dirty="0">
                <a:solidFill>
                  <a:srgbClr val="000000"/>
                </a:solidFill>
                <a:cs typeface="+mn-ea"/>
                <a:sym typeface="+mn-lt"/>
              </a:rPr>
              <a:t/>
            </a:r>
            <a:endParaRPr lang="zh-CN" altLang="en-US" sz="12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1794077" y="3315126"/>
            <a:ext cx="1995620" cy="8577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离子通道功能改变、钙处理异常，构成触发活动的基础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794077" y="2997330"/>
            <a:ext cx="1995620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电重构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3" name="Text Box 10"/>
          <p:cNvSpPr txBox="1">
            <a:spLocks noChangeArrowheads="1"/>
          </p:cNvSpPr>
          <p:nvPr/>
        </p:nvSpPr>
        <p:spPr bwMode="auto">
          <a:xfrm>
            <a:off x="5098190" y="3315126"/>
            <a:ext cx="1995620" cy="8577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成纤维细胞活化与基质沉积，形成慢传导通路与阻滞线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098190" y="2997330"/>
            <a:ext cx="1995620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结构重构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8402303" y="3315126"/>
            <a:ext cx="1995620" cy="8577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与炎症互为因果，形成「房颤引发房颤」的正反馈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402303" y="2997330"/>
            <a:ext cx="1995620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代谢紊乱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7" name="Footer Text"/>
          <p:cNvSpPr txBox="1"/>
          <p:nvPr/>
        </p:nvSpPr>
        <p:spPr>
          <a:xfrm>
            <a:off x="1343247" y="710205"/>
            <a:ext cx="32956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cs typeface="+mn-ea"/>
                <a:sym typeface="+mn-lt"/>
              </a:rPr>
              <a:t>从电学到心肌病</a:t>
            </a:r>
            <a:endParaRPr lang="zh-CN" altLang="en-US" sz="2800" dirty="0">
              <a:cs typeface="+mn-ea"/>
              <a:sym typeface="+mn-lt"/>
            </a:endParaRPr>
          </a:p>
        </p:txBody>
      </p:sp>
      <p:pic>
        <p:nvPicPr>
          <p:cNvPr id="28" name="图片 27" descr="005Rm9jOly4grelek7dmbj30u00u0k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95325" y="601345"/>
            <a:ext cx="647700" cy="6477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</p:sld>
</file>

<file path=ppt/slides/slide2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785" y="355600"/>
            <a:ext cx="7579995" cy="611187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950497" y="2"/>
            <a:ext cx="1270457" cy="2291617"/>
            <a:chOff x="10950497" y="2"/>
            <a:chExt cx="1270457" cy="2291617"/>
          </a:xfrm>
        </p:grpSpPr>
        <p:sp>
          <p:nvSpPr>
            <p:cNvPr id="8" name="任意多边形: 形状 7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19" name="等腰三角形 18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" name="组合 24"/>
          <p:cNvGrpSpPr/>
          <p:nvPr userDrawn="1"/>
        </p:nvGrpSpPr>
        <p:grpSpPr>
          <a:xfrm rot="10800000">
            <a:off x="1" y="4566383"/>
            <a:ext cx="1270457" cy="2291617"/>
            <a:chOff x="10950497" y="2"/>
            <a:chExt cx="1270457" cy="2291617"/>
          </a:xfrm>
          <a:solidFill>
            <a:srgbClr val="BAE2FF"/>
          </a:solidFill>
        </p:grpSpPr>
        <p:sp>
          <p:nvSpPr>
            <p:cNvPr id="26" name="任意多边形: 形状 25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grpFill/>
          </p:grpSpPr>
          <p:sp>
            <p:nvSpPr>
              <p:cNvPr id="28" name="等腰三角形 27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9" name="等腰三角形 28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0" name="等腰三角形 29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1" name="等腰三角形 30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9" name="椭圆 8"/>
          <p:cNvSpPr/>
          <p:nvPr/>
        </p:nvSpPr>
        <p:spPr>
          <a:xfrm>
            <a:off x="10650680" y="597491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186302" y="5864996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0889597" y="5858219"/>
            <a:ext cx="676134" cy="381689"/>
            <a:chOff x="4468761" y="1799303"/>
            <a:chExt cx="914400" cy="51619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4" name="矩形 33"/>
            <p:cNvSpPr/>
            <p:nvPr/>
          </p:nvSpPr>
          <p:spPr>
            <a:xfrm>
              <a:off x="4468761" y="1799303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4468761" y="1999942"/>
              <a:ext cx="914400" cy="114917"/>
            </a:xfrm>
            <a:prstGeom prst="rect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4468761" y="2200580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" name="矩形: 圆角 5"/>
          <p:cNvSpPr/>
          <p:nvPr/>
        </p:nvSpPr>
        <p:spPr>
          <a:xfrm>
            <a:off x="7295515" y="2291715"/>
            <a:ext cx="2985135" cy="753745"/>
          </a:xfrm>
          <a:prstGeom prst="roundRect">
            <a:avLst>
              <a:gd name="adj" fmla="val 50000"/>
            </a:avLst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dirty="0">
                <a:cs typeface="+mn-ea"/>
                <a:sym typeface="+mn-lt"/>
              </a:rPr>
              <a:t>PART 02</a:t>
            </a:r>
            <a:endParaRPr lang="zh-CN" altLang="en-US" sz="3200" b="1" dirty="0">
              <a:cs typeface="+mn-ea"/>
              <a:sym typeface="+mn-lt"/>
            </a:endParaRPr>
          </a:p>
        </p:txBody>
      </p:sp>
      <p:sp>
        <p:nvSpPr>
          <p:cNvPr id="14" name="Footer Text"/>
          <p:cNvSpPr txBox="1"/>
          <p:nvPr/>
        </p:nvSpPr>
        <p:spPr>
          <a:xfrm>
            <a:off x="6658610" y="3204845"/>
            <a:ext cx="4291965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800" b="1" dirty="0">
                <a:cs typeface="+mn-ea"/>
                <a:sym typeface="+mn-lt"/>
              </a:rPr>
              <a:t>机制</a:t>
            </a:r>
            <a:endParaRPr lang="zh-CN" altLang="en-US" sz="4800" b="1" dirty="0">
              <a:cs typeface="+mn-ea"/>
              <a:sym typeface="+mn-lt"/>
            </a:endParaRPr>
          </a:p>
        </p:txBody>
      </p:sp>
    </p:spTree>
  </p:cSld>
  <p:clrMapOvr>
    <a:masterClrMapping/>
  </p:clrMapOvr>
  <p:transition p14:dur="500">
    <p:fade/>
  </p:transition>
</p:sld>
</file>

<file path=ppt/slides/slide2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 userDrawn="1"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1379690" y="2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1859995" y="797633"/>
            <a:ext cx="216293" cy="1527440"/>
            <a:chOff x="11349438" y="764179"/>
            <a:chExt cx="216293" cy="1527440"/>
          </a:xfrm>
        </p:grpSpPr>
        <p:sp>
          <p:nvSpPr>
            <p:cNvPr id="9" name="等腰三角形 8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3" name="任意多边形: 形状 42"/>
          <p:cNvSpPr/>
          <p:nvPr userDrawn="1"/>
        </p:nvSpPr>
        <p:spPr>
          <a:xfrm rot="10800000">
            <a:off x="1" y="6209613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/>
        </p:nvGrpSpPr>
        <p:grpSpPr>
          <a:xfrm rot="10800000">
            <a:off x="110007" y="4544081"/>
            <a:ext cx="216293" cy="1527440"/>
            <a:chOff x="11349438" y="764179"/>
            <a:chExt cx="216293" cy="1527440"/>
          </a:xfrm>
        </p:grpSpPr>
        <p:sp>
          <p:nvSpPr>
            <p:cNvPr id="45" name="等腰三角形 44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等腰三角形 45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等腰三角形 47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30" name="图片 29" descr="caef76094b36acaf4fbac5a272e12c1600e99c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880" y="381635"/>
            <a:ext cx="792480" cy="158623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255731" y="1865904"/>
            <a:ext cx="5224866" cy="4217987"/>
            <a:chOff x="1255731" y="1865904"/>
            <a:chExt cx="5224866" cy="4217987"/>
          </a:xfrm>
        </p:grpSpPr>
        <p:sp>
          <p:nvSpPr>
            <p:cNvPr id="3" name="椭圆 2"/>
            <p:cNvSpPr/>
            <p:nvPr/>
          </p:nvSpPr>
          <p:spPr>
            <a:xfrm>
              <a:off x="1255731" y="1865904"/>
              <a:ext cx="4217987" cy="4217987"/>
            </a:xfrm>
            <a:prstGeom prst="ellipse">
              <a:avLst/>
            </a:prstGeom>
            <a:noFill/>
            <a:ln>
              <a:solidFill>
                <a:srgbClr val="005FA5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2585153" y="5549397"/>
              <a:ext cx="1579162" cy="338554"/>
            </a:xfrm>
            <a:prstGeom prst="rect">
              <a:avLst/>
            </a:prstGeom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rPr>
                <a:t>心肌自主</a:t>
              </a:r>
              <a:endParaRPr lang="zh-CN" altLang="en-US" sz="1600" dirty="0">
                <a:solidFill>
                  <a:schemeClr val="bg2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655780" y="1865904"/>
              <a:ext cx="3417887" cy="3417887"/>
            </a:xfrm>
            <a:prstGeom prst="ellipse">
              <a:avLst/>
            </a:prstGeom>
            <a:noFill/>
            <a:ln>
              <a:solidFill>
                <a:srgbClr val="005FA5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585153" y="4707325"/>
              <a:ext cx="1579162" cy="338554"/>
            </a:xfrm>
            <a:prstGeom prst="rect">
              <a:avLst/>
            </a:prstGeom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rPr>
                <a:t>效应输出</a:t>
              </a:r>
              <a:endParaRPr lang="zh-CN" altLang="en-US" sz="1600" dirty="0">
                <a:solidFill>
                  <a:schemeClr val="bg2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 flipH="1">
              <a:off x="4552712" y="3703170"/>
              <a:ext cx="1825682" cy="0"/>
            </a:xfrm>
            <a:prstGeom prst="line">
              <a:avLst/>
            </a:prstGeom>
            <a:ln w="15875">
              <a:solidFill>
                <a:srgbClr val="BAE2FF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4654915" y="4675023"/>
              <a:ext cx="1825682" cy="0"/>
            </a:xfrm>
            <a:prstGeom prst="line">
              <a:avLst/>
            </a:prstGeom>
            <a:ln w="15875">
              <a:solidFill>
                <a:srgbClr val="BAE2FF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4506446" y="5726555"/>
              <a:ext cx="1825682" cy="0"/>
            </a:xfrm>
            <a:prstGeom prst="line">
              <a:avLst/>
            </a:prstGeom>
            <a:ln w="15875">
              <a:solidFill>
                <a:srgbClr val="BAE2FF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/>
            <p:cNvSpPr/>
            <p:nvPr/>
          </p:nvSpPr>
          <p:spPr>
            <a:xfrm>
              <a:off x="2039501" y="1865904"/>
              <a:ext cx="2650444" cy="2650444"/>
            </a:xfrm>
            <a:prstGeom prst="ellipse">
              <a:avLst/>
            </a:prstGeom>
            <a:noFill/>
            <a:ln>
              <a:solidFill>
                <a:srgbClr val="005FA5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2585153" y="3897914"/>
              <a:ext cx="1579162" cy="338554"/>
            </a:xfrm>
            <a:prstGeom prst="rect">
              <a:avLst/>
            </a:prstGeom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rPr>
                <a:t>激活信号</a:t>
              </a:r>
              <a:endParaRPr lang="zh-CN" altLang="en-US" sz="1600" dirty="0">
                <a:solidFill>
                  <a:schemeClr val="bg2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2398729" y="1865904"/>
              <a:ext cx="1931987" cy="1931987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>
                <a:cs typeface="+mn-ea"/>
                <a:sym typeface="+mn-lt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2585153" y="2641489"/>
              <a:ext cx="1579162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cs typeface="+mn-ea"/>
                  <a:sym typeface="+mn-lt"/>
                </a:rPr>
                <a:t>启动信号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27" name="直接连接符 26"/>
            <p:cNvCxnSpPr/>
            <p:nvPr/>
          </p:nvCxnSpPr>
          <p:spPr>
            <a:xfrm flipH="1">
              <a:off x="4330716" y="2779017"/>
              <a:ext cx="1825682" cy="0"/>
            </a:xfrm>
            <a:prstGeom prst="line">
              <a:avLst/>
            </a:prstGeom>
            <a:ln w="15875">
              <a:solidFill>
                <a:srgbClr val="BAE2FF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/>
          <p:cNvSpPr txBox="1"/>
          <p:nvPr/>
        </p:nvSpPr>
        <p:spPr>
          <a:xfrm>
            <a:off x="5660142" y="2244679"/>
            <a:ext cx="5918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cs typeface="+mn-ea"/>
                <a:sym typeface="+mn-lt"/>
              </a:rPr>
              <a:t>01</a:t>
            </a:r>
            <a:endParaRPr lang="zh-CN" altLang="en-US" sz="2800" dirty="0"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841818" y="3168831"/>
            <a:ext cx="5918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cs typeface="+mn-ea"/>
                <a:sym typeface="+mn-lt"/>
              </a:rPr>
              <a:t>02</a:t>
            </a:r>
            <a:endParaRPr lang="zh-CN" altLang="en-US" sz="2800" dirty="0"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930446" y="4149797"/>
            <a:ext cx="5918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cs typeface="+mn-ea"/>
                <a:sym typeface="+mn-lt"/>
              </a:rPr>
              <a:t>03</a:t>
            </a:r>
            <a:endParaRPr lang="zh-CN" altLang="en-US" sz="2800" dirty="0">
              <a:cs typeface="+mn-ea"/>
              <a:sym typeface="+mn-lt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820924" y="5203335"/>
            <a:ext cx="5918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cs typeface="+mn-ea"/>
                <a:sym typeface="+mn-lt"/>
              </a:rPr>
              <a:t>04</a:t>
            </a:r>
            <a:endParaRPr lang="zh-CN" altLang="en-US" sz="2800" dirty="0">
              <a:cs typeface="+mn-ea"/>
              <a:sym typeface="+mn-lt"/>
            </a:endParaRPr>
          </a:p>
        </p:txBody>
      </p:sp>
      <p:sp>
        <p:nvSpPr>
          <p:cNvPr id="51" name="Text Box 10"/>
          <p:cNvSpPr txBox="1">
            <a:spLocks noChangeArrowheads="1"/>
          </p:cNvSpPr>
          <p:nvPr/>
        </p:nvSpPr>
        <p:spPr bwMode="auto">
          <a:xfrm>
            <a:off x="6391969" y="2244679"/>
            <a:ext cx="4471001" cy="5860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Toll 样受体激活 NF-κB，上调 NLRP3 与 pro-IL-1β 的转录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53" name="Text Box 10"/>
          <p:cNvSpPr txBox="1">
            <a:spLocks noChangeArrowheads="1"/>
          </p:cNvSpPr>
          <p:nvPr/>
        </p:nvSpPr>
        <p:spPr bwMode="auto">
          <a:xfrm>
            <a:off x="6591009" y="3307269"/>
            <a:ext cx="4471001" cy="5860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钾外流、活性氧蓄积、溶酶体破裂，促使复合物寡聚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55" name="Text Box 10"/>
          <p:cNvSpPr txBox="1">
            <a:spLocks noChangeArrowheads="1"/>
          </p:cNvSpPr>
          <p:nvPr/>
        </p:nvSpPr>
        <p:spPr bwMode="auto">
          <a:xfrm>
            <a:off x="6591009" y="4353611"/>
            <a:ext cx="4471001" cy="5860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caspase-1 剪切 pro-IL-1β/18 为成熟体，经非经典分泌释放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57" name="Text Box 10"/>
          <p:cNvSpPr txBox="1">
            <a:spLocks noChangeArrowheads="1"/>
          </p:cNvSpPr>
          <p:nvPr/>
        </p:nvSpPr>
        <p:spPr bwMode="auto">
          <a:xfrm>
            <a:off x="6591009" y="5361332"/>
            <a:ext cx="4471001" cy="5860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心房肌细胞自身表达全部组分，在模型与患者组织中均处激活态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63" name="Footer Text"/>
          <p:cNvSpPr txBox="1"/>
          <p:nvPr/>
        </p:nvSpPr>
        <p:spPr>
          <a:xfrm>
            <a:off x="1343247" y="710205"/>
            <a:ext cx="32956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cs typeface="+mn-ea"/>
                <a:sym typeface="+mn-lt"/>
              </a:rPr>
              <a:t>炎症小体的两步激活</a:t>
            </a:r>
            <a:endParaRPr lang="zh-CN" altLang="en-US" sz="2800" dirty="0">
              <a:cs typeface="+mn-ea"/>
              <a:sym typeface="+mn-lt"/>
            </a:endParaRPr>
          </a:p>
        </p:txBody>
      </p:sp>
      <p:pic>
        <p:nvPicPr>
          <p:cNvPr id="28" name="图片 27" descr="005Rm9jOly4grelek7dmbj30u00u0k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95325" y="601345"/>
            <a:ext cx="647700" cy="6477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</p:sld>
</file>

<file path=ppt/slides/slide2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 userDrawn="1"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1379690" y="2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1859995" y="797633"/>
            <a:ext cx="216293" cy="1527440"/>
            <a:chOff x="11349438" y="764179"/>
            <a:chExt cx="216293" cy="1527440"/>
          </a:xfrm>
        </p:grpSpPr>
        <p:sp>
          <p:nvSpPr>
            <p:cNvPr id="9" name="等腰三角形 8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3" name="任意多边形: 形状 42"/>
          <p:cNvSpPr/>
          <p:nvPr userDrawn="1"/>
        </p:nvSpPr>
        <p:spPr>
          <a:xfrm rot="10800000">
            <a:off x="1" y="6209613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/>
        </p:nvGrpSpPr>
        <p:grpSpPr>
          <a:xfrm rot="10800000">
            <a:off x="110007" y="4544081"/>
            <a:ext cx="216293" cy="1527440"/>
            <a:chOff x="11349438" y="764179"/>
            <a:chExt cx="216293" cy="1527440"/>
          </a:xfrm>
        </p:grpSpPr>
        <p:sp>
          <p:nvSpPr>
            <p:cNvPr id="45" name="等腰三角形 44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等腰三角形 45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等腰三角形 47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30" name="图片 29" descr="caef76094b36acaf4fbac5a272e12c1600e99c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880" y="381635"/>
            <a:ext cx="792480" cy="1586230"/>
          </a:xfrm>
          <a:prstGeom prst="rect">
            <a:avLst/>
          </a:prstGeom>
        </p:spPr>
      </p:pic>
      <p:grpSp>
        <p:nvGrpSpPr>
          <p:cNvPr id="2" name="Group 90"/>
          <p:cNvGrpSpPr/>
          <p:nvPr/>
        </p:nvGrpSpPr>
        <p:grpSpPr>
          <a:xfrm rot="5400000">
            <a:off x="6219761" y="2201125"/>
            <a:ext cx="529404" cy="64771"/>
            <a:chOff x="9137503" y="1527024"/>
            <a:chExt cx="529404" cy="64771"/>
          </a:xfrm>
          <a:solidFill>
            <a:schemeClr val="accent1"/>
          </a:solidFill>
        </p:grpSpPr>
        <p:cxnSp>
          <p:nvCxnSpPr>
            <p:cNvPr id="3" name="Straight Connector 91"/>
            <p:cNvCxnSpPr/>
            <p:nvPr/>
          </p:nvCxnSpPr>
          <p:spPr>
            <a:xfrm rot="16200000">
              <a:off x="9346208" y="1350704"/>
              <a:ext cx="0" cy="417409"/>
            </a:xfrm>
            <a:prstGeom prst="line">
              <a:avLst/>
            </a:prstGeom>
            <a:grpFill/>
            <a:ln w="44450" cap="rnd">
              <a:solidFill>
                <a:srgbClr val="005F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92"/>
            <p:cNvSpPr>
              <a:spLocks noChangeAspect="1"/>
            </p:cNvSpPr>
            <p:nvPr/>
          </p:nvSpPr>
          <p:spPr>
            <a:xfrm>
              <a:off x="9602136" y="1527024"/>
              <a:ext cx="64771" cy="64771"/>
            </a:xfrm>
            <a:prstGeom prst="ellipse">
              <a:avLst/>
            </a:prstGeom>
            <a:grpFill/>
            <a:ln>
              <a:solidFill>
                <a:srgbClr val="005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</p:grpSp>
      <p:grpSp>
        <p:nvGrpSpPr>
          <p:cNvPr id="6" name="Group 96"/>
          <p:cNvGrpSpPr/>
          <p:nvPr/>
        </p:nvGrpSpPr>
        <p:grpSpPr>
          <a:xfrm rot="5400000">
            <a:off x="6219761" y="3274879"/>
            <a:ext cx="529404" cy="64771"/>
            <a:chOff x="9137503" y="1527024"/>
            <a:chExt cx="529404" cy="64771"/>
          </a:xfrm>
          <a:solidFill>
            <a:schemeClr val="accent1"/>
          </a:solidFill>
        </p:grpSpPr>
        <p:cxnSp>
          <p:nvCxnSpPr>
            <p:cNvPr id="8" name="Straight Connector 97"/>
            <p:cNvCxnSpPr/>
            <p:nvPr/>
          </p:nvCxnSpPr>
          <p:spPr>
            <a:xfrm rot="16200000">
              <a:off x="9346208" y="1350704"/>
              <a:ext cx="0" cy="417409"/>
            </a:xfrm>
            <a:prstGeom prst="line">
              <a:avLst/>
            </a:prstGeom>
            <a:grpFill/>
            <a:ln w="44450" cap="rnd">
              <a:solidFill>
                <a:srgbClr val="005F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98"/>
            <p:cNvSpPr>
              <a:spLocks noChangeAspect="1"/>
            </p:cNvSpPr>
            <p:nvPr/>
          </p:nvSpPr>
          <p:spPr>
            <a:xfrm>
              <a:off x="9602136" y="1527024"/>
              <a:ext cx="64771" cy="64771"/>
            </a:xfrm>
            <a:prstGeom prst="ellipse">
              <a:avLst/>
            </a:prstGeom>
            <a:grpFill/>
            <a:ln>
              <a:solidFill>
                <a:srgbClr val="005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</p:grpSp>
      <p:grpSp>
        <p:nvGrpSpPr>
          <p:cNvPr id="15" name="Group 102"/>
          <p:cNvGrpSpPr/>
          <p:nvPr/>
        </p:nvGrpSpPr>
        <p:grpSpPr>
          <a:xfrm rot="5400000">
            <a:off x="6219761" y="4367305"/>
            <a:ext cx="529404" cy="64771"/>
            <a:chOff x="9137503" y="1527024"/>
            <a:chExt cx="529404" cy="64771"/>
          </a:xfrm>
          <a:solidFill>
            <a:schemeClr val="accent1"/>
          </a:solidFill>
        </p:grpSpPr>
        <p:cxnSp>
          <p:nvCxnSpPr>
            <p:cNvPr id="16" name="Straight Connector 103"/>
            <p:cNvCxnSpPr/>
            <p:nvPr/>
          </p:nvCxnSpPr>
          <p:spPr>
            <a:xfrm rot="16200000">
              <a:off x="9346208" y="1350704"/>
              <a:ext cx="0" cy="417409"/>
            </a:xfrm>
            <a:prstGeom prst="line">
              <a:avLst/>
            </a:prstGeom>
            <a:grpFill/>
            <a:ln w="44450" cap="rnd">
              <a:solidFill>
                <a:srgbClr val="005F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04"/>
            <p:cNvSpPr>
              <a:spLocks noChangeAspect="1"/>
            </p:cNvSpPr>
            <p:nvPr/>
          </p:nvSpPr>
          <p:spPr>
            <a:xfrm>
              <a:off x="9602136" y="1527024"/>
              <a:ext cx="64771" cy="64771"/>
            </a:xfrm>
            <a:prstGeom prst="ellipse">
              <a:avLst/>
            </a:prstGeom>
            <a:grpFill/>
            <a:ln>
              <a:solidFill>
                <a:srgbClr val="005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</p:grpSp>
      <p:grpSp>
        <p:nvGrpSpPr>
          <p:cNvPr id="18" name="Group 108"/>
          <p:cNvGrpSpPr/>
          <p:nvPr/>
        </p:nvGrpSpPr>
        <p:grpSpPr>
          <a:xfrm rot="5400000">
            <a:off x="6219761" y="5448054"/>
            <a:ext cx="529404" cy="64771"/>
            <a:chOff x="9137503" y="1527024"/>
            <a:chExt cx="529404" cy="64771"/>
          </a:xfrm>
          <a:solidFill>
            <a:schemeClr val="accent1"/>
          </a:solidFill>
        </p:grpSpPr>
        <p:cxnSp>
          <p:nvCxnSpPr>
            <p:cNvPr id="19" name="Straight Connector 109"/>
            <p:cNvCxnSpPr/>
            <p:nvPr/>
          </p:nvCxnSpPr>
          <p:spPr>
            <a:xfrm rot="16200000">
              <a:off x="9346208" y="1350704"/>
              <a:ext cx="0" cy="417409"/>
            </a:xfrm>
            <a:prstGeom prst="line">
              <a:avLst/>
            </a:prstGeom>
            <a:grpFill/>
            <a:ln w="44450" cap="rnd">
              <a:solidFill>
                <a:srgbClr val="005F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10"/>
            <p:cNvSpPr>
              <a:spLocks noChangeAspect="1"/>
            </p:cNvSpPr>
            <p:nvPr/>
          </p:nvSpPr>
          <p:spPr>
            <a:xfrm>
              <a:off x="9602136" y="1527024"/>
              <a:ext cx="64771" cy="64771"/>
            </a:xfrm>
            <a:prstGeom prst="ellipse">
              <a:avLst/>
            </a:prstGeom>
            <a:grpFill/>
            <a:ln>
              <a:solidFill>
                <a:srgbClr val="005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</p:grpSp>
      <p:sp>
        <p:nvSpPr>
          <p:cNvPr id="38" name="Text Box 10"/>
          <p:cNvSpPr txBox="1">
            <a:spLocks noChangeArrowheads="1"/>
          </p:cNvSpPr>
          <p:nvPr/>
        </p:nvSpPr>
        <p:spPr bwMode="auto">
          <a:xfrm>
            <a:off x="6725401" y="2193675"/>
            <a:ext cx="4211043" cy="5807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合并房颤的 CKD 患者循环 IL-1β 高于窦律者，心房 NLRP3 活性增强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695907" y="1856234"/>
            <a:ext cx="199966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促炎证据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0" name="Text Box 10"/>
          <p:cNvSpPr txBox="1">
            <a:spLocks noChangeArrowheads="1"/>
          </p:cNvSpPr>
          <p:nvPr/>
        </p:nvSpPr>
        <p:spPr bwMode="auto">
          <a:xfrm>
            <a:off x="6725401" y="3265307"/>
            <a:ext cx="4211043" cy="5807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敲除 Nlrp3 或中和 IL-1β，左房内径回退、纤维化减轻、诱发率下降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695907" y="2927866"/>
            <a:ext cx="199966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干预可逆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2" name="Text Box 10"/>
          <p:cNvSpPr txBox="1">
            <a:spLocks noChangeArrowheads="1"/>
          </p:cNvSpPr>
          <p:nvPr/>
        </p:nvSpPr>
        <p:spPr bwMode="auto">
          <a:xfrm>
            <a:off x="6725401" y="4354403"/>
            <a:ext cx="4211043" cy="5807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SCFA 经 GPR43 下调 NLRP3，补充后可逆转低纤维饮食所致易感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695907" y="4016962"/>
            <a:ext cx="199966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抑炎通路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3" name="Text Box 10"/>
          <p:cNvSpPr txBox="1">
            <a:spLocks noChangeArrowheads="1"/>
          </p:cNvSpPr>
          <p:nvPr/>
        </p:nvSpPr>
        <p:spPr bwMode="auto">
          <a:xfrm>
            <a:off x="6725401" y="5443499"/>
            <a:ext cx="4211043" cy="5807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人群多为横断面设计，机制多来自啮齿类，不能直接外推为因果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695907" y="5106058"/>
            <a:ext cx="199966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证据边界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255557" y="1656193"/>
            <a:ext cx="4382600" cy="4378175"/>
            <a:chOff x="834708" y="1656193"/>
            <a:chExt cx="4382600" cy="4378175"/>
          </a:xfrm>
        </p:grpSpPr>
        <p:grpSp>
          <p:nvGrpSpPr>
            <p:cNvPr id="26" name="Group 1"/>
            <p:cNvGrpSpPr/>
            <p:nvPr/>
          </p:nvGrpSpPr>
          <p:grpSpPr>
            <a:xfrm>
              <a:off x="1083092" y="2260185"/>
              <a:ext cx="2391639" cy="2391636"/>
              <a:chOff x="4375398" y="5077931"/>
              <a:chExt cx="4783278" cy="4783272"/>
            </a:xfrm>
            <a:solidFill>
              <a:schemeClr val="accent1"/>
            </a:solidFill>
          </p:grpSpPr>
          <p:sp>
            <p:nvSpPr>
              <p:cNvPr id="36" name="Freeform 5"/>
              <p:cNvSpPr/>
              <p:nvPr/>
            </p:nvSpPr>
            <p:spPr>
              <a:xfrm>
                <a:off x="4375398" y="5077931"/>
                <a:ext cx="4783278" cy="4783272"/>
              </a:xfrm>
              <a:custGeom>
                <a:avLst/>
                <a:gdLst>
                  <a:gd name="connsiteX0" fmla="*/ 1124074 w 1583637"/>
                  <a:gd name="connsiteY0" fmla="*/ 252493 h 1583637"/>
                  <a:gd name="connsiteX1" fmla="*/ 1247256 w 1583637"/>
                  <a:gd name="connsiteY1" fmla="*/ 149126 h 1583637"/>
                  <a:gd name="connsiteX2" fmla="*/ 1345663 w 1583637"/>
                  <a:gd name="connsiteY2" fmla="*/ 231701 h 1583637"/>
                  <a:gd name="connsiteX3" fmla="*/ 1265256 w 1583637"/>
                  <a:gd name="connsiteY3" fmla="*/ 370961 h 1583637"/>
                  <a:gd name="connsiteX4" fmla="*/ 1393012 w 1583637"/>
                  <a:gd name="connsiteY4" fmla="*/ 592241 h 1583637"/>
                  <a:gd name="connsiteX5" fmla="*/ 1553818 w 1583637"/>
                  <a:gd name="connsiteY5" fmla="*/ 592237 h 1583637"/>
                  <a:gd name="connsiteX6" fmla="*/ 1576125 w 1583637"/>
                  <a:gd name="connsiteY6" fmla="*/ 718748 h 1583637"/>
                  <a:gd name="connsiteX7" fmla="*/ 1425015 w 1583637"/>
                  <a:gd name="connsiteY7" fmla="*/ 773743 h 1583637"/>
                  <a:gd name="connsiteX8" fmla="*/ 1380646 w 1583637"/>
                  <a:gd name="connsiteY8" fmla="*/ 1025372 h 1583637"/>
                  <a:gd name="connsiteX9" fmla="*/ 1503833 w 1583637"/>
                  <a:gd name="connsiteY9" fmla="*/ 1128733 h 1583637"/>
                  <a:gd name="connsiteX10" fmla="*/ 1439602 w 1583637"/>
                  <a:gd name="connsiteY10" fmla="*/ 1239984 h 1583637"/>
                  <a:gd name="connsiteX11" fmla="*/ 1288495 w 1583637"/>
                  <a:gd name="connsiteY11" fmla="*/ 1184982 h 1583637"/>
                  <a:gd name="connsiteX12" fmla="*/ 1092761 w 1583637"/>
                  <a:gd name="connsiteY12" fmla="*/ 1349222 h 1583637"/>
                  <a:gd name="connsiteX13" fmla="*/ 1120689 w 1583637"/>
                  <a:gd name="connsiteY13" fmla="*/ 1507584 h 1583637"/>
                  <a:gd name="connsiteX14" fmla="*/ 999974 w 1583637"/>
                  <a:gd name="connsiteY14" fmla="*/ 1551521 h 1583637"/>
                  <a:gd name="connsiteX15" fmla="*/ 919574 w 1583637"/>
                  <a:gd name="connsiteY15" fmla="*/ 1412257 h 1583637"/>
                  <a:gd name="connsiteX16" fmla="*/ 664062 w 1583637"/>
                  <a:gd name="connsiteY16" fmla="*/ 1412257 h 1583637"/>
                  <a:gd name="connsiteX17" fmla="*/ 583663 w 1583637"/>
                  <a:gd name="connsiteY17" fmla="*/ 1551521 h 1583637"/>
                  <a:gd name="connsiteX18" fmla="*/ 462948 w 1583637"/>
                  <a:gd name="connsiteY18" fmla="*/ 1507584 h 1583637"/>
                  <a:gd name="connsiteX19" fmla="*/ 490876 w 1583637"/>
                  <a:gd name="connsiteY19" fmla="*/ 1349222 h 1583637"/>
                  <a:gd name="connsiteX20" fmla="*/ 295142 w 1583637"/>
                  <a:gd name="connsiteY20" fmla="*/ 1184981 h 1583637"/>
                  <a:gd name="connsiteX21" fmla="*/ 144035 w 1583637"/>
                  <a:gd name="connsiteY21" fmla="*/ 1239984 h 1583637"/>
                  <a:gd name="connsiteX22" fmla="*/ 79804 w 1583637"/>
                  <a:gd name="connsiteY22" fmla="*/ 1128733 h 1583637"/>
                  <a:gd name="connsiteX23" fmla="*/ 202991 w 1583637"/>
                  <a:gd name="connsiteY23" fmla="*/ 1025372 h 1583637"/>
                  <a:gd name="connsiteX24" fmla="*/ 158622 w 1583637"/>
                  <a:gd name="connsiteY24" fmla="*/ 773743 h 1583637"/>
                  <a:gd name="connsiteX25" fmla="*/ 7512 w 1583637"/>
                  <a:gd name="connsiteY25" fmla="*/ 718748 h 1583637"/>
                  <a:gd name="connsiteX26" fmla="*/ 29819 w 1583637"/>
                  <a:gd name="connsiteY26" fmla="*/ 592237 h 1583637"/>
                  <a:gd name="connsiteX27" fmla="*/ 190625 w 1583637"/>
                  <a:gd name="connsiteY27" fmla="*/ 592241 h 1583637"/>
                  <a:gd name="connsiteX28" fmla="*/ 318381 w 1583637"/>
                  <a:gd name="connsiteY28" fmla="*/ 370961 h 1583637"/>
                  <a:gd name="connsiteX29" fmla="*/ 237974 w 1583637"/>
                  <a:gd name="connsiteY29" fmla="*/ 231701 h 1583637"/>
                  <a:gd name="connsiteX30" fmla="*/ 336381 w 1583637"/>
                  <a:gd name="connsiteY30" fmla="*/ 149126 h 1583637"/>
                  <a:gd name="connsiteX31" fmla="*/ 459563 w 1583637"/>
                  <a:gd name="connsiteY31" fmla="*/ 252493 h 1583637"/>
                  <a:gd name="connsiteX32" fmla="*/ 699666 w 1583637"/>
                  <a:gd name="connsiteY32" fmla="*/ 165103 h 1583637"/>
                  <a:gd name="connsiteX33" fmla="*/ 727586 w 1583637"/>
                  <a:gd name="connsiteY33" fmla="*/ 6739 h 1583637"/>
                  <a:gd name="connsiteX34" fmla="*/ 856051 w 1583637"/>
                  <a:gd name="connsiteY34" fmla="*/ 6739 h 1583637"/>
                  <a:gd name="connsiteX35" fmla="*/ 883970 w 1583637"/>
                  <a:gd name="connsiteY35" fmla="*/ 165102 h 1583637"/>
                  <a:gd name="connsiteX36" fmla="*/ 1124073 w 1583637"/>
                  <a:gd name="connsiteY36" fmla="*/ 252493 h 1583637"/>
                  <a:gd name="connsiteX37" fmla="*/ 1124074 w 1583637"/>
                  <a:gd name="connsiteY37" fmla="*/ 252493 h 1583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56388" tIns="548497" rIns="356388" bIns="436642" numCol="1" spcCol="1270" anchor="ctr" anchorCtr="0">
                <a:noAutofit/>
              </a:bodyPr>
              <a:lstStyle/>
              <a:p>
                <a:pPr algn="ctr" defTabSz="133286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000" b="1" dirty="0">
                  <a:cs typeface="+mn-ea"/>
                  <a:sym typeface="+mn-lt"/>
                </a:endParaRPr>
              </a:p>
            </p:txBody>
          </p:sp>
          <p:sp>
            <p:nvSpPr>
              <p:cNvPr id="37" name="Oval 6"/>
              <p:cNvSpPr/>
              <p:nvPr/>
            </p:nvSpPr>
            <p:spPr>
              <a:xfrm>
                <a:off x="5283198" y="5985728"/>
                <a:ext cx="2967677" cy="2967679"/>
              </a:xfrm>
              <a:prstGeom prst="ellipse">
                <a:avLst/>
              </a:prstGeom>
              <a:solidFill>
                <a:srgbClr val="005FA5"/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27" name="Group 2"/>
            <p:cNvGrpSpPr/>
            <p:nvPr/>
          </p:nvGrpSpPr>
          <p:grpSpPr>
            <a:xfrm>
              <a:off x="3050409" y="3497941"/>
              <a:ext cx="2032093" cy="2032090"/>
              <a:chOff x="8310032" y="7553444"/>
              <a:chExt cx="4064185" cy="4064179"/>
            </a:xfrm>
          </p:grpSpPr>
          <p:sp>
            <p:nvSpPr>
              <p:cNvPr id="34" name="Freeform 8"/>
              <p:cNvSpPr/>
              <p:nvPr/>
            </p:nvSpPr>
            <p:spPr>
              <a:xfrm>
                <a:off x="8310032" y="7553444"/>
                <a:ext cx="4064185" cy="4064179"/>
              </a:xfrm>
              <a:custGeom>
                <a:avLst/>
                <a:gdLst>
                  <a:gd name="connsiteX0" fmla="*/ 1124074 w 1583637"/>
                  <a:gd name="connsiteY0" fmla="*/ 252493 h 1583637"/>
                  <a:gd name="connsiteX1" fmla="*/ 1247256 w 1583637"/>
                  <a:gd name="connsiteY1" fmla="*/ 149126 h 1583637"/>
                  <a:gd name="connsiteX2" fmla="*/ 1345663 w 1583637"/>
                  <a:gd name="connsiteY2" fmla="*/ 231701 h 1583637"/>
                  <a:gd name="connsiteX3" fmla="*/ 1265256 w 1583637"/>
                  <a:gd name="connsiteY3" fmla="*/ 370961 h 1583637"/>
                  <a:gd name="connsiteX4" fmla="*/ 1393012 w 1583637"/>
                  <a:gd name="connsiteY4" fmla="*/ 592241 h 1583637"/>
                  <a:gd name="connsiteX5" fmla="*/ 1553818 w 1583637"/>
                  <a:gd name="connsiteY5" fmla="*/ 592237 h 1583637"/>
                  <a:gd name="connsiteX6" fmla="*/ 1576125 w 1583637"/>
                  <a:gd name="connsiteY6" fmla="*/ 718748 h 1583637"/>
                  <a:gd name="connsiteX7" fmla="*/ 1425015 w 1583637"/>
                  <a:gd name="connsiteY7" fmla="*/ 773743 h 1583637"/>
                  <a:gd name="connsiteX8" fmla="*/ 1380646 w 1583637"/>
                  <a:gd name="connsiteY8" fmla="*/ 1025372 h 1583637"/>
                  <a:gd name="connsiteX9" fmla="*/ 1503833 w 1583637"/>
                  <a:gd name="connsiteY9" fmla="*/ 1128733 h 1583637"/>
                  <a:gd name="connsiteX10" fmla="*/ 1439602 w 1583637"/>
                  <a:gd name="connsiteY10" fmla="*/ 1239984 h 1583637"/>
                  <a:gd name="connsiteX11" fmla="*/ 1288495 w 1583637"/>
                  <a:gd name="connsiteY11" fmla="*/ 1184982 h 1583637"/>
                  <a:gd name="connsiteX12" fmla="*/ 1092761 w 1583637"/>
                  <a:gd name="connsiteY12" fmla="*/ 1349222 h 1583637"/>
                  <a:gd name="connsiteX13" fmla="*/ 1120689 w 1583637"/>
                  <a:gd name="connsiteY13" fmla="*/ 1507584 h 1583637"/>
                  <a:gd name="connsiteX14" fmla="*/ 999974 w 1583637"/>
                  <a:gd name="connsiteY14" fmla="*/ 1551521 h 1583637"/>
                  <a:gd name="connsiteX15" fmla="*/ 919574 w 1583637"/>
                  <a:gd name="connsiteY15" fmla="*/ 1412257 h 1583637"/>
                  <a:gd name="connsiteX16" fmla="*/ 664062 w 1583637"/>
                  <a:gd name="connsiteY16" fmla="*/ 1412257 h 1583637"/>
                  <a:gd name="connsiteX17" fmla="*/ 583663 w 1583637"/>
                  <a:gd name="connsiteY17" fmla="*/ 1551521 h 1583637"/>
                  <a:gd name="connsiteX18" fmla="*/ 462948 w 1583637"/>
                  <a:gd name="connsiteY18" fmla="*/ 1507584 h 1583637"/>
                  <a:gd name="connsiteX19" fmla="*/ 490876 w 1583637"/>
                  <a:gd name="connsiteY19" fmla="*/ 1349222 h 1583637"/>
                  <a:gd name="connsiteX20" fmla="*/ 295142 w 1583637"/>
                  <a:gd name="connsiteY20" fmla="*/ 1184981 h 1583637"/>
                  <a:gd name="connsiteX21" fmla="*/ 144035 w 1583637"/>
                  <a:gd name="connsiteY21" fmla="*/ 1239984 h 1583637"/>
                  <a:gd name="connsiteX22" fmla="*/ 79804 w 1583637"/>
                  <a:gd name="connsiteY22" fmla="*/ 1128733 h 1583637"/>
                  <a:gd name="connsiteX23" fmla="*/ 202991 w 1583637"/>
                  <a:gd name="connsiteY23" fmla="*/ 1025372 h 1583637"/>
                  <a:gd name="connsiteX24" fmla="*/ 158622 w 1583637"/>
                  <a:gd name="connsiteY24" fmla="*/ 773743 h 1583637"/>
                  <a:gd name="connsiteX25" fmla="*/ 7512 w 1583637"/>
                  <a:gd name="connsiteY25" fmla="*/ 718748 h 1583637"/>
                  <a:gd name="connsiteX26" fmla="*/ 29819 w 1583637"/>
                  <a:gd name="connsiteY26" fmla="*/ 592237 h 1583637"/>
                  <a:gd name="connsiteX27" fmla="*/ 190625 w 1583637"/>
                  <a:gd name="connsiteY27" fmla="*/ 592241 h 1583637"/>
                  <a:gd name="connsiteX28" fmla="*/ 318381 w 1583637"/>
                  <a:gd name="connsiteY28" fmla="*/ 370961 h 1583637"/>
                  <a:gd name="connsiteX29" fmla="*/ 237974 w 1583637"/>
                  <a:gd name="connsiteY29" fmla="*/ 231701 h 1583637"/>
                  <a:gd name="connsiteX30" fmla="*/ 336381 w 1583637"/>
                  <a:gd name="connsiteY30" fmla="*/ 149126 h 1583637"/>
                  <a:gd name="connsiteX31" fmla="*/ 459563 w 1583637"/>
                  <a:gd name="connsiteY31" fmla="*/ 252493 h 1583637"/>
                  <a:gd name="connsiteX32" fmla="*/ 699666 w 1583637"/>
                  <a:gd name="connsiteY32" fmla="*/ 165103 h 1583637"/>
                  <a:gd name="connsiteX33" fmla="*/ 727586 w 1583637"/>
                  <a:gd name="connsiteY33" fmla="*/ 6739 h 1583637"/>
                  <a:gd name="connsiteX34" fmla="*/ 856051 w 1583637"/>
                  <a:gd name="connsiteY34" fmla="*/ 6739 h 1583637"/>
                  <a:gd name="connsiteX35" fmla="*/ 883970 w 1583637"/>
                  <a:gd name="connsiteY35" fmla="*/ 165102 h 1583637"/>
                  <a:gd name="connsiteX36" fmla="*/ 1124073 w 1583637"/>
                  <a:gd name="connsiteY36" fmla="*/ 252493 h 1583637"/>
                  <a:gd name="connsiteX37" fmla="*/ 1124074 w 1583637"/>
                  <a:gd name="connsiteY37" fmla="*/ 252493 h 1583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56388" tIns="548497" rIns="356388" bIns="436642" numCol="1" spcCol="1270" anchor="ctr" anchorCtr="0">
                <a:noAutofit/>
              </a:bodyPr>
              <a:lstStyle/>
              <a:p>
                <a:pPr algn="ctr" defTabSz="133286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000" b="1" dirty="0">
                  <a:cs typeface="+mn-ea"/>
                  <a:sym typeface="+mn-lt"/>
                </a:endParaRPr>
              </a:p>
            </p:txBody>
          </p:sp>
          <p:sp>
            <p:nvSpPr>
              <p:cNvPr id="35" name="Oval 9"/>
              <p:cNvSpPr/>
              <p:nvPr/>
            </p:nvSpPr>
            <p:spPr>
              <a:xfrm>
                <a:off x="9006234" y="8249648"/>
                <a:ext cx="2671784" cy="2671774"/>
              </a:xfrm>
              <a:prstGeom prst="ellipse">
                <a:avLst/>
              </a:prstGeom>
              <a:solidFill>
                <a:srgbClr val="005FA5"/>
              </a:soli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28" name="Group 22"/>
            <p:cNvGrpSpPr/>
            <p:nvPr/>
          </p:nvGrpSpPr>
          <p:grpSpPr>
            <a:xfrm>
              <a:off x="1517664" y="4483226"/>
              <a:ext cx="1551145" cy="1551142"/>
              <a:chOff x="5244543" y="9524013"/>
              <a:chExt cx="3102290" cy="3102284"/>
            </a:xfrm>
            <a:solidFill>
              <a:schemeClr val="accent5"/>
            </a:solidFill>
          </p:grpSpPr>
          <p:sp>
            <p:nvSpPr>
              <p:cNvPr id="29" name="Freeform 11"/>
              <p:cNvSpPr/>
              <p:nvPr/>
            </p:nvSpPr>
            <p:spPr>
              <a:xfrm>
                <a:off x="5244543" y="9524013"/>
                <a:ext cx="3102290" cy="3102284"/>
              </a:xfrm>
              <a:custGeom>
                <a:avLst/>
                <a:gdLst>
                  <a:gd name="connsiteX0" fmla="*/ 1124074 w 1583637"/>
                  <a:gd name="connsiteY0" fmla="*/ 252493 h 1583637"/>
                  <a:gd name="connsiteX1" fmla="*/ 1247256 w 1583637"/>
                  <a:gd name="connsiteY1" fmla="*/ 149126 h 1583637"/>
                  <a:gd name="connsiteX2" fmla="*/ 1345663 w 1583637"/>
                  <a:gd name="connsiteY2" fmla="*/ 231701 h 1583637"/>
                  <a:gd name="connsiteX3" fmla="*/ 1265256 w 1583637"/>
                  <a:gd name="connsiteY3" fmla="*/ 370961 h 1583637"/>
                  <a:gd name="connsiteX4" fmla="*/ 1393012 w 1583637"/>
                  <a:gd name="connsiteY4" fmla="*/ 592241 h 1583637"/>
                  <a:gd name="connsiteX5" fmla="*/ 1553818 w 1583637"/>
                  <a:gd name="connsiteY5" fmla="*/ 592237 h 1583637"/>
                  <a:gd name="connsiteX6" fmla="*/ 1576125 w 1583637"/>
                  <a:gd name="connsiteY6" fmla="*/ 718748 h 1583637"/>
                  <a:gd name="connsiteX7" fmla="*/ 1425015 w 1583637"/>
                  <a:gd name="connsiteY7" fmla="*/ 773743 h 1583637"/>
                  <a:gd name="connsiteX8" fmla="*/ 1380646 w 1583637"/>
                  <a:gd name="connsiteY8" fmla="*/ 1025372 h 1583637"/>
                  <a:gd name="connsiteX9" fmla="*/ 1503833 w 1583637"/>
                  <a:gd name="connsiteY9" fmla="*/ 1128733 h 1583637"/>
                  <a:gd name="connsiteX10" fmla="*/ 1439602 w 1583637"/>
                  <a:gd name="connsiteY10" fmla="*/ 1239984 h 1583637"/>
                  <a:gd name="connsiteX11" fmla="*/ 1288495 w 1583637"/>
                  <a:gd name="connsiteY11" fmla="*/ 1184982 h 1583637"/>
                  <a:gd name="connsiteX12" fmla="*/ 1092761 w 1583637"/>
                  <a:gd name="connsiteY12" fmla="*/ 1349222 h 1583637"/>
                  <a:gd name="connsiteX13" fmla="*/ 1120689 w 1583637"/>
                  <a:gd name="connsiteY13" fmla="*/ 1507584 h 1583637"/>
                  <a:gd name="connsiteX14" fmla="*/ 999974 w 1583637"/>
                  <a:gd name="connsiteY14" fmla="*/ 1551521 h 1583637"/>
                  <a:gd name="connsiteX15" fmla="*/ 919574 w 1583637"/>
                  <a:gd name="connsiteY15" fmla="*/ 1412257 h 1583637"/>
                  <a:gd name="connsiteX16" fmla="*/ 664062 w 1583637"/>
                  <a:gd name="connsiteY16" fmla="*/ 1412257 h 1583637"/>
                  <a:gd name="connsiteX17" fmla="*/ 583663 w 1583637"/>
                  <a:gd name="connsiteY17" fmla="*/ 1551521 h 1583637"/>
                  <a:gd name="connsiteX18" fmla="*/ 462948 w 1583637"/>
                  <a:gd name="connsiteY18" fmla="*/ 1507584 h 1583637"/>
                  <a:gd name="connsiteX19" fmla="*/ 490876 w 1583637"/>
                  <a:gd name="connsiteY19" fmla="*/ 1349222 h 1583637"/>
                  <a:gd name="connsiteX20" fmla="*/ 295142 w 1583637"/>
                  <a:gd name="connsiteY20" fmla="*/ 1184981 h 1583637"/>
                  <a:gd name="connsiteX21" fmla="*/ 144035 w 1583637"/>
                  <a:gd name="connsiteY21" fmla="*/ 1239984 h 1583637"/>
                  <a:gd name="connsiteX22" fmla="*/ 79804 w 1583637"/>
                  <a:gd name="connsiteY22" fmla="*/ 1128733 h 1583637"/>
                  <a:gd name="connsiteX23" fmla="*/ 202991 w 1583637"/>
                  <a:gd name="connsiteY23" fmla="*/ 1025372 h 1583637"/>
                  <a:gd name="connsiteX24" fmla="*/ 158622 w 1583637"/>
                  <a:gd name="connsiteY24" fmla="*/ 773743 h 1583637"/>
                  <a:gd name="connsiteX25" fmla="*/ 7512 w 1583637"/>
                  <a:gd name="connsiteY25" fmla="*/ 718748 h 1583637"/>
                  <a:gd name="connsiteX26" fmla="*/ 29819 w 1583637"/>
                  <a:gd name="connsiteY26" fmla="*/ 592237 h 1583637"/>
                  <a:gd name="connsiteX27" fmla="*/ 190625 w 1583637"/>
                  <a:gd name="connsiteY27" fmla="*/ 592241 h 1583637"/>
                  <a:gd name="connsiteX28" fmla="*/ 318381 w 1583637"/>
                  <a:gd name="connsiteY28" fmla="*/ 370961 h 1583637"/>
                  <a:gd name="connsiteX29" fmla="*/ 237974 w 1583637"/>
                  <a:gd name="connsiteY29" fmla="*/ 231701 h 1583637"/>
                  <a:gd name="connsiteX30" fmla="*/ 336381 w 1583637"/>
                  <a:gd name="connsiteY30" fmla="*/ 149126 h 1583637"/>
                  <a:gd name="connsiteX31" fmla="*/ 459563 w 1583637"/>
                  <a:gd name="connsiteY31" fmla="*/ 252493 h 1583637"/>
                  <a:gd name="connsiteX32" fmla="*/ 699666 w 1583637"/>
                  <a:gd name="connsiteY32" fmla="*/ 165103 h 1583637"/>
                  <a:gd name="connsiteX33" fmla="*/ 727586 w 1583637"/>
                  <a:gd name="connsiteY33" fmla="*/ 6739 h 1583637"/>
                  <a:gd name="connsiteX34" fmla="*/ 856051 w 1583637"/>
                  <a:gd name="connsiteY34" fmla="*/ 6739 h 1583637"/>
                  <a:gd name="connsiteX35" fmla="*/ 883970 w 1583637"/>
                  <a:gd name="connsiteY35" fmla="*/ 165102 h 1583637"/>
                  <a:gd name="connsiteX36" fmla="*/ 1124073 w 1583637"/>
                  <a:gd name="connsiteY36" fmla="*/ 252493 h 1583637"/>
                  <a:gd name="connsiteX37" fmla="*/ 1124074 w 1583637"/>
                  <a:gd name="connsiteY37" fmla="*/ 252493 h 1583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rgbClr val="BAE2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900" b="1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3" name="Oval 12"/>
              <p:cNvSpPr/>
              <p:nvPr/>
            </p:nvSpPr>
            <p:spPr>
              <a:xfrm>
                <a:off x="5833315" y="10112782"/>
                <a:ext cx="1924746" cy="1924746"/>
              </a:xfrm>
              <a:prstGeom prst="ellipse">
                <a:avLst/>
              </a:prstGeom>
              <a:solidFill>
                <a:srgbClr val="BAE2FF"/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b="1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1" name="Group 3"/>
            <p:cNvGrpSpPr/>
            <p:nvPr/>
          </p:nvGrpSpPr>
          <p:grpSpPr>
            <a:xfrm>
              <a:off x="3077110" y="1808108"/>
              <a:ext cx="1516998" cy="1516995"/>
              <a:chOff x="8363434" y="4173777"/>
              <a:chExt cx="3033996" cy="3033990"/>
            </a:xfrm>
            <a:solidFill>
              <a:schemeClr val="accent5"/>
            </a:solidFill>
          </p:grpSpPr>
          <p:sp>
            <p:nvSpPr>
              <p:cNvPr id="51" name="Freeform 14"/>
              <p:cNvSpPr/>
              <p:nvPr/>
            </p:nvSpPr>
            <p:spPr>
              <a:xfrm>
                <a:off x="8363434" y="4173777"/>
                <a:ext cx="3033996" cy="3033990"/>
              </a:xfrm>
              <a:custGeom>
                <a:avLst/>
                <a:gdLst>
                  <a:gd name="connsiteX0" fmla="*/ 1124074 w 1583637"/>
                  <a:gd name="connsiteY0" fmla="*/ 252493 h 1583637"/>
                  <a:gd name="connsiteX1" fmla="*/ 1247256 w 1583637"/>
                  <a:gd name="connsiteY1" fmla="*/ 149126 h 1583637"/>
                  <a:gd name="connsiteX2" fmla="*/ 1345663 w 1583637"/>
                  <a:gd name="connsiteY2" fmla="*/ 231701 h 1583637"/>
                  <a:gd name="connsiteX3" fmla="*/ 1265256 w 1583637"/>
                  <a:gd name="connsiteY3" fmla="*/ 370961 h 1583637"/>
                  <a:gd name="connsiteX4" fmla="*/ 1393012 w 1583637"/>
                  <a:gd name="connsiteY4" fmla="*/ 592241 h 1583637"/>
                  <a:gd name="connsiteX5" fmla="*/ 1553818 w 1583637"/>
                  <a:gd name="connsiteY5" fmla="*/ 592237 h 1583637"/>
                  <a:gd name="connsiteX6" fmla="*/ 1576125 w 1583637"/>
                  <a:gd name="connsiteY6" fmla="*/ 718748 h 1583637"/>
                  <a:gd name="connsiteX7" fmla="*/ 1425015 w 1583637"/>
                  <a:gd name="connsiteY7" fmla="*/ 773743 h 1583637"/>
                  <a:gd name="connsiteX8" fmla="*/ 1380646 w 1583637"/>
                  <a:gd name="connsiteY8" fmla="*/ 1025372 h 1583637"/>
                  <a:gd name="connsiteX9" fmla="*/ 1503833 w 1583637"/>
                  <a:gd name="connsiteY9" fmla="*/ 1128733 h 1583637"/>
                  <a:gd name="connsiteX10" fmla="*/ 1439602 w 1583637"/>
                  <a:gd name="connsiteY10" fmla="*/ 1239984 h 1583637"/>
                  <a:gd name="connsiteX11" fmla="*/ 1288495 w 1583637"/>
                  <a:gd name="connsiteY11" fmla="*/ 1184982 h 1583637"/>
                  <a:gd name="connsiteX12" fmla="*/ 1092761 w 1583637"/>
                  <a:gd name="connsiteY12" fmla="*/ 1349222 h 1583637"/>
                  <a:gd name="connsiteX13" fmla="*/ 1120689 w 1583637"/>
                  <a:gd name="connsiteY13" fmla="*/ 1507584 h 1583637"/>
                  <a:gd name="connsiteX14" fmla="*/ 999974 w 1583637"/>
                  <a:gd name="connsiteY14" fmla="*/ 1551521 h 1583637"/>
                  <a:gd name="connsiteX15" fmla="*/ 919574 w 1583637"/>
                  <a:gd name="connsiteY15" fmla="*/ 1412257 h 1583637"/>
                  <a:gd name="connsiteX16" fmla="*/ 664062 w 1583637"/>
                  <a:gd name="connsiteY16" fmla="*/ 1412257 h 1583637"/>
                  <a:gd name="connsiteX17" fmla="*/ 583663 w 1583637"/>
                  <a:gd name="connsiteY17" fmla="*/ 1551521 h 1583637"/>
                  <a:gd name="connsiteX18" fmla="*/ 462948 w 1583637"/>
                  <a:gd name="connsiteY18" fmla="*/ 1507584 h 1583637"/>
                  <a:gd name="connsiteX19" fmla="*/ 490876 w 1583637"/>
                  <a:gd name="connsiteY19" fmla="*/ 1349222 h 1583637"/>
                  <a:gd name="connsiteX20" fmla="*/ 295142 w 1583637"/>
                  <a:gd name="connsiteY20" fmla="*/ 1184981 h 1583637"/>
                  <a:gd name="connsiteX21" fmla="*/ 144035 w 1583637"/>
                  <a:gd name="connsiteY21" fmla="*/ 1239984 h 1583637"/>
                  <a:gd name="connsiteX22" fmla="*/ 79804 w 1583637"/>
                  <a:gd name="connsiteY22" fmla="*/ 1128733 h 1583637"/>
                  <a:gd name="connsiteX23" fmla="*/ 202991 w 1583637"/>
                  <a:gd name="connsiteY23" fmla="*/ 1025372 h 1583637"/>
                  <a:gd name="connsiteX24" fmla="*/ 158622 w 1583637"/>
                  <a:gd name="connsiteY24" fmla="*/ 773743 h 1583637"/>
                  <a:gd name="connsiteX25" fmla="*/ 7512 w 1583637"/>
                  <a:gd name="connsiteY25" fmla="*/ 718748 h 1583637"/>
                  <a:gd name="connsiteX26" fmla="*/ 29819 w 1583637"/>
                  <a:gd name="connsiteY26" fmla="*/ 592237 h 1583637"/>
                  <a:gd name="connsiteX27" fmla="*/ 190625 w 1583637"/>
                  <a:gd name="connsiteY27" fmla="*/ 592241 h 1583637"/>
                  <a:gd name="connsiteX28" fmla="*/ 318381 w 1583637"/>
                  <a:gd name="connsiteY28" fmla="*/ 370961 h 1583637"/>
                  <a:gd name="connsiteX29" fmla="*/ 237974 w 1583637"/>
                  <a:gd name="connsiteY29" fmla="*/ 231701 h 1583637"/>
                  <a:gd name="connsiteX30" fmla="*/ 336381 w 1583637"/>
                  <a:gd name="connsiteY30" fmla="*/ 149126 h 1583637"/>
                  <a:gd name="connsiteX31" fmla="*/ 459563 w 1583637"/>
                  <a:gd name="connsiteY31" fmla="*/ 252493 h 1583637"/>
                  <a:gd name="connsiteX32" fmla="*/ 699666 w 1583637"/>
                  <a:gd name="connsiteY32" fmla="*/ 165103 h 1583637"/>
                  <a:gd name="connsiteX33" fmla="*/ 727586 w 1583637"/>
                  <a:gd name="connsiteY33" fmla="*/ 6739 h 1583637"/>
                  <a:gd name="connsiteX34" fmla="*/ 856051 w 1583637"/>
                  <a:gd name="connsiteY34" fmla="*/ 6739 h 1583637"/>
                  <a:gd name="connsiteX35" fmla="*/ 883970 w 1583637"/>
                  <a:gd name="connsiteY35" fmla="*/ 165102 h 1583637"/>
                  <a:gd name="connsiteX36" fmla="*/ 1124073 w 1583637"/>
                  <a:gd name="connsiteY36" fmla="*/ 252493 h 1583637"/>
                  <a:gd name="connsiteX37" fmla="*/ 1124074 w 1583637"/>
                  <a:gd name="connsiteY37" fmla="*/ 252493 h 1583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rgbClr val="BAE2FF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56388" tIns="548497" rIns="356388" bIns="436642" numCol="1" spcCol="1270" anchor="ctr" anchorCtr="0">
                <a:noAutofit/>
              </a:bodyPr>
              <a:lstStyle/>
              <a:p>
                <a:pPr algn="ctr" defTabSz="133286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000" b="1" dirty="0">
                  <a:cs typeface="+mn-ea"/>
                  <a:sym typeface="+mn-lt"/>
                </a:endParaRPr>
              </a:p>
            </p:txBody>
          </p:sp>
          <p:sp>
            <p:nvSpPr>
              <p:cNvPr id="52" name="Oval 15"/>
              <p:cNvSpPr/>
              <p:nvPr/>
            </p:nvSpPr>
            <p:spPr>
              <a:xfrm>
                <a:off x="8939245" y="4749585"/>
                <a:ext cx="1882374" cy="1882374"/>
              </a:xfrm>
              <a:prstGeom prst="ellipse">
                <a:avLst/>
              </a:prstGeom>
              <a:solidFill>
                <a:srgbClr val="BAE2FF"/>
              </a:soli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 dirty="0">
                  <a:cs typeface="+mn-ea"/>
                  <a:sym typeface="+mn-lt"/>
                </a:endParaRPr>
              </a:p>
            </p:txBody>
          </p:sp>
        </p:grpSp>
        <p:sp>
          <p:nvSpPr>
            <p:cNvPr id="53" name="Arc 16"/>
            <p:cNvSpPr/>
            <p:nvPr/>
          </p:nvSpPr>
          <p:spPr>
            <a:xfrm rot="2548953" flipH="1">
              <a:off x="2745908" y="1656193"/>
              <a:ext cx="2150225" cy="2150226"/>
            </a:xfrm>
            <a:prstGeom prst="arc">
              <a:avLst/>
            </a:prstGeom>
            <a:ln w="28575">
              <a:solidFill>
                <a:srgbClr val="005FA5">
                  <a:alpha val="70000"/>
                </a:srgbClr>
              </a:solidFill>
              <a:prstDash val="sysDot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>
                <a:cs typeface="+mn-ea"/>
                <a:sym typeface="+mn-lt"/>
              </a:endParaRPr>
            </a:p>
          </p:txBody>
        </p:sp>
        <p:sp>
          <p:nvSpPr>
            <p:cNvPr id="54" name="Arc 17"/>
            <p:cNvSpPr/>
            <p:nvPr/>
          </p:nvSpPr>
          <p:spPr>
            <a:xfrm rot="11931966">
              <a:off x="834708" y="2483563"/>
              <a:ext cx="2150225" cy="2150226"/>
            </a:xfrm>
            <a:prstGeom prst="arc">
              <a:avLst/>
            </a:prstGeom>
            <a:ln w="28575">
              <a:solidFill>
                <a:srgbClr val="005FA5">
                  <a:alpha val="70000"/>
                </a:srgbClr>
              </a:solidFill>
              <a:prstDash val="sysDot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>
                <a:cs typeface="+mn-ea"/>
                <a:sym typeface="+mn-lt"/>
              </a:endParaRPr>
            </a:p>
          </p:txBody>
        </p:sp>
        <p:sp>
          <p:nvSpPr>
            <p:cNvPr id="55" name="Arc 18"/>
            <p:cNvSpPr/>
            <p:nvPr/>
          </p:nvSpPr>
          <p:spPr>
            <a:xfrm rot="9900000" flipH="1">
              <a:off x="3067082" y="3552308"/>
              <a:ext cx="2150226" cy="2150225"/>
            </a:xfrm>
            <a:prstGeom prst="arc">
              <a:avLst/>
            </a:prstGeom>
            <a:ln w="28575">
              <a:solidFill>
                <a:srgbClr val="005FA5">
                  <a:alpha val="70000"/>
                </a:srgbClr>
              </a:solidFill>
              <a:prstDash val="sysDot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>
                <a:cs typeface="+mn-ea"/>
                <a:sym typeface="+mn-lt"/>
              </a:endParaRPr>
            </a:p>
          </p:txBody>
        </p:sp>
        <p:sp>
          <p:nvSpPr>
            <p:cNvPr id="56" name="Oval 20"/>
            <p:cNvSpPr/>
            <p:nvPr/>
          </p:nvSpPr>
          <p:spPr>
            <a:xfrm>
              <a:off x="1782329" y="2959420"/>
              <a:ext cx="993166" cy="9931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r="5400000" algn="ctr" rotWithShape="0">
                <a:srgbClr val="000000">
                  <a:alpha val="37000"/>
                </a:srgb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6388" tIns="548497" rIns="356388" bIns="436642" numCol="1" spcCol="1270" anchor="ctr" anchorCtr="0">
              <a:noAutofit/>
            </a:bodyPr>
            <a:lstStyle/>
            <a:p>
              <a:pPr algn="ctr" defTabSz="133286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000" b="1" dirty="0">
                <a:cs typeface="+mn-ea"/>
                <a:sym typeface="+mn-lt"/>
              </a:endParaRPr>
            </a:p>
          </p:txBody>
        </p:sp>
        <p:sp>
          <p:nvSpPr>
            <p:cNvPr id="57" name="Oval 29"/>
            <p:cNvSpPr/>
            <p:nvPr/>
          </p:nvSpPr>
          <p:spPr>
            <a:xfrm>
              <a:off x="3569872" y="4017403"/>
              <a:ext cx="993166" cy="9931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r="5400000" algn="ctr" rotWithShape="0">
                <a:srgbClr val="000000">
                  <a:alpha val="37000"/>
                </a:srgb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6388" tIns="548497" rIns="356388" bIns="436642" numCol="1" spcCol="1270" anchor="ctr" anchorCtr="0">
              <a:noAutofit/>
            </a:bodyPr>
            <a:lstStyle/>
            <a:p>
              <a:pPr algn="ctr" defTabSz="133286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000" b="1" dirty="0">
                <a:cs typeface="+mn-ea"/>
                <a:sym typeface="+mn-lt"/>
              </a:endParaRPr>
            </a:p>
          </p:txBody>
        </p:sp>
        <p:sp>
          <p:nvSpPr>
            <p:cNvPr id="58" name="Oval 41"/>
            <p:cNvSpPr/>
            <p:nvPr/>
          </p:nvSpPr>
          <p:spPr>
            <a:xfrm>
              <a:off x="3529644" y="2260640"/>
              <a:ext cx="611931" cy="6119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r="5400000" algn="ctr" rotWithShape="0">
                <a:srgbClr val="000000">
                  <a:alpha val="37000"/>
                </a:srgb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6388" tIns="548497" rIns="356388" bIns="436642" numCol="1" spcCol="1270" anchor="ctr" anchorCtr="0">
              <a:noAutofit/>
            </a:bodyPr>
            <a:lstStyle/>
            <a:p>
              <a:pPr algn="ctr" defTabSz="133286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000" b="1" dirty="0">
                <a:cs typeface="+mn-ea"/>
                <a:sym typeface="+mn-lt"/>
              </a:endParaRPr>
            </a:p>
          </p:txBody>
        </p:sp>
        <p:sp>
          <p:nvSpPr>
            <p:cNvPr id="59" name="Oval 47"/>
            <p:cNvSpPr/>
            <p:nvPr/>
          </p:nvSpPr>
          <p:spPr>
            <a:xfrm>
              <a:off x="1987272" y="4952832"/>
              <a:ext cx="611931" cy="6119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r="5400000" algn="ctr" rotWithShape="0">
                <a:srgbClr val="000000">
                  <a:alpha val="37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b="1" dirty="0">
                <a:cs typeface="+mn-ea"/>
                <a:sym typeface="+mn-lt"/>
              </a:endParaRPr>
            </a:p>
          </p:txBody>
        </p:sp>
        <p:sp>
          <p:nvSpPr>
            <p:cNvPr id="60" name="椭圆 59"/>
            <p:cNvSpPr/>
            <p:nvPr/>
          </p:nvSpPr>
          <p:spPr>
            <a:xfrm>
              <a:off x="2085850" y="3247187"/>
              <a:ext cx="417632" cy="417632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1</a:t>
              </a: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61" name="椭圆 60"/>
            <p:cNvSpPr/>
            <p:nvPr/>
          </p:nvSpPr>
          <p:spPr>
            <a:xfrm>
              <a:off x="3625206" y="2356779"/>
              <a:ext cx="417632" cy="417632"/>
            </a:xfrm>
            <a:prstGeom prst="ellips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2</a:t>
              </a: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62" name="椭圆 61"/>
            <p:cNvSpPr/>
            <p:nvPr/>
          </p:nvSpPr>
          <p:spPr>
            <a:xfrm>
              <a:off x="2087063" y="5052479"/>
              <a:ext cx="417632" cy="417632"/>
            </a:xfrm>
            <a:prstGeom prst="ellips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cs typeface="+mn-ea"/>
                  <a:sym typeface="+mn-lt"/>
                </a:rPr>
                <a:t>3</a:t>
              </a:r>
              <a:endParaRPr lang="zh-CN" altLang="en-US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63" name="椭圆 62"/>
            <p:cNvSpPr/>
            <p:nvPr/>
          </p:nvSpPr>
          <p:spPr>
            <a:xfrm>
              <a:off x="3870595" y="4314944"/>
              <a:ext cx="417632" cy="417632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4</a:t>
              </a:r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64" name="Footer Text"/>
          <p:cNvSpPr txBox="1"/>
          <p:nvPr/>
        </p:nvSpPr>
        <p:spPr>
          <a:xfrm>
            <a:off x="1343247" y="710205"/>
            <a:ext cx="32956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cs typeface="+mn-ea"/>
                <a:sym typeface="+mn-lt"/>
              </a:rPr>
              <a:t>两条相反的线索</a:t>
            </a:r>
            <a:endParaRPr lang="zh-CN" altLang="en-US" sz="2800" dirty="0">
              <a:cs typeface="+mn-ea"/>
              <a:sym typeface="+mn-lt"/>
            </a:endParaRPr>
          </a:p>
        </p:txBody>
      </p:sp>
      <p:pic>
        <p:nvPicPr>
          <p:cNvPr id="65" name="图片 64" descr="005Rm9jOly4grelek7dmbj30u00u0k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95325" y="601345"/>
            <a:ext cx="647700" cy="6477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</p:sld>
</file>

<file path=ppt/slides/slide2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358775"/>
            <a:ext cx="6487795" cy="615442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950497" y="2"/>
            <a:ext cx="1270457" cy="2291617"/>
            <a:chOff x="10950497" y="2"/>
            <a:chExt cx="1270457" cy="2291617"/>
          </a:xfrm>
        </p:grpSpPr>
        <p:sp>
          <p:nvSpPr>
            <p:cNvPr id="8" name="任意多边形: 形状 7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19" name="等腰三角形 18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" name="组合 24"/>
          <p:cNvGrpSpPr/>
          <p:nvPr userDrawn="1"/>
        </p:nvGrpSpPr>
        <p:grpSpPr>
          <a:xfrm rot="10800000">
            <a:off x="1" y="4566383"/>
            <a:ext cx="1270457" cy="2291617"/>
            <a:chOff x="10950497" y="2"/>
            <a:chExt cx="1270457" cy="2291617"/>
          </a:xfrm>
          <a:solidFill>
            <a:srgbClr val="BAE2FF"/>
          </a:solidFill>
        </p:grpSpPr>
        <p:sp>
          <p:nvSpPr>
            <p:cNvPr id="26" name="任意多边形: 形状 25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grpFill/>
          </p:grpSpPr>
          <p:sp>
            <p:nvSpPr>
              <p:cNvPr id="28" name="等腰三角形 27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9" name="等腰三角形 28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0" name="等腰三角形 29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1" name="等腰三角形 30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9" name="椭圆 8"/>
          <p:cNvSpPr/>
          <p:nvPr/>
        </p:nvSpPr>
        <p:spPr>
          <a:xfrm>
            <a:off x="10650680" y="597491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186302" y="5864996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0889597" y="5858219"/>
            <a:ext cx="676134" cy="381689"/>
            <a:chOff x="4468761" y="1799303"/>
            <a:chExt cx="914400" cy="51619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4" name="矩形 33"/>
            <p:cNvSpPr/>
            <p:nvPr/>
          </p:nvSpPr>
          <p:spPr>
            <a:xfrm>
              <a:off x="4468761" y="1799303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4468761" y="1999942"/>
              <a:ext cx="914400" cy="114917"/>
            </a:xfrm>
            <a:prstGeom prst="rect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4468761" y="2200580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" name="矩形: 圆角 5"/>
          <p:cNvSpPr/>
          <p:nvPr/>
        </p:nvSpPr>
        <p:spPr>
          <a:xfrm>
            <a:off x="7295515" y="2291715"/>
            <a:ext cx="2985135" cy="753745"/>
          </a:xfrm>
          <a:prstGeom prst="roundRect">
            <a:avLst>
              <a:gd name="adj" fmla="val 50000"/>
            </a:avLst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dirty="0">
                <a:cs typeface="+mn-ea"/>
                <a:sym typeface="+mn-lt"/>
              </a:rPr>
              <a:t>PART 03</a:t>
            </a:r>
            <a:endParaRPr lang="zh-CN" altLang="en-US" sz="3200" b="1" dirty="0">
              <a:cs typeface="+mn-ea"/>
              <a:sym typeface="+mn-lt"/>
            </a:endParaRPr>
          </a:p>
        </p:txBody>
      </p:sp>
      <p:sp>
        <p:nvSpPr>
          <p:cNvPr id="14" name="Footer Text"/>
          <p:cNvSpPr txBox="1"/>
          <p:nvPr/>
        </p:nvSpPr>
        <p:spPr>
          <a:xfrm>
            <a:off x="6658610" y="3204845"/>
            <a:ext cx="4291965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800" b="1" dirty="0">
                <a:cs typeface="+mn-ea"/>
                <a:sym typeface="+mn-lt"/>
              </a:rPr>
              <a:t>上下游</a:t>
            </a:r>
            <a:endParaRPr lang="zh-CN" altLang="en-US" sz="4800" b="1" dirty="0">
              <a:cs typeface="+mn-ea"/>
              <a:sym typeface="+mn-lt"/>
            </a:endParaRPr>
          </a:p>
        </p:txBody>
      </p:sp>
    </p:spTree>
  </p:cSld>
  <p:clrMapOvr>
    <a:masterClrMapping/>
  </p:clrMapOvr>
  <p:transition p14:dur="500">
    <p:fade/>
  </p:transition>
</p:sld>
</file>

<file path=ppt/slides/slide2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 userDrawn="1"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1379690" y="2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1859995" y="797633"/>
            <a:ext cx="216293" cy="1527440"/>
            <a:chOff x="11349438" y="764179"/>
            <a:chExt cx="216293" cy="1527440"/>
          </a:xfrm>
        </p:grpSpPr>
        <p:sp>
          <p:nvSpPr>
            <p:cNvPr id="9" name="等腰三角形 8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3" name="任意多边形: 形状 42"/>
          <p:cNvSpPr/>
          <p:nvPr userDrawn="1"/>
        </p:nvSpPr>
        <p:spPr>
          <a:xfrm rot="10800000">
            <a:off x="1" y="6209613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/>
        </p:nvGrpSpPr>
        <p:grpSpPr>
          <a:xfrm rot="10800000">
            <a:off x="110007" y="4544081"/>
            <a:ext cx="216293" cy="1527440"/>
            <a:chOff x="11349438" y="764179"/>
            <a:chExt cx="216293" cy="1527440"/>
          </a:xfrm>
        </p:grpSpPr>
        <p:sp>
          <p:nvSpPr>
            <p:cNvPr id="45" name="等腰三角形 44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等腰三角形 45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等腰三角形 47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6" name="Freeform: Shape 14"/>
          <p:cNvSpPr/>
          <p:nvPr/>
        </p:nvSpPr>
        <p:spPr>
          <a:xfrm>
            <a:off x="5280459" y="2155530"/>
            <a:ext cx="310886" cy="325016"/>
          </a:xfrm>
          <a:custGeom>
            <a:avLst/>
            <a:gdLst>
              <a:gd name="connsiteX0" fmla="*/ 7691 w 376007"/>
              <a:gd name="connsiteY0" fmla="*/ 393526 h 393098"/>
              <a:gd name="connsiteX1" fmla="*/ 14528 w 376007"/>
              <a:gd name="connsiteY1" fmla="*/ 391817 h 393098"/>
              <a:gd name="connsiteX2" fmla="*/ 33328 w 376007"/>
              <a:gd name="connsiteY2" fmla="*/ 373016 h 393098"/>
              <a:gd name="connsiteX3" fmla="*/ 55547 w 376007"/>
              <a:gd name="connsiteY3" fmla="*/ 378144 h 393098"/>
              <a:gd name="connsiteX4" fmla="*/ 146130 w 376007"/>
              <a:gd name="connsiteY4" fmla="*/ 330288 h 393098"/>
              <a:gd name="connsiteX5" fmla="*/ 308497 w 376007"/>
              <a:gd name="connsiteY5" fmla="*/ 167921 h 393098"/>
              <a:gd name="connsiteX6" fmla="*/ 332425 w 376007"/>
              <a:gd name="connsiteY6" fmla="*/ 191849 h 393098"/>
              <a:gd name="connsiteX7" fmla="*/ 193986 w 376007"/>
              <a:gd name="connsiteY7" fmla="*/ 330288 h 393098"/>
              <a:gd name="connsiteX8" fmla="*/ 193986 w 376007"/>
              <a:gd name="connsiteY8" fmla="*/ 342252 h 393098"/>
              <a:gd name="connsiteX9" fmla="*/ 200822 w 376007"/>
              <a:gd name="connsiteY9" fmla="*/ 343961 h 393098"/>
              <a:gd name="connsiteX10" fmla="*/ 207659 w 376007"/>
              <a:gd name="connsiteY10" fmla="*/ 342252 h 393098"/>
              <a:gd name="connsiteX11" fmla="*/ 376862 w 376007"/>
              <a:gd name="connsiteY11" fmla="*/ 173049 h 393098"/>
              <a:gd name="connsiteX12" fmla="*/ 376862 w 376007"/>
              <a:gd name="connsiteY12" fmla="*/ 161085 h 393098"/>
              <a:gd name="connsiteX13" fmla="*/ 364898 w 376007"/>
              <a:gd name="connsiteY13" fmla="*/ 161085 h 393098"/>
              <a:gd name="connsiteX14" fmla="*/ 346098 w 376007"/>
              <a:gd name="connsiteY14" fmla="*/ 179885 h 393098"/>
              <a:gd name="connsiteX15" fmla="*/ 322170 w 376007"/>
              <a:gd name="connsiteY15" fmla="*/ 155958 h 393098"/>
              <a:gd name="connsiteX16" fmla="*/ 364898 w 376007"/>
              <a:gd name="connsiteY16" fmla="*/ 113230 h 393098"/>
              <a:gd name="connsiteX17" fmla="*/ 364898 w 376007"/>
              <a:gd name="connsiteY17" fmla="*/ 101265 h 393098"/>
              <a:gd name="connsiteX18" fmla="*/ 358062 w 376007"/>
              <a:gd name="connsiteY18" fmla="*/ 94429 h 393098"/>
              <a:gd name="connsiteX19" fmla="*/ 383699 w 376007"/>
              <a:gd name="connsiteY19" fmla="*/ 68792 h 393098"/>
              <a:gd name="connsiteX20" fmla="*/ 383699 w 376007"/>
              <a:gd name="connsiteY20" fmla="*/ 24355 h 393098"/>
              <a:gd name="connsiteX21" fmla="*/ 368317 w 376007"/>
              <a:gd name="connsiteY21" fmla="*/ 8973 h 393098"/>
              <a:gd name="connsiteX22" fmla="*/ 323879 w 376007"/>
              <a:gd name="connsiteY22" fmla="*/ 8973 h 393098"/>
              <a:gd name="connsiteX23" fmla="*/ 298242 w 376007"/>
              <a:gd name="connsiteY23" fmla="*/ 34610 h 393098"/>
              <a:gd name="connsiteX24" fmla="*/ 291406 w 376007"/>
              <a:gd name="connsiteY24" fmla="*/ 27773 h 393098"/>
              <a:gd name="connsiteX25" fmla="*/ 279442 w 376007"/>
              <a:gd name="connsiteY25" fmla="*/ 27773 h 393098"/>
              <a:gd name="connsiteX26" fmla="*/ 243550 w 376007"/>
              <a:gd name="connsiteY26" fmla="*/ 63665 h 393098"/>
              <a:gd name="connsiteX27" fmla="*/ 135875 w 376007"/>
              <a:gd name="connsiteY27" fmla="*/ 171340 h 393098"/>
              <a:gd name="connsiteX28" fmla="*/ 62383 w 376007"/>
              <a:gd name="connsiteY28" fmla="*/ 244832 h 393098"/>
              <a:gd name="connsiteX29" fmla="*/ 21364 w 376007"/>
              <a:gd name="connsiteY29" fmla="*/ 359343 h 393098"/>
              <a:gd name="connsiteX30" fmla="*/ 2564 w 376007"/>
              <a:gd name="connsiteY30" fmla="*/ 378144 h 393098"/>
              <a:gd name="connsiteX31" fmla="*/ 2564 w 376007"/>
              <a:gd name="connsiteY31" fmla="*/ 390108 h 393098"/>
              <a:gd name="connsiteX32" fmla="*/ 7691 w 376007"/>
              <a:gd name="connsiteY32" fmla="*/ 393526 h 393098"/>
              <a:gd name="connsiteX33" fmla="*/ 334134 w 376007"/>
              <a:gd name="connsiteY33" fmla="*/ 22646 h 393098"/>
              <a:gd name="connsiteX34" fmla="*/ 354643 w 376007"/>
              <a:gd name="connsiteY34" fmla="*/ 22646 h 393098"/>
              <a:gd name="connsiteX35" fmla="*/ 370026 w 376007"/>
              <a:gd name="connsiteY35" fmla="*/ 38028 h 393098"/>
              <a:gd name="connsiteX36" fmla="*/ 370026 w 376007"/>
              <a:gd name="connsiteY36" fmla="*/ 58537 h 393098"/>
              <a:gd name="connsiteX37" fmla="*/ 344389 w 376007"/>
              <a:gd name="connsiteY37" fmla="*/ 84174 h 393098"/>
              <a:gd name="connsiteX38" fmla="*/ 308497 w 376007"/>
              <a:gd name="connsiteY38" fmla="*/ 48283 h 393098"/>
              <a:gd name="connsiteX39" fmla="*/ 334134 w 376007"/>
              <a:gd name="connsiteY39" fmla="*/ 22646 h 393098"/>
              <a:gd name="connsiteX40" fmla="*/ 284569 w 376007"/>
              <a:gd name="connsiteY40" fmla="*/ 48283 h 393098"/>
              <a:gd name="connsiteX41" fmla="*/ 291406 w 376007"/>
              <a:gd name="connsiteY41" fmla="*/ 55119 h 393098"/>
              <a:gd name="connsiteX42" fmla="*/ 339261 w 376007"/>
              <a:gd name="connsiteY42" fmla="*/ 102975 h 393098"/>
              <a:gd name="connsiteX43" fmla="*/ 346098 w 376007"/>
              <a:gd name="connsiteY43" fmla="*/ 109811 h 393098"/>
              <a:gd name="connsiteX44" fmla="*/ 137585 w 376007"/>
              <a:gd name="connsiteY44" fmla="*/ 314906 h 393098"/>
              <a:gd name="connsiteX45" fmla="*/ 135875 w 376007"/>
              <a:gd name="connsiteY45" fmla="*/ 314906 h 393098"/>
              <a:gd name="connsiteX46" fmla="*/ 106820 w 376007"/>
              <a:gd name="connsiteY46" fmla="*/ 301233 h 393098"/>
              <a:gd name="connsiteX47" fmla="*/ 77765 w 376007"/>
              <a:gd name="connsiteY47" fmla="*/ 256796 h 393098"/>
              <a:gd name="connsiteX48" fmla="*/ 77765 w 376007"/>
              <a:gd name="connsiteY48" fmla="*/ 255087 h 393098"/>
              <a:gd name="connsiteX49" fmla="*/ 142712 w 376007"/>
              <a:gd name="connsiteY49" fmla="*/ 190140 h 393098"/>
              <a:gd name="connsiteX50" fmla="*/ 173476 w 376007"/>
              <a:gd name="connsiteY50" fmla="*/ 220904 h 393098"/>
              <a:gd name="connsiteX51" fmla="*/ 180313 w 376007"/>
              <a:gd name="connsiteY51" fmla="*/ 222613 h 393098"/>
              <a:gd name="connsiteX52" fmla="*/ 187149 w 376007"/>
              <a:gd name="connsiteY52" fmla="*/ 220904 h 393098"/>
              <a:gd name="connsiteX53" fmla="*/ 293115 w 376007"/>
              <a:gd name="connsiteY53" fmla="*/ 114939 h 393098"/>
              <a:gd name="connsiteX54" fmla="*/ 294824 w 376007"/>
              <a:gd name="connsiteY54" fmla="*/ 108102 h 393098"/>
              <a:gd name="connsiteX55" fmla="*/ 293115 w 376007"/>
              <a:gd name="connsiteY55" fmla="*/ 101265 h 393098"/>
              <a:gd name="connsiteX56" fmla="*/ 262351 w 376007"/>
              <a:gd name="connsiteY56" fmla="*/ 70501 h 393098"/>
              <a:gd name="connsiteX57" fmla="*/ 284569 w 376007"/>
              <a:gd name="connsiteY57" fmla="*/ 48283 h 393098"/>
              <a:gd name="connsiteX58" fmla="*/ 248678 w 376007"/>
              <a:gd name="connsiteY58" fmla="*/ 84174 h 393098"/>
              <a:gd name="connsiteX59" fmla="*/ 272605 w 376007"/>
              <a:gd name="connsiteY59" fmla="*/ 108102 h 393098"/>
              <a:gd name="connsiteX60" fmla="*/ 178604 w 376007"/>
              <a:gd name="connsiteY60" fmla="*/ 202104 h 393098"/>
              <a:gd name="connsiteX61" fmla="*/ 154676 w 376007"/>
              <a:gd name="connsiteY61" fmla="*/ 178176 h 393098"/>
              <a:gd name="connsiteX62" fmla="*/ 248678 w 376007"/>
              <a:gd name="connsiteY62" fmla="*/ 84174 h 393098"/>
              <a:gd name="connsiteX63" fmla="*/ 64092 w 376007"/>
              <a:gd name="connsiteY63" fmla="*/ 270469 h 393098"/>
              <a:gd name="connsiteX64" fmla="*/ 64092 w 376007"/>
              <a:gd name="connsiteY64" fmla="*/ 272178 h 393098"/>
              <a:gd name="connsiteX65" fmla="*/ 65801 w 376007"/>
              <a:gd name="connsiteY65" fmla="*/ 275596 h 393098"/>
              <a:gd name="connsiteX66" fmla="*/ 69220 w 376007"/>
              <a:gd name="connsiteY66" fmla="*/ 282433 h 393098"/>
              <a:gd name="connsiteX67" fmla="*/ 70929 w 376007"/>
              <a:gd name="connsiteY67" fmla="*/ 285851 h 393098"/>
              <a:gd name="connsiteX68" fmla="*/ 76056 w 376007"/>
              <a:gd name="connsiteY68" fmla="*/ 292688 h 393098"/>
              <a:gd name="connsiteX69" fmla="*/ 77765 w 376007"/>
              <a:gd name="connsiteY69" fmla="*/ 296106 h 393098"/>
              <a:gd name="connsiteX70" fmla="*/ 94856 w 376007"/>
              <a:gd name="connsiteY70" fmla="*/ 313197 h 393098"/>
              <a:gd name="connsiteX71" fmla="*/ 98275 w 376007"/>
              <a:gd name="connsiteY71" fmla="*/ 314906 h 393098"/>
              <a:gd name="connsiteX72" fmla="*/ 105111 w 376007"/>
              <a:gd name="connsiteY72" fmla="*/ 320033 h 393098"/>
              <a:gd name="connsiteX73" fmla="*/ 108529 w 376007"/>
              <a:gd name="connsiteY73" fmla="*/ 321743 h 393098"/>
              <a:gd name="connsiteX74" fmla="*/ 115366 w 376007"/>
              <a:gd name="connsiteY74" fmla="*/ 325161 h 393098"/>
              <a:gd name="connsiteX75" fmla="*/ 118784 w 376007"/>
              <a:gd name="connsiteY75" fmla="*/ 326870 h 393098"/>
              <a:gd name="connsiteX76" fmla="*/ 120493 w 376007"/>
              <a:gd name="connsiteY76" fmla="*/ 326870 h 393098"/>
              <a:gd name="connsiteX77" fmla="*/ 35037 w 376007"/>
              <a:gd name="connsiteY77" fmla="*/ 352507 h 393098"/>
              <a:gd name="connsiteX78" fmla="*/ 64092 w 376007"/>
              <a:gd name="connsiteY78" fmla="*/ 270469 h 393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376007" h="393098">
                <a:moveTo>
                  <a:pt x="7691" y="393526"/>
                </a:moveTo>
                <a:cubicBezTo>
                  <a:pt x="9400" y="393526"/>
                  <a:pt x="12818" y="393526"/>
                  <a:pt x="14528" y="391817"/>
                </a:cubicBezTo>
                <a:lnTo>
                  <a:pt x="33328" y="373016"/>
                </a:lnTo>
                <a:cubicBezTo>
                  <a:pt x="40164" y="376435"/>
                  <a:pt x="47001" y="378144"/>
                  <a:pt x="55547" y="378144"/>
                </a:cubicBezTo>
                <a:cubicBezTo>
                  <a:pt x="81183" y="378144"/>
                  <a:pt x="117075" y="361053"/>
                  <a:pt x="146130" y="330288"/>
                </a:cubicBezTo>
                <a:lnTo>
                  <a:pt x="308497" y="167921"/>
                </a:lnTo>
                <a:lnTo>
                  <a:pt x="332425" y="191849"/>
                </a:lnTo>
                <a:lnTo>
                  <a:pt x="193986" y="330288"/>
                </a:lnTo>
                <a:cubicBezTo>
                  <a:pt x="190567" y="333706"/>
                  <a:pt x="190567" y="338834"/>
                  <a:pt x="193986" y="342252"/>
                </a:cubicBezTo>
                <a:cubicBezTo>
                  <a:pt x="195695" y="343961"/>
                  <a:pt x="197404" y="343961"/>
                  <a:pt x="200822" y="343961"/>
                </a:cubicBezTo>
                <a:cubicBezTo>
                  <a:pt x="204240" y="343961"/>
                  <a:pt x="205950" y="343961"/>
                  <a:pt x="207659" y="342252"/>
                </a:cubicBezTo>
                <a:lnTo>
                  <a:pt x="376862" y="173049"/>
                </a:lnTo>
                <a:cubicBezTo>
                  <a:pt x="380280" y="169630"/>
                  <a:pt x="380280" y="164503"/>
                  <a:pt x="376862" y="161085"/>
                </a:cubicBezTo>
                <a:cubicBezTo>
                  <a:pt x="373444" y="157667"/>
                  <a:pt x="368317" y="157667"/>
                  <a:pt x="364898" y="161085"/>
                </a:cubicBezTo>
                <a:lnTo>
                  <a:pt x="346098" y="179885"/>
                </a:lnTo>
                <a:lnTo>
                  <a:pt x="322170" y="155958"/>
                </a:lnTo>
                <a:lnTo>
                  <a:pt x="364898" y="113230"/>
                </a:lnTo>
                <a:cubicBezTo>
                  <a:pt x="368317" y="109811"/>
                  <a:pt x="368317" y="104684"/>
                  <a:pt x="364898" y="101265"/>
                </a:cubicBezTo>
                <a:lnTo>
                  <a:pt x="358062" y="94429"/>
                </a:lnTo>
                <a:lnTo>
                  <a:pt x="383699" y="68792"/>
                </a:lnTo>
                <a:cubicBezTo>
                  <a:pt x="395663" y="56828"/>
                  <a:pt x="395663" y="36319"/>
                  <a:pt x="383699" y="24355"/>
                </a:cubicBezTo>
                <a:lnTo>
                  <a:pt x="368317" y="8973"/>
                </a:lnTo>
                <a:cubicBezTo>
                  <a:pt x="356353" y="-2991"/>
                  <a:pt x="335843" y="-2991"/>
                  <a:pt x="323879" y="8973"/>
                </a:cubicBezTo>
                <a:lnTo>
                  <a:pt x="298242" y="34610"/>
                </a:lnTo>
                <a:lnTo>
                  <a:pt x="291406" y="27773"/>
                </a:lnTo>
                <a:cubicBezTo>
                  <a:pt x="287988" y="24355"/>
                  <a:pt x="282860" y="24355"/>
                  <a:pt x="279442" y="27773"/>
                </a:cubicBezTo>
                <a:lnTo>
                  <a:pt x="243550" y="63665"/>
                </a:lnTo>
                <a:lnTo>
                  <a:pt x="135875" y="171340"/>
                </a:lnTo>
                <a:lnTo>
                  <a:pt x="62383" y="244832"/>
                </a:lnTo>
                <a:cubicBezTo>
                  <a:pt x="21364" y="285851"/>
                  <a:pt x="5982" y="331997"/>
                  <a:pt x="21364" y="359343"/>
                </a:cubicBezTo>
                <a:lnTo>
                  <a:pt x="2564" y="378144"/>
                </a:lnTo>
                <a:cubicBezTo>
                  <a:pt x="-855" y="381562"/>
                  <a:pt x="-855" y="386689"/>
                  <a:pt x="2564" y="390108"/>
                </a:cubicBezTo>
                <a:cubicBezTo>
                  <a:pt x="2564" y="393526"/>
                  <a:pt x="5982" y="393526"/>
                  <a:pt x="7691" y="393526"/>
                </a:cubicBezTo>
                <a:close/>
                <a:moveTo>
                  <a:pt x="334134" y="22646"/>
                </a:moveTo>
                <a:cubicBezTo>
                  <a:pt x="339261" y="17518"/>
                  <a:pt x="349516" y="17518"/>
                  <a:pt x="354643" y="22646"/>
                </a:cubicBezTo>
                <a:lnTo>
                  <a:pt x="370026" y="38028"/>
                </a:lnTo>
                <a:cubicBezTo>
                  <a:pt x="375153" y="43155"/>
                  <a:pt x="375153" y="53410"/>
                  <a:pt x="370026" y="58537"/>
                </a:cubicBezTo>
                <a:lnTo>
                  <a:pt x="344389" y="84174"/>
                </a:lnTo>
                <a:lnTo>
                  <a:pt x="308497" y="48283"/>
                </a:lnTo>
                <a:lnTo>
                  <a:pt x="334134" y="22646"/>
                </a:lnTo>
                <a:close/>
                <a:moveTo>
                  <a:pt x="284569" y="48283"/>
                </a:moveTo>
                <a:lnTo>
                  <a:pt x="291406" y="55119"/>
                </a:lnTo>
                <a:lnTo>
                  <a:pt x="339261" y="102975"/>
                </a:lnTo>
                <a:lnTo>
                  <a:pt x="346098" y="109811"/>
                </a:lnTo>
                <a:lnTo>
                  <a:pt x="137585" y="314906"/>
                </a:lnTo>
                <a:lnTo>
                  <a:pt x="135875" y="314906"/>
                </a:lnTo>
                <a:cubicBezTo>
                  <a:pt x="125621" y="313197"/>
                  <a:pt x="115366" y="308070"/>
                  <a:pt x="106820" y="301233"/>
                </a:cubicBezTo>
                <a:cubicBezTo>
                  <a:pt x="93147" y="290978"/>
                  <a:pt x="82893" y="275596"/>
                  <a:pt x="77765" y="256796"/>
                </a:cubicBezTo>
                <a:lnTo>
                  <a:pt x="77765" y="255087"/>
                </a:lnTo>
                <a:lnTo>
                  <a:pt x="142712" y="190140"/>
                </a:lnTo>
                <a:lnTo>
                  <a:pt x="173476" y="220904"/>
                </a:lnTo>
                <a:cubicBezTo>
                  <a:pt x="175185" y="222613"/>
                  <a:pt x="176894" y="222613"/>
                  <a:pt x="180313" y="222613"/>
                </a:cubicBezTo>
                <a:cubicBezTo>
                  <a:pt x="183731" y="222613"/>
                  <a:pt x="185440" y="220904"/>
                  <a:pt x="187149" y="220904"/>
                </a:cubicBezTo>
                <a:lnTo>
                  <a:pt x="293115" y="114939"/>
                </a:lnTo>
                <a:cubicBezTo>
                  <a:pt x="294824" y="113230"/>
                  <a:pt x="294824" y="111520"/>
                  <a:pt x="294824" y="108102"/>
                </a:cubicBezTo>
                <a:cubicBezTo>
                  <a:pt x="294824" y="104684"/>
                  <a:pt x="293115" y="102975"/>
                  <a:pt x="293115" y="101265"/>
                </a:cubicBezTo>
                <a:lnTo>
                  <a:pt x="262351" y="70501"/>
                </a:lnTo>
                <a:lnTo>
                  <a:pt x="284569" y="48283"/>
                </a:lnTo>
                <a:close/>
                <a:moveTo>
                  <a:pt x="248678" y="84174"/>
                </a:moveTo>
                <a:lnTo>
                  <a:pt x="272605" y="108102"/>
                </a:lnTo>
                <a:lnTo>
                  <a:pt x="178604" y="202104"/>
                </a:lnTo>
                <a:lnTo>
                  <a:pt x="154676" y="178176"/>
                </a:lnTo>
                <a:lnTo>
                  <a:pt x="248678" y="84174"/>
                </a:lnTo>
                <a:close/>
                <a:moveTo>
                  <a:pt x="64092" y="270469"/>
                </a:moveTo>
                <a:cubicBezTo>
                  <a:pt x="64092" y="270469"/>
                  <a:pt x="64092" y="272178"/>
                  <a:pt x="64092" y="272178"/>
                </a:cubicBezTo>
                <a:cubicBezTo>
                  <a:pt x="64092" y="273887"/>
                  <a:pt x="65801" y="275596"/>
                  <a:pt x="65801" y="275596"/>
                </a:cubicBezTo>
                <a:cubicBezTo>
                  <a:pt x="67510" y="277305"/>
                  <a:pt x="67510" y="280724"/>
                  <a:pt x="69220" y="282433"/>
                </a:cubicBezTo>
                <a:cubicBezTo>
                  <a:pt x="69220" y="284142"/>
                  <a:pt x="70929" y="285851"/>
                  <a:pt x="70929" y="285851"/>
                </a:cubicBezTo>
                <a:cubicBezTo>
                  <a:pt x="72638" y="287560"/>
                  <a:pt x="74347" y="290978"/>
                  <a:pt x="76056" y="292688"/>
                </a:cubicBezTo>
                <a:cubicBezTo>
                  <a:pt x="76056" y="294397"/>
                  <a:pt x="77765" y="294397"/>
                  <a:pt x="77765" y="296106"/>
                </a:cubicBezTo>
                <a:cubicBezTo>
                  <a:pt x="82893" y="302942"/>
                  <a:pt x="88020" y="308070"/>
                  <a:pt x="94856" y="313197"/>
                </a:cubicBezTo>
                <a:cubicBezTo>
                  <a:pt x="96566" y="313197"/>
                  <a:pt x="96566" y="314906"/>
                  <a:pt x="98275" y="314906"/>
                </a:cubicBezTo>
                <a:cubicBezTo>
                  <a:pt x="99984" y="316615"/>
                  <a:pt x="103402" y="318324"/>
                  <a:pt x="105111" y="320033"/>
                </a:cubicBezTo>
                <a:cubicBezTo>
                  <a:pt x="106820" y="320033"/>
                  <a:pt x="108529" y="321743"/>
                  <a:pt x="108529" y="321743"/>
                </a:cubicBezTo>
                <a:cubicBezTo>
                  <a:pt x="110239" y="323452"/>
                  <a:pt x="113657" y="323452"/>
                  <a:pt x="115366" y="325161"/>
                </a:cubicBezTo>
                <a:cubicBezTo>
                  <a:pt x="117075" y="325161"/>
                  <a:pt x="118784" y="326870"/>
                  <a:pt x="118784" y="326870"/>
                </a:cubicBezTo>
                <a:cubicBezTo>
                  <a:pt x="118784" y="326870"/>
                  <a:pt x="120493" y="326870"/>
                  <a:pt x="120493" y="326870"/>
                </a:cubicBezTo>
                <a:cubicBezTo>
                  <a:pt x="84602" y="357634"/>
                  <a:pt x="48710" y="366180"/>
                  <a:pt x="35037" y="352507"/>
                </a:cubicBezTo>
                <a:cubicBezTo>
                  <a:pt x="24782" y="342252"/>
                  <a:pt x="33328" y="304651"/>
                  <a:pt x="64092" y="270469"/>
                </a:cubicBezTo>
                <a:close/>
              </a:path>
            </a:pathLst>
          </a:custGeom>
          <a:solidFill>
            <a:schemeClr val="accent1"/>
          </a:solidFill>
          <a:ln w="17082" cap="flat">
            <a:noFill/>
            <a:prstDash val="solid"/>
            <a:miter/>
          </a:ln>
        </p:spPr>
        <p:txBody>
          <a:bodyPr rtlCol="0" anchor="ctr"/>
          <a:lstStyle/>
          <a:p>
            <a:endParaRPr lang="en-ID">
              <a:cs typeface="+mn-ea"/>
              <a:sym typeface="+mn-lt"/>
            </a:endParaRPr>
          </a:p>
        </p:txBody>
      </p:sp>
      <p:sp>
        <p:nvSpPr>
          <p:cNvPr id="4" name="Freeform: Shape 15"/>
          <p:cNvSpPr/>
          <p:nvPr/>
        </p:nvSpPr>
        <p:spPr>
          <a:xfrm>
            <a:off x="7408783" y="2155958"/>
            <a:ext cx="296753" cy="325016"/>
          </a:xfrm>
          <a:custGeom>
            <a:avLst/>
            <a:gdLst>
              <a:gd name="connsiteX0" fmla="*/ 274315 w 358916"/>
              <a:gd name="connsiteY0" fmla="*/ 0 h 393098"/>
              <a:gd name="connsiteX1" fmla="*/ 207659 w 358916"/>
              <a:gd name="connsiteY1" fmla="*/ 27346 h 393098"/>
              <a:gd name="connsiteX2" fmla="*/ 2564 w 358916"/>
              <a:gd name="connsiteY2" fmla="*/ 234150 h 393098"/>
              <a:gd name="connsiteX3" fmla="*/ 2564 w 358916"/>
              <a:gd name="connsiteY3" fmla="*/ 246114 h 393098"/>
              <a:gd name="connsiteX4" fmla="*/ 14528 w 358916"/>
              <a:gd name="connsiteY4" fmla="*/ 246114 h 393098"/>
              <a:gd name="connsiteX5" fmla="*/ 219623 w 358916"/>
              <a:gd name="connsiteY5" fmla="*/ 39310 h 393098"/>
              <a:gd name="connsiteX6" fmla="*/ 274315 w 358916"/>
              <a:gd name="connsiteY6" fmla="*/ 17091 h 393098"/>
              <a:gd name="connsiteX7" fmla="*/ 329007 w 358916"/>
              <a:gd name="connsiteY7" fmla="*/ 39310 h 393098"/>
              <a:gd name="connsiteX8" fmla="*/ 351225 w 358916"/>
              <a:gd name="connsiteY8" fmla="*/ 94002 h 393098"/>
              <a:gd name="connsiteX9" fmla="*/ 329007 w 358916"/>
              <a:gd name="connsiteY9" fmla="*/ 148694 h 393098"/>
              <a:gd name="connsiteX10" fmla="*/ 117075 w 358916"/>
              <a:gd name="connsiteY10" fmla="*/ 360625 h 393098"/>
              <a:gd name="connsiteX11" fmla="*/ 45292 w 358916"/>
              <a:gd name="connsiteY11" fmla="*/ 360625 h 393098"/>
              <a:gd name="connsiteX12" fmla="*/ 45292 w 358916"/>
              <a:gd name="connsiteY12" fmla="*/ 288842 h 393098"/>
              <a:gd name="connsiteX13" fmla="*/ 221332 w 358916"/>
              <a:gd name="connsiteY13" fmla="*/ 112802 h 393098"/>
              <a:gd name="connsiteX14" fmla="*/ 257223 w 358916"/>
              <a:gd name="connsiteY14" fmla="*/ 112802 h 393098"/>
              <a:gd name="connsiteX15" fmla="*/ 257223 w 358916"/>
              <a:gd name="connsiteY15" fmla="*/ 148694 h 393098"/>
              <a:gd name="connsiteX16" fmla="*/ 171767 w 358916"/>
              <a:gd name="connsiteY16" fmla="*/ 232441 h 393098"/>
              <a:gd name="connsiteX17" fmla="*/ 171767 w 358916"/>
              <a:gd name="connsiteY17" fmla="*/ 244405 h 393098"/>
              <a:gd name="connsiteX18" fmla="*/ 178604 w 358916"/>
              <a:gd name="connsiteY18" fmla="*/ 246114 h 393098"/>
              <a:gd name="connsiteX19" fmla="*/ 185440 w 358916"/>
              <a:gd name="connsiteY19" fmla="*/ 244405 h 393098"/>
              <a:gd name="connsiteX20" fmla="*/ 270896 w 358916"/>
              <a:gd name="connsiteY20" fmla="*/ 160658 h 393098"/>
              <a:gd name="connsiteX21" fmla="*/ 270896 w 358916"/>
              <a:gd name="connsiteY21" fmla="*/ 100838 h 393098"/>
              <a:gd name="connsiteX22" fmla="*/ 211077 w 358916"/>
              <a:gd name="connsiteY22" fmla="*/ 100838 h 393098"/>
              <a:gd name="connsiteX23" fmla="*/ 35037 w 358916"/>
              <a:gd name="connsiteY23" fmla="*/ 276878 h 393098"/>
              <a:gd name="connsiteX24" fmla="*/ 35037 w 358916"/>
              <a:gd name="connsiteY24" fmla="*/ 374298 h 393098"/>
              <a:gd name="connsiteX25" fmla="*/ 82893 w 358916"/>
              <a:gd name="connsiteY25" fmla="*/ 394808 h 393098"/>
              <a:gd name="connsiteX26" fmla="*/ 130748 w 358916"/>
              <a:gd name="connsiteY26" fmla="*/ 374298 h 393098"/>
              <a:gd name="connsiteX27" fmla="*/ 342680 w 358916"/>
              <a:gd name="connsiteY27" fmla="*/ 162367 h 393098"/>
              <a:gd name="connsiteX28" fmla="*/ 370026 w 358916"/>
              <a:gd name="connsiteY28" fmla="*/ 95711 h 393098"/>
              <a:gd name="connsiteX29" fmla="*/ 342680 w 358916"/>
              <a:gd name="connsiteY29" fmla="*/ 29055 h 393098"/>
              <a:gd name="connsiteX30" fmla="*/ 274315 w 358916"/>
              <a:gd name="connsiteY30" fmla="*/ 0 h 393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58916" h="393098">
                <a:moveTo>
                  <a:pt x="274315" y="0"/>
                </a:moveTo>
                <a:cubicBezTo>
                  <a:pt x="248678" y="0"/>
                  <a:pt x="224750" y="10255"/>
                  <a:pt x="207659" y="27346"/>
                </a:cubicBezTo>
                <a:lnTo>
                  <a:pt x="2564" y="234150"/>
                </a:lnTo>
                <a:cubicBezTo>
                  <a:pt x="-855" y="237568"/>
                  <a:pt x="-855" y="242696"/>
                  <a:pt x="2564" y="246114"/>
                </a:cubicBezTo>
                <a:cubicBezTo>
                  <a:pt x="5982" y="249532"/>
                  <a:pt x="11109" y="249532"/>
                  <a:pt x="14528" y="246114"/>
                </a:cubicBezTo>
                <a:lnTo>
                  <a:pt x="219623" y="39310"/>
                </a:lnTo>
                <a:cubicBezTo>
                  <a:pt x="233296" y="23928"/>
                  <a:pt x="253805" y="17091"/>
                  <a:pt x="274315" y="17091"/>
                </a:cubicBezTo>
                <a:cubicBezTo>
                  <a:pt x="294824" y="17091"/>
                  <a:pt x="313624" y="25637"/>
                  <a:pt x="329007" y="39310"/>
                </a:cubicBezTo>
                <a:cubicBezTo>
                  <a:pt x="344389" y="54692"/>
                  <a:pt x="351225" y="73492"/>
                  <a:pt x="351225" y="94002"/>
                </a:cubicBezTo>
                <a:cubicBezTo>
                  <a:pt x="351225" y="114511"/>
                  <a:pt x="342680" y="133312"/>
                  <a:pt x="329007" y="148694"/>
                </a:cubicBezTo>
                <a:lnTo>
                  <a:pt x="117075" y="360625"/>
                </a:lnTo>
                <a:cubicBezTo>
                  <a:pt x="96566" y="381135"/>
                  <a:pt x="64092" y="381135"/>
                  <a:pt x="45292" y="360625"/>
                </a:cubicBezTo>
                <a:cubicBezTo>
                  <a:pt x="24782" y="340116"/>
                  <a:pt x="24782" y="307642"/>
                  <a:pt x="45292" y="288842"/>
                </a:cubicBezTo>
                <a:lnTo>
                  <a:pt x="221332" y="112802"/>
                </a:lnTo>
                <a:cubicBezTo>
                  <a:pt x="231587" y="102547"/>
                  <a:pt x="248678" y="102547"/>
                  <a:pt x="257223" y="112802"/>
                </a:cubicBezTo>
                <a:cubicBezTo>
                  <a:pt x="267478" y="123057"/>
                  <a:pt x="267478" y="138439"/>
                  <a:pt x="257223" y="148694"/>
                </a:cubicBezTo>
                <a:lnTo>
                  <a:pt x="171767" y="232441"/>
                </a:lnTo>
                <a:cubicBezTo>
                  <a:pt x="168349" y="235859"/>
                  <a:pt x="168349" y="240987"/>
                  <a:pt x="171767" y="244405"/>
                </a:cubicBezTo>
                <a:cubicBezTo>
                  <a:pt x="173476" y="246114"/>
                  <a:pt x="175185" y="246114"/>
                  <a:pt x="178604" y="246114"/>
                </a:cubicBezTo>
                <a:cubicBezTo>
                  <a:pt x="182022" y="246114"/>
                  <a:pt x="183731" y="246114"/>
                  <a:pt x="185440" y="244405"/>
                </a:cubicBezTo>
                <a:lnTo>
                  <a:pt x="270896" y="160658"/>
                </a:lnTo>
                <a:cubicBezTo>
                  <a:pt x="287987" y="143566"/>
                  <a:pt x="287987" y="116221"/>
                  <a:pt x="270896" y="100838"/>
                </a:cubicBezTo>
                <a:cubicBezTo>
                  <a:pt x="255514" y="85456"/>
                  <a:pt x="226459" y="85456"/>
                  <a:pt x="211077" y="100838"/>
                </a:cubicBezTo>
                <a:lnTo>
                  <a:pt x="35037" y="276878"/>
                </a:lnTo>
                <a:cubicBezTo>
                  <a:pt x="7691" y="304224"/>
                  <a:pt x="7691" y="346952"/>
                  <a:pt x="35037" y="374298"/>
                </a:cubicBezTo>
                <a:cubicBezTo>
                  <a:pt x="48710" y="387971"/>
                  <a:pt x="65801" y="394808"/>
                  <a:pt x="82893" y="394808"/>
                </a:cubicBezTo>
                <a:cubicBezTo>
                  <a:pt x="99984" y="394808"/>
                  <a:pt x="117075" y="387971"/>
                  <a:pt x="130748" y="374298"/>
                </a:cubicBezTo>
                <a:lnTo>
                  <a:pt x="342680" y="162367"/>
                </a:lnTo>
                <a:cubicBezTo>
                  <a:pt x="359771" y="145276"/>
                  <a:pt x="370026" y="121348"/>
                  <a:pt x="370026" y="95711"/>
                </a:cubicBezTo>
                <a:cubicBezTo>
                  <a:pt x="370026" y="70074"/>
                  <a:pt x="359771" y="46146"/>
                  <a:pt x="342680" y="29055"/>
                </a:cubicBezTo>
                <a:cubicBezTo>
                  <a:pt x="323879" y="10255"/>
                  <a:pt x="299952" y="0"/>
                  <a:pt x="274315" y="0"/>
                </a:cubicBezTo>
                <a:close/>
              </a:path>
            </a:pathLst>
          </a:custGeom>
          <a:solidFill>
            <a:schemeClr val="accent1"/>
          </a:solidFill>
          <a:ln w="17082" cap="flat">
            <a:noFill/>
            <a:prstDash val="solid"/>
            <a:miter/>
          </a:ln>
        </p:spPr>
        <p:txBody>
          <a:bodyPr rtlCol="0" anchor="ctr"/>
          <a:lstStyle/>
          <a:p>
            <a:endParaRPr lang="en-ID">
              <a:cs typeface="+mn-ea"/>
              <a:sym typeface="+mn-lt"/>
            </a:endParaRPr>
          </a:p>
        </p:txBody>
      </p:sp>
      <p:sp>
        <p:nvSpPr>
          <p:cNvPr id="8" name="Freeform: Shape 16"/>
          <p:cNvSpPr/>
          <p:nvPr/>
        </p:nvSpPr>
        <p:spPr>
          <a:xfrm>
            <a:off x="9545714" y="2155863"/>
            <a:ext cx="310886" cy="325016"/>
          </a:xfrm>
          <a:custGeom>
            <a:avLst/>
            <a:gdLst>
              <a:gd name="connsiteX0" fmla="*/ 1709 w 376007"/>
              <a:gd name="connsiteY0" fmla="*/ 391484 h 393098"/>
              <a:gd name="connsiteX1" fmla="*/ 8546 w 376007"/>
              <a:gd name="connsiteY1" fmla="*/ 393194 h 393098"/>
              <a:gd name="connsiteX2" fmla="*/ 11964 w 376007"/>
              <a:gd name="connsiteY2" fmla="*/ 393194 h 393098"/>
              <a:gd name="connsiteX3" fmla="*/ 126475 w 376007"/>
              <a:gd name="connsiteY3" fmla="*/ 350465 h 393098"/>
              <a:gd name="connsiteX4" fmla="*/ 157240 w 376007"/>
              <a:gd name="connsiteY4" fmla="*/ 367557 h 393098"/>
              <a:gd name="connsiteX5" fmla="*/ 179458 w 376007"/>
              <a:gd name="connsiteY5" fmla="*/ 372684 h 393098"/>
              <a:gd name="connsiteX6" fmla="*/ 206804 w 376007"/>
              <a:gd name="connsiteY6" fmla="*/ 365847 h 393098"/>
              <a:gd name="connsiteX7" fmla="*/ 234150 w 376007"/>
              <a:gd name="connsiteY7" fmla="*/ 323119 h 393098"/>
              <a:gd name="connsiteX8" fmla="*/ 225605 w 376007"/>
              <a:gd name="connsiteY8" fmla="*/ 270137 h 393098"/>
              <a:gd name="connsiteX9" fmla="*/ 299097 w 376007"/>
              <a:gd name="connsiteY9" fmla="*/ 196644 h 393098"/>
              <a:gd name="connsiteX10" fmla="*/ 309352 w 376007"/>
              <a:gd name="connsiteY10" fmla="*/ 198353 h 393098"/>
              <a:gd name="connsiteX11" fmla="*/ 321315 w 376007"/>
              <a:gd name="connsiteY11" fmla="*/ 198353 h 393098"/>
              <a:gd name="connsiteX12" fmla="*/ 384553 w 376007"/>
              <a:gd name="connsiteY12" fmla="*/ 171007 h 393098"/>
              <a:gd name="connsiteX13" fmla="*/ 386262 w 376007"/>
              <a:gd name="connsiteY13" fmla="*/ 169298 h 393098"/>
              <a:gd name="connsiteX14" fmla="*/ 387972 w 376007"/>
              <a:gd name="connsiteY14" fmla="*/ 167589 h 393098"/>
              <a:gd name="connsiteX15" fmla="*/ 387972 w 376007"/>
              <a:gd name="connsiteY15" fmla="*/ 167589 h 393098"/>
              <a:gd name="connsiteX16" fmla="*/ 333279 w 376007"/>
              <a:gd name="connsiteY16" fmla="*/ 59914 h 393098"/>
              <a:gd name="connsiteX17" fmla="*/ 225605 w 376007"/>
              <a:gd name="connsiteY17" fmla="*/ 5222 h 393098"/>
              <a:gd name="connsiteX18" fmla="*/ 199968 w 376007"/>
              <a:gd name="connsiteY18" fmla="*/ 92388 h 393098"/>
              <a:gd name="connsiteX19" fmla="*/ 124766 w 376007"/>
              <a:gd name="connsiteY19" fmla="*/ 167589 h 393098"/>
              <a:gd name="connsiteX20" fmla="*/ 70074 w 376007"/>
              <a:gd name="connsiteY20" fmla="*/ 159044 h 393098"/>
              <a:gd name="connsiteX21" fmla="*/ 27346 w 376007"/>
              <a:gd name="connsiteY21" fmla="*/ 186389 h 393098"/>
              <a:gd name="connsiteX22" fmla="*/ 25637 w 376007"/>
              <a:gd name="connsiteY22" fmla="*/ 237663 h 393098"/>
              <a:gd name="connsiteX23" fmla="*/ 42728 w 376007"/>
              <a:gd name="connsiteY23" fmla="*/ 268427 h 393098"/>
              <a:gd name="connsiteX24" fmla="*/ 0 w 376007"/>
              <a:gd name="connsiteY24" fmla="*/ 382939 h 393098"/>
              <a:gd name="connsiteX25" fmla="*/ 1709 w 376007"/>
              <a:gd name="connsiteY25" fmla="*/ 391484 h 393098"/>
              <a:gd name="connsiteX26" fmla="*/ 321315 w 376007"/>
              <a:gd name="connsiteY26" fmla="*/ 71878 h 393098"/>
              <a:gd name="connsiteX27" fmla="*/ 376008 w 376007"/>
              <a:gd name="connsiteY27" fmla="*/ 153916 h 393098"/>
              <a:gd name="connsiteX28" fmla="*/ 358916 w 376007"/>
              <a:gd name="connsiteY28" fmla="*/ 148789 h 393098"/>
              <a:gd name="connsiteX29" fmla="*/ 357207 w 376007"/>
              <a:gd name="connsiteY29" fmla="*/ 148789 h 393098"/>
              <a:gd name="connsiteX30" fmla="*/ 348661 w 376007"/>
              <a:gd name="connsiteY30" fmla="*/ 143661 h 393098"/>
              <a:gd name="connsiteX31" fmla="*/ 345244 w 376007"/>
              <a:gd name="connsiteY31" fmla="*/ 141952 h 393098"/>
              <a:gd name="connsiteX32" fmla="*/ 336698 w 376007"/>
              <a:gd name="connsiteY32" fmla="*/ 136825 h 393098"/>
              <a:gd name="connsiteX33" fmla="*/ 331570 w 376007"/>
              <a:gd name="connsiteY33" fmla="*/ 133407 h 393098"/>
              <a:gd name="connsiteX34" fmla="*/ 323025 w 376007"/>
              <a:gd name="connsiteY34" fmla="*/ 126570 h 393098"/>
              <a:gd name="connsiteX35" fmla="*/ 314479 w 376007"/>
              <a:gd name="connsiteY35" fmla="*/ 119734 h 393098"/>
              <a:gd name="connsiteX36" fmla="*/ 307643 w 376007"/>
              <a:gd name="connsiteY36" fmla="*/ 114606 h 393098"/>
              <a:gd name="connsiteX37" fmla="*/ 292261 w 376007"/>
              <a:gd name="connsiteY37" fmla="*/ 99224 h 393098"/>
              <a:gd name="connsiteX38" fmla="*/ 276879 w 376007"/>
              <a:gd name="connsiteY38" fmla="*/ 82133 h 393098"/>
              <a:gd name="connsiteX39" fmla="*/ 237568 w 376007"/>
              <a:gd name="connsiteY39" fmla="*/ 15477 h 393098"/>
              <a:gd name="connsiteX40" fmla="*/ 239278 w 376007"/>
              <a:gd name="connsiteY40" fmla="*/ 15477 h 393098"/>
              <a:gd name="connsiteX41" fmla="*/ 321315 w 376007"/>
              <a:gd name="connsiteY41" fmla="*/ 71878 h 393098"/>
              <a:gd name="connsiteX42" fmla="*/ 223896 w 376007"/>
              <a:gd name="connsiteY42" fmla="*/ 35987 h 393098"/>
              <a:gd name="connsiteX43" fmla="*/ 223896 w 376007"/>
              <a:gd name="connsiteY43" fmla="*/ 35987 h 393098"/>
              <a:gd name="connsiteX44" fmla="*/ 225605 w 376007"/>
              <a:gd name="connsiteY44" fmla="*/ 41114 h 393098"/>
              <a:gd name="connsiteX45" fmla="*/ 227313 w 376007"/>
              <a:gd name="connsiteY45" fmla="*/ 44532 h 393098"/>
              <a:gd name="connsiteX46" fmla="*/ 232441 w 376007"/>
              <a:gd name="connsiteY46" fmla="*/ 53078 h 393098"/>
              <a:gd name="connsiteX47" fmla="*/ 280296 w 376007"/>
              <a:gd name="connsiteY47" fmla="*/ 114606 h 393098"/>
              <a:gd name="connsiteX48" fmla="*/ 302515 w 376007"/>
              <a:gd name="connsiteY48" fmla="*/ 135116 h 393098"/>
              <a:gd name="connsiteX49" fmla="*/ 302515 w 376007"/>
              <a:gd name="connsiteY49" fmla="*/ 135116 h 393098"/>
              <a:gd name="connsiteX50" fmla="*/ 312770 w 376007"/>
              <a:gd name="connsiteY50" fmla="*/ 143661 h 393098"/>
              <a:gd name="connsiteX51" fmla="*/ 316188 w 376007"/>
              <a:gd name="connsiteY51" fmla="*/ 147080 h 393098"/>
              <a:gd name="connsiteX52" fmla="*/ 323025 w 376007"/>
              <a:gd name="connsiteY52" fmla="*/ 152207 h 393098"/>
              <a:gd name="connsiteX53" fmla="*/ 328152 w 376007"/>
              <a:gd name="connsiteY53" fmla="*/ 155625 h 393098"/>
              <a:gd name="connsiteX54" fmla="*/ 331570 w 376007"/>
              <a:gd name="connsiteY54" fmla="*/ 157334 h 393098"/>
              <a:gd name="connsiteX55" fmla="*/ 355498 w 376007"/>
              <a:gd name="connsiteY55" fmla="*/ 171007 h 393098"/>
              <a:gd name="connsiteX56" fmla="*/ 357207 w 376007"/>
              <a:gd name="connsiteY56" fmla="*/ 171007 h 393098"/>
              <a:gd name="connsiteX57" fmla="*/ 311061 w 376007"/>
              <a:gd name="connsiteY57" fmla="*/ 181262 h 393098"/>
              <a:gd name="connsiteX58" fmla="*/ 297388 w 376007"/>
              <a:gd name="connsiteY58" fmla="*/ 177844 h 393098"/>
              <a:gd name="connsiteX59" fmla="*/ 290551 w 376007"/>
              <a:gd name="connsiteY59" fmla="*/ 174426 h 393098"/>
              <a:gd name="connsiteX60" fmla="*/ 282006 w 376007"/>
              <a:gd name="connsiteY60" fmla="*/ 171007 h 393098"/>
              <a:gd name="connsiteX61" fmla="*/ 275169 w 376007"/>
              <a:gd name="connsiteY61" fmla="*/ 167589 h 393098"/>
              <a:gd name="connsiteX62" fmla="*/ 264914 w 376007"/>
              <a:gd name="connsiteY62" fmla="*/ 160753 h 393098"/>
              <a:gd name="connsiteX63" fmla="*/ 259787 w 376007"/>
              <a:gd name="connsiteY63" fmla="*/ 157334 h 393098"/>
              <a:gd name="connsiteX64" fmla="*/ 246114 w 376007"/>
              <a:gd name="connsiteY64" fmla="*/ 145370 h 393098"/>
              <a:gd name="connsiteX65" fmla="*/ 235859 w 376007"/>
              <a:gd name="connsiteY65" fmla="*/ 133407 h 393098"/>
              <a:gd name="connsiteX66" fmla="*/ 215350 w 376007"/>
              <a:gd name="connsiteY66" fmla="*/ 92388 h 393098"/>
              <a:gd name="connsiteX67" fmla="*/ 215350 w 376007"/>
              <a:gd name="connsiteY67" fmla="*/ 92388 h 393098"/>
              <a:gd name="connsiteX68" fmla="*/ 223896 w 376007"/>
              <a:gd name="connsiteY68" fmla="*/ 35987 h 393098"/>
              <a:gd name="connsiteX69" fmla="*/ 210222 w 376007"/>
              <a:gd name="connsiteY69" fmla="*/ 121443 h 393098"/>
              <a:gd name="connsiteX70" fmla="*/ 211931 w 376007"/>
              <a:gd name="connsiteY70" fmla="*/ 123152 h 393098"/>
              <a:gd name="connsiteX71" fmla="*/ 217059 w 376007"/>
              <a:gd name="connsiteY71" fmla="*/ 133407 h 393098"/>
              <a:gd name="connsiteX72" fmla="*/ 218768 w 376007"/>
              <a:gd name="connsiteY72" fmla="*/ 136825 h 393098"/>
              <a:gd name="connsiteX73" fmla="*/ 225605 w 376007"/>
              <a:gd name="connsiteY73" fmla="*/ 145370 h 393098"/>
              <a:gd name="connsiteX74" fmla="*/ 227313 w 376007"/>
              <a:gd name="connsiteY74" fmla="*/ 147080 h 393098"/>
              <a:gd name="connsiteX75" fmla="*/ 235859 w 376007"/>
              <a:gd name="connsiteY75" fmla="*/ 157334 h 393098"/>
              <a:gd name="connsiteX76" fmla="*/ 246114 w 376007"/>
              <a:gd name="connsiteY76" fmla="*/ 165880 h 393098"/>
              <a:gd name="connsiteX77" fmla="*/ 249532 w 376007"/>
              <a:gd name="connsiteY77" fmla="*/ 167589 h 393098"/>
              <a:gd name="connsiteX78" fmla="*/ 256369 w 376007"/>
              <a:gd name="connsiteY78" fmla="*/ 172717 h 393098"/>
              <a:gd name="connsiteX79" fmla="*/ 259787 w 376007"/>
              <a:gd name="connsiteY79" fmla="*/ 174426 h 393098"/>
              <a:gd name="connsiteX80" fmla="*/ 268333 w 376007"/>
              <a:gd name="connsiteY80" fmla="*/ 179553 h 393098"/>
              <a:gd name="connsiteX81" fmla="*/ 270042 w 376007"/>
              <a:gd name="connsiteY81" fmla="*/ 181262 h 393098"/>
              <a:gd name="connsiteX82" fmla="*/ 282006 w 376007"/>
              <a:gd name="connsiteY82" fmla="*/ 186389 h 393098"/>
              <a:gd name="connsiteX83" fmla="*/ 244405 w 376007"/>
              <a:gd name="connsiteY83" fmla="*/ 223990 h 393098"/>
              <a:gd name="connsiteX84" fmla="*/ 208513 w 376007"/>
              <a:gd name="connsiteY84" fmla="*/ 259882 h 393098"/>
              <a:gd name="connsiteX85" fmla="*/ 162367 w 376007"/>
              <a:gd name="connsiteY85" fmla="*/ 229117 h 393098"/>
              <a:gd name="connsiteX86" fmla="*/ 133312 w 376007"/>
              <a:gd name="connsiteY86" fmla="*/ 188099 h 393098"/>
              <a:gd name="connsiteX87" fmla="*/ 131603 w 376007"/>
              <a:gd name="connsiteY87" fmla="*/ 182971 h 393098"/>
              <a:gd name="connsiteX88" fmla="*/ 205095 w 376007"/>
              <a:gd name="connsiteY88" fmla="*/ 109479 h 393098"/>
              <a:gd name="connsiteX89" fmla="*/ 210222 w 376007"/>
              <a:gd name="connsiteY89" fmla="*/ 121443 h 393098"/>
              <a:gd name="connsiteX90" fmla="*/ 42728 w 376007"/>
              <a:gd name="connsiteY90" fmla="*/ 194935 h 393098"/>
              <a:gd name="connsiteX91" fmla="*/ 71783 w 376007"/>
              <a:gd name="connsiteY91" fmla="*/ 176135 h 393098"/>
              <a:gd name="connsiteX92" fmla="*/ 80329 w 376007"/>
              <a:gd name="connsiteY92" fmla="*/ 176135 h 393098"/>
              <a:gd name="connsiteX93" fmla="*/ 112802 w 376007"/>
              <a:gd name="connsiteY93" fmla="*/ 181262 h 393098"/>
              <a:gd name="connsiteX94" fmla="*/ 112802 w 376007"/>
              <a:gd name="connsiteY94" fmla="*/ 184680 h 393098"/>
              <a:gd name="connsiteX95" fmla="*/ 150403 w 376007"/>
              <a:gd name="connsiteY95" fmla="*/ 244500 h 393098"/>
              <a:gd name="connsiteX96" fmla="*/ 208513 w 376007"/>
              <a:gd name="connsiteY96" fmla="*/ 282100 h 393098"/>
              <a:gd name="connsiteX97" fmla="*/ 210222 w 376007"/>
              <a:gd name="connsiteY97" fmla="*/ 282100 h 393098"/>
              <a:gd name="connsiteX98" fmla="*/ 210222 w 376007"/>
              <a:gd name="connsiteY98" fmla="*/ 282100 h 393098"/>
              <a:gd name="connsiteX99" fmla="*/ 210222 w 376007"/>
              <a:gd name="connsiteY99" fmla="*/ 282100 h 393098"/>
              <a:gd name="connsiteX100" fmla="*/ 215350 w 376007"/>
              <a:gd name="connsiteY100" fmla="*/ 323119 h 393098"/>
              <a:gd name="connsiteX101" fmla="*/ 196549 w 376007"/>
              <a:gd name="connsiteY101" fmla="*/ 352175 h 393098"/>
              <a:gd name="connsiteX102" fmla="*/ 160658 w 376007"/>
              <a:gd name="connsiteY102" fmla="*/ 353884 h 393098"/>
              <a:gd name="connsiteX103" fmla="*/ 129894 w 376007"/>
              <a:gd name="connsiteY103" fmla="*/ 335083 h 393098"/>
              <a:gd name="connsiteX104" fmla="*/ 129894 w 376007"/>
              <a:gd name="connsiteY104" fmla="*/ 335083 h 393098"/>
              <a:gd name="connsiteX105" fmla="*/ 109384 w 376007"/>
              <a:gd name="connsiteY105" fmla="*/ 319701 h 393098"/>
              <a:gd name="connsiteX106" fmla="*/ 109384 w 376007"/>
              <a:gd name="connsiteY106" fmla="*/ 319701 h 393098"/>
              <a:gd name="connsiteX107" fmla="*/ 90583 w 376007"/>
              <a:gd name="connsiteY107" fmla="*/ 302610 h 393098"/>
              <a:gd name="connsiteX108" fmla="*/ 73492 w 376007"/>
              <a:gd name="connsiteY108" fmla="*/ 283810 h 393098"/>
              <a:gd name="connsiteX109" fmla="*/ 73492 w 376007"/>
              <a:gd name="connsiteY109" fmla="*/ 283810 h 393098"/>
              <a:gd name="connsiteX110" fmla="*/ 58110 w 376007"/>
              <a:gd name="connsiteY110" fmla="*/ 265009 h 393098"/>
              <a:gd name="connsiteX111" fmla="*/ 39310 w 376007"/>
              <a:gd name="connsiteY111" fmla="*/ 232536 h 393098"/>
              <a:gd name="connsiteX112" fmla="*/ 42728 w 376007"/>
              <a:gd name="connsiteY112" fmla="*/ 194935 h 393098"/>
              <a:gd name="connsiteX113" fmla="*/ 54692 w 376007"/>
              <a:gd name="connsiteY113" fmla="*/ 283810 h 393098"/>
              <a:gd name="connsiteX114" fmla="*/ 58110 w 376007"/>
              <a:gd name="connsiteY114" fmla="*/ 288937 h 393098"/>
              <a:gd name="connsiteX115" fmla="*/ 64947 w 376007"/>
              <a:gd name="connsiteY115" fmla="*/ 295773 h 393098"/>
              <a:gd name="connsiteX116" fmla="*/ 80329 w 376007"/>
              <a:gd name="connsiteY116" fmla="*/ 312865 h 393098"/>
              <a:gd name="connsiteX117" fmla="*/ 97420 w 376007"/>
              <a:gd name="connsiteY117" fmla="*/ 328247 h 393098"/>
              <a:gd name="connsiteX118" fmla="*/ 105966 w 376007"/>
              <a:gd name="connsiteY118" fmla="*/ 335083 h 393098"/>
              <a:gd name="connsiteX119" fmla="*/ 111093 w 376007"/>
              <a:gd name="connsiteY119" fmla="*/ 338502 h 393098"/>
              <a:gd name="connsiteX120" fmla="*/ 25637 w 376007"/>
              <a:gd name="connsiteY120" fmla="*/ 370975 h 393098"/>
              <a:gd name="connsiteX121" fmla="*/ 54692 w 376007"/>
              <a:gd name="connsiteY121" fmla="*/ 283810 h 393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376007" h="393098">
                <a:moveTo>
                  <a:pt x="1709" y="391484"/>
                </a:moveTo>
                <a:cubicBezTo>
                  <a:pt x="3418" y="393194"/>
                  <a:pt x="5127" y="393194"/>
                  <a:pt x="8546" y="393194"/>
                </a:cubicBezTo>
                <a:cubicBezTo>
                  <a:pt x="10255" y="393194"/>
                  <a:pt x="10255" y="393194"/>
                  <a:pt x="11964" y="393194"/>
                </a:cubicBezTo>
                <a:lnTo>
                  <a:pt x="126475" y="350465"/>
                </a:lnTo>
                <a:cubicBezTo>
                  <a:pt x="136730" y="357302"/>
                  <a:pt x="146985" y="364138"/>
                  <a:pt x="157240" y="367557"/>
                </a:cubicBezTo>
                <a:cubicBezTo>
                  <a:pt x="164076" y="370975"/>
                  <a:pt x="172622" y="372684"/>
                  <a:pt x="179458" y="372684"/>
                </a:cubicBezTo>
                <a:cubicBezTo>
                  <a:pt x="189713" y="372684"/>
                  <a:pt x="198259" y="370975"/>
                  <a:pt x="206804" y="365847"/>
                </a:cubicBezTo>
                <a:cubicBezTo>
                  <a:pt x="222186" y="357302"/>
                  <a:pt x="232441" y="341920"/>
                  <a:pt x="234150" y="323119"/>
                </a:cubicBezTo>
                <a:cubicBezTo>
                  <a:pt x="235859" y="306028"/>
                  <a:pt x="232441" y="288937"/>
                  <a:pt x="225605" y="270137"/>
                </a:cubicBezTo>
                <a:lnTo>
                  <a:pt x="299097" y="196644"/>
                </a:lnTo>
                <a:cubicBezTo>
                  <a:pt x="302515" y="196644"/>
                  <a:pt x="305933" y="198353"/>
                  <a:pt x="309352" y="198353"/>
                </a:cubicBezTo>
                <a:cubicBezTo>
                  <a:pt x="312770" y="198353"/>
                  <a:pt x="317897" y="198353"/>
                  <a:pt x="321315" y="198353"/>
                </a:cubicBezTo>
                <a:cubicBezTo>
                  <a:pt x="345244" y="198353"/>
                  <a:pt x="367462" y="189808"/>
                  <a:pt x="384553" y="171007"/>
                </a:cubicBezTo>
                <a:cubicBezTo>
                  <a:pt x="384553" y="171007"/>
                  <a:pt x="384553" y="169298"/>
                  <a:pt x="386262" y="169298"/>
                </a:cubicBezTo>
                <a:cubicBezTo>
                  <a:pt x="386262" y="169298"/>
                  <a:pt x="387972" y="169298"/>
                  <a:pt x="387972" y="167589"/>
                </a:cubicBezTo>
                <a:cubicBezTo>
                  <a:pt x="387972" y="167589"/>
                  <a:pt x="387972" y="167589"/>
                  <a:pt x="387972" y="167589"/>
                </a:cubicBezTo>
                <a:cubicBezTo>
                  <a:pt x="408481" y="147080"/>
                  <a:pt x="362335" y="90679"/>
                  <a:pt x="333279" y="59914"/>
                </a:cubicBezTo>
                <a:cubicBezTo>
                  <a:pt x="304224" y="29150"/>
                  <a:pt x="246114" y="-15287"/>
                  <a:pt x="225605" y="5222"/>
                </a:cubicBezTo>
                <a:cubicBezTo>
                  <a:pt x="201677" y="29150"/>
                  <a:pt x="193131" y="59914"/>
                  <a:pt x="199968" y="92388"/>
                </a:cubicBezTo>
                <a:lnTo>
                  <a:pt x="124766" y="167589"/>
                </a:lnTo>
                <a:cubicBezTo>
                  <a:pt x="105966" y="160753"/>
                  <a:pt x="87165" y="157334"/>
                  <a:pt x="70074" y="159044"/>
                </a:cubicBezTo>
                <a:cubicBezTo>
                  <a:pt x="51274" y="160753"/>
                  <a:pt x="35892" y="171007"/>
                  <a:pt x="27346" y="186389"/>
                </a:cubicBezTo>
                <a:cubicBezTo>
                  <a:pt x="18800" y="201772"/>
                  <a:pt x="17091" y="220572"/>
                  <a:pt x="25637" y="237663"/>
                </a:cubicBezTo>
                <a:cubicBezTo>
                  <a:pt x="30764" y="247918"/>
                  <a:pt x="35892" y="258173"/>
                  <a:pt x="42728" y="268427"/>
                </a:cubicBezTo>
                <a:lnTo>
                  <a:pt x="0" y="382939"/>
                </a:lnTo>
                <a:cubicBezTo>
                  <a:pt x="0" y="384648"/>
                  <a:pt x="0" y="388066"/>
                  <a:pt x="1709" y="391484"/>
                </a:cubicBezTo>
                <a:close/>
                <a:moveTo>
                  <a:pt x="321315" y="71878"/>
                </a:moveTo>
                <a:cubicBezTo>
                  <a:pt x="365753" y="116315"/>
                  <a:pt x="379426" y="148789"/>
                  <a:pt x="376008" y="153916"/>
                </a:cubicBezTo>
                <a:cubicBezTo>
                  <a:pt x="372589" y="155625"/>
                  <a:pt x="367462" y="153916"/>
                  <a:pt x="358916" y="148789"/>
                </a:cubicBezTo>
                <a:cubicBezTo>
                  <a:pt x="358916" y="148789"/>
                  <a:pt x="358916" y="148789"/>
                  <a:pt x="357207" y="148789"/>
                </a:cubicBezTo>
                <a:cubicBezTo>
                  <a:pt x="353789" y="147080"/>
                  <a:pt x="352080" y="145370"/>
                  <a:pt x="348661" y="143661"/>
                </a:cubicBezTo>
                <a:cubicBezTo>
                  <a:pt x="346952" y="143661"/>
                  <a:pt x="346952" y="141952"/>
                  <a:pt x="345244" y="141952"/>
                </a:cubicBezTo>
                <a:cubicBezTo>
                  <a:pt x="341825" y="140243"/>
                  <a:pt x="340116" y="138534"/>
                  <a:pt x="336698" y="136825"/>
                </a:cubicBezTo>
                <a:cubicBezTo>
                  <a:pt x="334989" y="135116"/>
                  <a:pt x="333279" y="135116"/>
                  <a:pt x="331570" y="133407"/>
                </a:cubicBezTo>
                <a:cubicBezTo>
                  <a:pt x="328152" y="131697"/>
                  <a:pt x="326443" y="129988"/>
                  <a:pt x="323025" y="126570"/>
                </a:cubicBezTo>
                <a:cubicBezTo>
                  <a:pt x="321315" y="124861"/>
                  <a:pt x="317897" y="121443"/>
                  <a:pt x="314479" y="119734"/>
                </a:cubicBezTo>
                <a:cubicBezTo>
                  <a:pt x="312770" y="118024"/>
                  <a:pt x="309352" y="116315"/>
                  <a:pt x="307643" y="114606"/>
                </a:cubicBezTo>
                <a:cubicBezTo>
                  <a:pt x="302515" y="109479"/>
                  <a:pt x="297388" y="104352"/>
                  <a:pt x="292261" y="99224"/>
                </a:cubicBezTo>
                <a:cubicBezTo>
                  <a:pt x="287133" y="94097"/>
                  <a:pt x="282006" y="87260"/>
                  <a:pt x="276879" y="82133"/>
                </a:cubicBezTo>
                <a:cubicBezTo>
                  <a:pt x="244405" y="46241"/>
                  <a:pt x="235859" y="20604"/>
                  <a:pt x="237568" y="15477"/>
                </a:cubicBezTo>
                <a:cubicBezTo>
                  <a:pt x="237568" y="15477"/>
                  <a:pt x="239278" y="15477"/>
                  <a:pt x="239278" y="15477"/>
                </a:cubicBezTo>
                <a:cubicBezTo>
                  <a:pt x="249532" y="17186"/>
                  <a:pt x="278587" y="30859"/>
                  <a:pt x="321315" y="71878"/>
                </a:cubicBezTo>
                <a:close/>
                <a:moveTo>
                  <a:pt x="223896" y="35987"/>
                </a:moveTo>
                <a:cubicBezTo>
                  <a:pt x="223896" y="35987"/>
                  <a:pt x="223896" y="35987"/>
                  <a:pt x="223896" y="35987"/>
                </a:cubicBezTo>
                <a:cubicBezTo>
                  <a:pt x="223896" y="37696"/>
                  <a:pt x="225605" y="39405"/>
                  <a:pt x="225605" y="41114"/>
                </a:cubicBezTo>
                <a:cubicBezTo>
                  <a:pt x="225605" y="42823"/>
                  <a:pt x="227313" y="42823"/>
                  <a:pt x="227313" y="44532"/>
                </a:cubicBezTo>
                <a:cubicBezTo>
                  <a:pt x="229023" y="47950"/>
                  <a:pt x="230732" y="49659"/>
                  <a:pt x="232441" y="53078"/>
                </a:cubicBezTo>
                <a:cubicBezTo>
                  <a:pt x="242696" y="71878"/>
                  <a:pt x="259787" y="92388"/>
                  <a:pt x="280296" y="114606"/>
                </a:cubicBezTo>
                <a:cubicBezTo>
                  <a:pt x="287133" y="121443"/>
                  <a:pt x="293970" y="128279"/>
                  <a:pt x="302515" y="135116"/>
                </a:cubicBezTo>
                <a:cubicBezTo>
                  <a:pt x="302515" y="135116"/>
                  <a:pt x="302515" y="135116"/>
                  <a:pt x="302515" y="135116"/>
                </a:cubicBezTo>
                <a:cubicBezTo>
                  <a:pt x="305933" y="138534"/>
                  <a:pt x="309352" y="141952"/>
                  <a:pt x="312770" y="143661"/>
                </a:cubicBezTo>
                <a:cubicBezTo>
                  <a:pt x="314479" y="145370"/>
                  <a:pt x="314479" y="145370"/>
                  <a:pt x="316188" y="147080"/>
                </a:cubicBezTo>
                <a:cubicBezTo>
                  <a:pt x="317897" y="148789"/>
                  <a:pt x="321315" y="150498"/>
                  <a:pt x="323025" y="152207"/>
                </a:cubicBezTo>
                <a:cubicBezTo>
                  <a:pt x="324734" y="153916"/>
                  <a:pt x="326443" y="155625"/>
                  <a:pt x="328152" y="155625"/>
                </a:cubicBezTo>
                <a:cubicBezTo>
                  <a:pt x="329861" y="157334"/>
                  <a:pt x="329861" y="157334"/>
                  <a:pt x="331570" y="157334"/>
                </a:cubicBezTo>
                <a:cubicBezTo>
                  <a:pt x="340116" y="162462"/>
                  <a:pt x="348661" y="167589"/>
                  <a:pt x="355498" y="171007"/>
                </a:cubicBezTo>
                <a:cubicBezTo>
                  <a:pt x="355498" y="171007"/>
                  <a:pt x="355498" y="171007"/>
                  <a:pt x="357207" y="171007"/>
                </a:cubicBezTo>
                <a:cubicBezTo>
                  <a:pt x="343534" y="179553"/>
                  <a:pt x="326443" y="182971"/>
                  <a:pt x="311061" y="181262"/>
                </a:cubicBezTo>
                <a:cubicBezTo>
                  <a:pt x="305933" y="181262"/>
                  <a:pt x="302515" y="179553"/>
                  <a:pt x="297388" y="177844"/>
                </a:cubicBezTo>
                <a:cubicBezTo>
                  <a:pt x="295678" y="177844"/>
                  <a:pt x="292261" y="176135"/>
                  <a:pt x="290551" y="174426"/>
                </a:cubicBezTo>
                <a:cubicBezTo>
                  <a:pt x="287133" y="172717"/>
                  <a:pt x="285424" y="172717"/>
                  <a:pt x="282006" y="171007"/>
                </a:cubicBezTo>
                <a:cubicBezTo>
                  <a:pt x="280296" y="169298"/>
                  <a:pt x="276879" y="169298"/>
                  <a:pt x="275169" y="167589"/>
                </a:cubicBezTo>
                <a:cubicBezTo>
                  <a:pt x="271751" y="165880"/>
                  <a:pt x="268333" y="164171"/>
                  <a:pt x="264914" y="160753"/>
                </a:cubicBezTo>
                <a:cubicBezTo>
                  <a:pt x="263205" y="159044"/>
                  <a:pt x="261496" y="159044"/>
                  <a:pt x="259787" y="157334"/>
                </a:cubicBezTo>
                <a:cubicBezTo>
                  <a:pt x="254660" y="153916"/>
                  <a:pt x="249532" y="150498"/>
                  <a:pt x="246114" y="145370"/>
                </a:cubicBezTo>
                <a:cubicBezTo>
                  <a:pt x="242696" y="141952"/>
                  <a:pt x="239278" y="136825"/>
                  <a:pt x="235859" y="133407"/>
                </a:cubicBezTo>
                <a:cubicBezTo>
                  <a:pt x="225605" y="121443"/>
                  <a:pt x="218768" y="107770"/>
                  <a:pt x="215350" y="92388"/>
                </a:cubicBezTo>
                <a:cubicBezTo>
                  <a:pt x="215350" y="92388"/>
                  <a:pt x="215350" y="92388"/>
                  <a:pt x="215350" y="92388"/>
                </a:cubicBezTo>
                <a:cubicBezTo>
                  <a:pt x="211931" y="71878"/>
                  <a:pt x="213641" y="53078"/>
                  <a:pt x="223896" y="35987"/>
                </a:cubicBezTo>
                <a:close/>
                <a:moveTo>
                  <a:pt x="210222" y="121443"/>
                </a:moveTo>
                <a:cubicBezTo>
                  <a:pt x="210222" y="121443"/>
                  <a:pt x="210222" y="123152"/>
                  <a:pt x="211931" y="123152"/>
                </a:cubicBezTo>
                <a:cubicBezTo>
                  <a:pt x="213641" y="126570"/>
                  <a:pt x="215350" y="129988"/>
                  <a:pt x="217059" y="133407"/>
                </a:cubicBezTo>
                <a:cubicBezTo>
                  <a:pt x="217059" y="135116"/>
                  <a:pt x="218768" y="135116"/>
                  <a:pt x="218768" y="136825"/>
                </a:cubicBezTo>
                <a:cubicBezTo>
                  <a:pt x="220477" y="140243"/>
                  <a:pt x="222186" y="141952"/>
                  <a:pt x="225605" y="145370"/>
                </a:cubicBezTo>
                <a:cubicBezTo>
                  <a:pt x="225605" y="145370"/>
                  <a:pt x="227313" y="147080"/>
                  <a:pt x="227313" y="147080"/>
                </a:cubicBezTo>
                <a:cubicBezTo>
                  <a:pt x="230732" y="150498"/>
                  <a:pt x="232441" y="153916"/>
                  <a:pt x="235859" y="157334"/>
                </a:cubicBezTo>
                <a:cubicBezTo>
                  <a:pt x="239278" y="160753"/>
                  <a:pt x="242696" y="164171"/>
                  <a:pt x="246114" y="165880"/>
                </a:cubicBezTo>
                <a:cubicBezTo>
                  <a:pt x="247823" y="165880"/>
                  <a:pt x="247823" y="167589"/>
                  <a:pt x="249532" y="167589"/>
                </a:cubicBezTo>
                <a:cubicBezTo>
                  <a:pt x="251242" y="169298"/>
                  <a:pt x="254660" y="171007"/>
                  <a:pt x="256369" y="172717"/>
                </a:cubicBezTo>
                <a:cubicBezTo>
                  <a:pt x="258078" y="172717"/>
                  <a:pt x="258078" y="174426"/>
                  <a:pt x="259787" y="174426"/>
                </a:cubicBezTo>
                <a:cubicBezTo>
                  <a:pt x="263205" y="176135"/>
                  <a:pt x="266624" y="177844"/>
                  <a:pt x="268333" y="179553"/>
                </a:cubicBezTo>
                <a:cubicBezTo>
                  <a:pt x="268333" y="179553"/>
                  <a:pt x="270042" y="179553"/>
                  <a:pt x="270042" y="181262"/>
                </a:cubicBezTo>
                <a:cubicBezTo>
                  <a:pt x="273460" y="182971"/>
                  <a:pt x="278587" y="184680"/>
                  <a:pt x="282006" y="186389"/>
                </a:cubicBezTo>
                <a:lnTo>
                  <a:pt x="244405" y="223990"/>
                </a:lnTo>
                <a:lnTo>
                  <a:pt x="208513" y="259882"/>
                </a:lnTo>
                <a:cubicBezTo>
                  <a:pt x="193131" y="254754"/>
                  <a:pt x="177749" y="244500"/>
                  <a:pt x="162367" y="229117"/>
                </a:cubicBezTo>
                <a:cubicBezTo>
                  <a:pt x="146985" y="213735"/>
                  <a:pt x="138439" y="200062"/>
                  <a:pt x="133312" y="188099"/>
                </a:cubicBezTo>
                <a:cubicBezTo>
                  <a:pt x="133312" y="186389"/>
                  <a:pt x="131603" y="184680"/>
                  <a:pt x="131603" y="182971"/>
                </a:cubicBezTo>
                <a:lnTo>
                  <a:pt x="205095" y="109479"/>
                </a:lnTo>
                <a:cubicBezTo>
                  <a:pt x="206804" y="114606"/>
                  <a:pt x="208513" y="118024"/>
                  <a:pt x="210222" y="121443"/>
                </a:cubicBezTo>
                <a:close/>
                <a:moveTo>
                  <a:pt x="42728" y="194935"/>
                </a:moveTo>
                <a:cubicBezTo>
                  <a:pt x="49565" y="184680"/>
                  <a:pt x="59819" y="177844"/>
                  <a:pt x="71783" y="176135"/>
                </a:cubicBezTo>
                <a:cubicBezTo>
                  <a:pt x="75201" y="176135"/>
                  <a:pt x="76911" y="176135"/>
                  <a:pt x="80329" y="176135"/>
                </a:cubicBezTo>
                <a:cubicBezTo>
                  <a:pt x="90583" y="176135"/>
                  <a:pt x="100838" y="177844"/>
                  <a:pt x="112802" y="181262"/>
                </a:cubicBezTo>
                <a:cubicBezTo>
                  <a:pt x="112802" y="182971"/>
                  <a:pt x="112802" y="182971"/>
                  <a:pt x="112802" y="184680"/>
                </a:cubicBezTo>
                <a:cubicBezTo>
                  <a:pt x="117930" y="203481"/>
                  <a:pt x="129894" y="222281"/>
                  <a:pt x="150403" y="244500"/>
                </a:cubicBezTo>
                <a:cubicBezTo>
                  <a:pt x="169203" y="263300"/>
                  <a:pt x="189713" y="276973"/>
                  <a:pt x="208513" y="282100"/>
                </a:cubicBezTo>
                <a:cubicBezTo>
                  <a:pt x="208513" y="282100"/>
                  <a:pt x="210222" y="282100"/>
                  <a:pt x="210222" y="282100"/>
                </a:cubicBezTo>
                <a:cubicBezTo>
                  <a:pt x="210222" y="282100"/>
                  <a:pt x="210222" y="282100"/>
                  <a:pt x="210222" y="282100"/>
                </a:cubicBezTo>
                <a:cubicBezTo>
                  <a:pt x="210222" y="282100"/>
                  <a:pt x="210222" y="282100"/>
                  <a:pt x="210222" y="282100"/>
                </a:cubicBezTo>
                <a:cubicBezTo>
                  <a:pt x="215350" y="295773"/>
                  <a:pt x="217059" y="309447"/>
                  <a:pt x="215350" y="323119"/>
                </a:cubicBezTo>
                <a:cubicBezTo>
                  <a:pt x="213641" y="335083"/>
                  <a:pt x="206804" y="347047"/>
                  <a:pt x="196549" y="352175"/>
                </a:cubicBezTo>
                <a:cubicBezTo>
                  <a:pt x="186295" y="359011"/>
                  <a:pt x="172622" y="359011"/>
                  <a:pt x="160658" y="353884"/>
                </a:cubicBezTo>
                <a:cubicBezTo>
                  <a:pt x="150403" y="348756"/>
                  <a:pt x="140148" y="343629"/>
                  <a:pt x="129894" y="335083"/>
                </a:cubicBezTo>
                <a:cubicBezTo>
                  <a:pt x="129894" y="335083"/>
                  <a:pt x="129894" y="335083"/>
                  <a:pt x="129894" y="335083"/>
                </a:cubicBezTo>
                <a:cubicBezTo>
                  <a:pt x="123057" y="329956"/>
                  <a:pt x="116220" y="324829"/>
                  <a:pt x="109384" y="319701"/>
                </a:cubicBezTo>
                <a:cubicBezTo>
                  <a:pt x="109384" y="319701"/>
                  <a:pt x="109384" y="319701"/>
                  <a:pt x="109384" y="319701"/>
                </a:cubicBezTo>
                <a:cubicBezTo>
                  <a:pt x="102548" y="314574"/>
                  <a:pt x="95711" y="307737"/>
                  <a:pt x="90583" y="302610"/>
                </a:cubicBezTo>
                <a:cubicBezTo>
                  <a:pt x="83747" y="295773"/>
                  <a:pt x="78620" y="290646"/>
                  <a:pt x="73492" y="283810"/>
                </a:cubicBezTo>
                <a:cubicBezTo>
                  <a:pt x="73492" y="283810"/>
                  <a:pt x="73492" y="283810"/>
                  <a:pt x="73492" y="283810"/>
                </a:cubicBezTo>
                <a:cubicBezTo>
                  <a:pt x="68365" y="276973"/>
                  <a:pt x="63238" y="270137"/>
                  <a:pt x="58110" y="265009"/>
                </a:cubicBezTo>
                <a:cubicBezTo>
                  <a:pt x="49565" y="254754"/>
                  <a:pt x="44437" y="242791"/>
                  <a:pt x="39310" y="232536"/>
                </a:cubicBezTo>
                <a:cubicBezTo>
                  <a:pt x="35892" y="217154"/>
                  <a:pt x="35892" y="205190"/>
                  <a:pt x="42728" y="194935"/>
                </a:cubicBezTo>
                <a:close/>
                <a:moveTo>
                  <a:pt x="54692" y="283810"/>
                </a:moveTo>
                <a:cubicBezTo>
                  <a:pt x="56401" y="285519"/>
                  <a:pt x="58110" y="287228"/>
                  <a:pt x="58110" y="288937"/>
                </a:cubicBezTo>
                <a:cubicBezTo>
                  <a:pt x="59819" y="290646"/>
                  <a:pt x="61529" y="294064"/>
                  <a:pt x="64947" y="295773"/>
                </a:cubicBezTo>
                <a:cubicBezTo>
                  <a:pt x="70074" y="300901"/>
                  <a:pt x="75201" y="306028"/>
                  <a:pt x="80329" y="312865"/>
                </a:cubicBezTo>
                <a:cubicBezTo>
                  <a:pt x="85456" y="317992"/>
                  <a:pt x="90583" y="323119"/>
                  <a:pt x="97420" y="328247"/>
                </a:cubicBezTo>
                <a:cubicBezTo>
                  <a:pt x="100838" y="329956"/>
                  <a:pt x="102548" y="333374"/>
                  <a:pt x="105966" y="335083"/>
                </a:cubicBezTo>
                <a:cubicBezTo>
                  <a:pt x="107675" y="336792"/>
                  <a:pt x="109384" y="338502"/>
                  <a:pt x="111093" y="338502"/>
                </a:cubicBezTo>
                <a:lnTo>
                  <a:pt x="25637" y="370975"/>
                </a:lnTo>
                <a:lnTo>
                  <a:pt x="54692" y="283810"/>
                </a:lnTo>
                <a:close/>
              </a:path>
            </a:pathLst>
          </a:custGeom>
          <a:solidFill>
            <a:schemeClr val="accent1"/>
          </a:solidFill>
          <a:ln w="17082" cap="flat">
            <a:noFill/>
            <a:prstDash val="solid"/>
            <a:miter/>
          </a:ln>
        </p:spPr>
        <p:txBody>
          <a:bodyPr rtlCol="0" anchor="ctr"/>
          <a:lstStyle/>
          <a:p>
            <a:endParaRPr lang="en-ID">
              <a:cs typeface="+mn-ea"/>
              <a:sym typeface="+mn-lt"/>
            </a:endParaRPr>
          </a:p>
        </p:txBody>
      </p:sp>
      <p:cxnSp>
        <p:nvCxnSpPr>
          <p:cNvPr id="14" name="Straight Connector 24"/>
          <p:cNvCxnSpPr/>
          <p:nvPr/>
        </p:nvCxnSpPr>
        <p:spPr>
          <a:xfrm>
            <a:off x="4790229" y="2155530"/>
            <a:ext cx="0" cy="161125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5147438" y="2632054"/>
            <a:ext cx="2089698" cy="113473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CHIP 携带者房颤风险随克隆负荷上升，小鼠 Tet2 缺失加重易感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591345" y="2155530"/>
            <a:ext cx="1456202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克隆性造血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7283458" y="2632054"/>
            <a:ext cx="2089698" cy="113473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尿毒症环境是炎症小体强刺激源，经 NLRP3/IL-1β 造成双重重构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727365" y="2155530"/>
            <a:ext cx="1456202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慢性肾病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Text Box 10"/>
          <p:cNvSpPr txBox="1">
            <a:spLocks noChangeArrowheads="1"/>
          </p:cNvSpPr>
          <p:nvPr/>
        </p:nvSpPr>
        <p:spPr bwMode="auto">
          <a:xfrm>
            <a:off x="9444377" y="2632054"/>
            <a:ext cx="2089698" cy="113473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膳食纤维经菌群发酵产生 SCFA，经 GPR43 抑制 NLRP3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88284" y="2155530"/>
            <a:ext cx="1456202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肠道菌群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791738" y="4483991"/>
            <a:ext cx="10638262" cy="14117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rPr>
              <a:t>三条路径性质不同——衰老与克隆演化、代谢废物蓄积、饮食与菌群结构——却汇聚于同一节点。这正是 NLRP3 更适合被理解为「汇聚点」而非「起点」的原因。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3" name="Footer Text"/>
          <p:cNvSpPr txBox="1"/>
          <p:nvPr/>
        </p:nvSpPr>
        <p:spPr>
          <a:xfrm>
            <a:off x="1343247" y="710205"/>
            <a:ext cx="32956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cs typeface="+mn-ea"/>
                <a:sym typeface="+mn-lt"/>
              </a:rPr>
              <a:t>炎症从何而来</a:t>
            </a:r>
            <a:endParaRPr lang="zh-CN" altLang="en-US" sz="2800" dirty="0">
              <a:cs typeface="+mn-ea"/>
              <a:sym typeface="+mn-lt"/>
            </a:endParaRPr>
          </a:p>
        </p:txBody>
      </p:sp>
      <p:pic>
        <p:nvPicPr>
          <p:cNvPr id="30" name="图片 29" descr="caef76094b36acaf4fbac5a272e12c1600e99c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880" y="381635"/>
            <a:ext cx="792480" cy="1586230"/>
          </a:xfrm>
          <a:prstGeom prst="rect">
            <a:avLst/>
          </a:prstGeom>
        </p:spPr>
      </p:pic>
      <p:pic>
        <p:nvPicPr>
          <p:cNvPr id="24" name="图片 23" descr="005Rm9jOly4grelek7dmbj30u00u0k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95325" y="601345"/>
            <a:ext cx="647700" cy="647700"/>
          </a:xfrm>
          <a:prstGeom prst="rect">
            <a:avLst/>
          </a:prstGeom>
        </p:spPr>
      </p:pic>
      <p:pic>
        <p:nvPicPr>
          <p:cNvPr id="2" name="图片 1" descr="吴衍锋 翔安图书馆学习14"/>
          <p:cNvPicPr>
            <a:picLocks noChangeAspect="1"/>
          </p:cNvPicPr>
          <p:nvPr/>
        </p:nvPicPr>
        <p:blipFill>
          <a:blip r:embed="rId3"/>
          <a:srcRect t="10856" b="3530"/>
          <a:stretch>
            <a:fillRect/>
          </a:stretch>
        </p:blipFill>
        <p:spPr>
          <a:xfrm>
            <a:off x="649605" y="1838325"/>
            <a:ext cx="3938905" cy="2248535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</p:sld>
</file>

<file path=ppt/slides/slide2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 userDrawn="1"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1379690" y="2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1859995" y="797633"/>
            <a:ext cx="216293" cy="1527440"/>
            <a:chOff x="11349438" y="764179"/>
            <a:chExt cx="216293" cy="1527440"/>
          </a:xfrm>
        </p:grpSpPr>
        <p:sp>
          <p:nvSpPr>
            <p:cNvPr id="9" name="等腰三角形 8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3" name="任意多边形: 形状 42"/>
          <p:cNvSpPr/>
          <p:nvPr userDrawn="1"/>
        </p:nvSpPr>
        <p:spPr>
          <a:xfrm rot="10800000">
            <a:off x="1" y="6209613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/>
        </p:nvGrpSpPr>
        <p:grpSpPr>
          <a:xfrm rot="10800000">
            <a:off x="110007" y="4544081"/>
            <a:ext cx="216293" cy="1527440"/>
            <a:chOff x="11349438" y="764179"/>
            <a:chExt cx="216293" cy="1527440"/>
          </a:xfrm>
        </p:grpSpPr>
        <p:sp>
          <p:nvSpPr>
            <p:cNvPr id="45" name="等腰三角形 44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等腰三角形 45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等腰三角形 47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30" name="图片 29" descr="caef76094b36acaf4fbac5a272e12c1600e99c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880" y="381635"/>
            <a:ext cx="792480" cy="158623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032125" y="2269096"/>
            <a:ext cx="489125" cy="489125"/>
            <a:chOff x="1059280" y="4003114"/>
            <a:chExt cx="714661" cy="714661"/>
          </a:xfrm>
        </p:grpSpPr>
        <p:sp>
          <p:nvSpPr>
            <p:cNvPr id="3" name="Oval 4"/>
            <p:cNvSpPr/>
            <p:nvPr/>
          </p:nvSpPr>
          <p:spPr>
            <a:xfrm>
              <a:off x="1059280" y="4003114"/>
              <a:ext cx="714661" cy="71466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 sz="32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" name="Freeform 20"/>
            <p:cNvSpPr>
              <a:spLocks noChangeAspect="1" noEditPoints="1"/>
            </p:cNvSpPr>
            <p:nvPr/>
          </p:nvSpPr>
          <p:spPr bwMode="auto">
            <a:xfrm>
              <a:off x="1192879" y="4150049"/>
              <a:ext cx="447464" cy="420793"/>
            </a:xfrm>
            <a:custGeom>
              <a:avLst/>
              <a:gdLst>
                <a:gd name="T0" fmla="*/ 64 w 128"/>
                <a:gd name="T1" fmla="*/ 0 h 120"/>
                <a:gd name="T2" fmla="*/ 128 w 128"/>
                <a:gd name="T3" fmla="*/ 64 h 120"/>
                <a:gd name="T4" fmla="*/ 95 w 128"/>
                <a:gd name="T5" fmla="*/ 120 h 120"/>
                <a:gd name="T6" fmla="*/ 33 w 128"/>
                <a:gd name="T7" fmla="*/ 120 h 120"/>
                <a:gd name="T8" fmla="*/ 0 w 128"/>
                <a:gd name="T9" fmla="*/ 64 h 120"/>
                <a:gd name="T10" fmla="*/ 64 w 128"/>
                <a:gd name="T11" fmla="*/ 0 h 120"/>
                <a:gd name="T12" fmla="*/ 100 w 128"/>
                <a:gd name="T13" fmla="*/ 100 h 120"/>
                <a:gd name="T14" fmla="*/ 115 w 128"/>
                <a:gd name="T15" fmla="*/ 64 h 120"/>
                <a:gd name="T16" fmla="*/ 104 w 128"/>
                <a:gd name="T17" fmla="*/ 64 h 120"/>
                <a:gd name="T18" fmla="*/ 104 w 128"/>
                <a:gd name="T19" fmla="*/ 56 h 120"/>
                <a:gd name="T20" fmla="*/ 115 w 128"/>
                <a:gd name="T21" fmla="*/ 56 h 120"/>
                <a:gd name="T22" fmla="*/ 109 w 128"/>
                <a:gd name="T23" fmla="*/ 40 h 120"/>
                <a:gd name="T24" fmla="*/ 96 w 128"/>
                <a:gd name="T25" fmla="*/ 40 h 120"/>
                <a:gd name="T26" fmla="*/ 96 w 128"/>
                <a:gd name="T27" fmla="*/ 32 h 120"/>
                <a:gd name="T28" fmla="*/ 104 w 128"/>
                <a:gd name="T29" fmla="*/ 32 h 120"/>
                <a:gd name="T30" fmla="*/ 100 w 128"/>
                <a:gd name="T31" fmla="*/ 28 h 120"/>
                <a:gd name="T32" fmla="*/ 80 w 128"/>
                <a:gd name="T33" fmla="*/ 15 h 120"/>
                <a:gd name="T34" fmla="*/ 80 w 128"/>
                <a:gd name="T35" fmla="*/ 24 h 120"/>
                <a:gd name="T36" fmla="*/ 72 w 128"/>
                <a:gd name="T37" fmla="*/ 24 h 120"/>
                <a:gd name="T38" fmla="*/ 72 w 128"/>
                <a:gd name="T39" fmla="*/ 13 h 120"/>
                <a:gd name="T40" fmla="*/ 64 w 128"/>
                <a:gd name="T41" fmla="*/ 13 h 120"/>
                <a:gd name="T42" fmla="*/ 56 w 128"/>
                <a:gd name="T43" fmla="*/ 13 h 120"/>
                <a:gd name="T44" fmla="*/ 56 w 128"/>
                <a:gd name="T45" fmla="*/ 24 h 120"/>
                <a:gd name="T46" fmla="*/ 48 w 128"/>
                <a:gd name="T47" fmla="*/ 24 h 120"/>
                <a:gd name="T48" fmla="*/ 48 w 128"/>
                <a:gd name="T49" fmla="*/ 15 h 120"/>
                <a:gd name="T50" fmla="*/ 28 w 128"/>
                <a:gd name="T51" fmla="*/ 28 h 120"/>
                <a:gd name="T52" fmla="*/ 24 w 128"/>
                <a:gd name="T53" fmla="*/ 32 h 120"/>
                <a:gd name="T54" fmla="*/ 32 w 128"/>
                <a:gd name="T55" fmla="*/ 32 h 120"/>
                <a:gd name="T56" fmla="*/ 32 w 128"/>
                <a:gd name="T57" fmla="*/ 40 h 120"/>
                <a:gd name="T58" fmla="*/ 19 w 128"/>
                <a:gd name="T59" fmla="*/ 40 h 120"/>
                <a:gd name="T60" fmla="*/ 13 w 128"/>
                <a:gd name="T61" fmla="*/ 56 h 120"/>
                <a:gd name="T62" fmla="*/ 24 w 128"/>
                <a:gd name="T63" fmla="*/ 56 h 120"/>
                <a:gd name="T64" fmla="*/ 24 w 128"/>
                <a:gd name="T65" fmla="*/ 64 h 120"/>
                <a:gd name="T66" fmla="*/ 13 w 128"/>
                <a:gd name="T67" fmla="*/ 64 h 120"/>
                <a:gd name="T68" fmla="*/ 28 w 128"/>
                <a:gd name="T69" fmla="*/ 100 h 120"/>
                <a:gd name="T70" fmla="*/ 32 w 128"/>
                <a:gd name="T71" fmla="*/ 104 h 120"/>
                <a:gd name="T72" fmla="*/ 56 w 128"/>
                <a:gd name="T73" fmla="*/ 104 h 120"/>
                <a:gd name="T74" fmla="*/ 61 w 128"/>
                <a:gd name="T75" fmla="*/ 40 h 120"/>
                <a:gd name="T76" fmla="*/ 67 w 128"/>
                <a:gd name="T77" fmla="*/ 40 h 120"/>
                <a:gd name="T78" fmla="*/ 72 w 128"/>
                <a:gd name="T79" fmla="*/ 104 h 120"/>
                <a:gd name="T80" fmla="*/ 96 w 128"/>
                <a:gd name="T81" fmla="*/ 104 h 120"/>
                <a:gd name="T82" fmla="*/ 100 w 128"/>
                <a:gd name="T83" fmla="*/ 10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8" h="120">
                  <a:moveTo>
                    <a:pt x="64" y="0"/>
                  </a:moveTo>
                  <a:cubicBezTo>
                    <a:pt x="99" y="0"/>
                    <a:pt x="128" y="29"/>
                    <a:pt x="128" y="64"/>
                  </a:cubicBezTo>
                  <a:cubicBezTo>
                    <a:pt x="128" y="88"/>
                    <a:pt x="115" y="109"/>
                    <a:pt x="95" y="120"/>
                  </a:cubicBezTo>
                  <a:cubicBezTo>
                    <a:pt x="33" y="120"/>
                    <a:pt x="33" y="120"/>
                    <a:pt x="33" y="120"/>
                  </a:cubicBezTo>
                  <a:cubicBezTo>
                    <a:pt x="13" y="109"/>
                    <a:pt x="0" y="88"/>
                    <a:pt x="0" y="64"/>
                  </a:cubicBezTo>
                  <a:cubicBezTo>
                    <a:pt x="0" y="29"/>
                    <a:pt x="29" y="0"/>
                    <a:pt x="64" y="0"/>
                  </a:cubicBezTo>
                  <a:close/>
                  <a:moveTo>
                    <a:pt x="100" y="100"/>
                  </a:moveTo>
                  <a:cubicBezTo>
                    <a:pt x="110" y="91"/>
                    <a:pt x="115" y="78"/>
                    <a:pt x="115" y="64"/>
                  </a:cubicBezTo>
                  <a:cubicBezTo>
                    <a:pt x="104" y="64"/>
                    <a:pt x="104" y="64"/>
                    <a:pt x="104" y="64"/>
                  </a:cubicBezTo>
                  <a:cubicBezTo>
                    <a:pt x="104" y="56"/>
                    <a:pt x="104" y="56"/>
                    <a:pt x="104" y="56"/>
                  </a:cubicBezTo>
                  <a:cubicBezTo>
                    <a:pt x="115" y="56"/>
                    <a:pt x="115" y="56"/>
                    <a:pt x="115" y="56"/>
                  </a:cubicBezTo>
                  <a:cubicBezTo>
                    <a:pt x="114" y="50"/>
                    <a:pt x="112" y="45"/>
                    <a:pt x="109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32"/>
                    <a:pt x="96" y="32"/>
                    <a:pt x="96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3" y="31"/>
                    <a:pt x="102" y="29"/>
                    <a:pt x="100" y="28"/>
                  </a:cubicBezTo>
                  <a:cubicBezTo>
                    <a:pt x="94" y="22"/>
                    <a:pt x="88" y="18"/>
                    <a:pt x="80" y="1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72" y="24"/>
                    <a:pt x="72" y="24"/>
                    <a:pt x="72" y="24"/>
                  </a:cubicBezTo>
                  <a:cubicBezTo>
                    <a:pt x="72" y="13"/>
                    <a:pt x="72" y="13"/>
                    <a:pt x="72" y="13"/>
                  </a:cubicBezTo>
                  <a:cubicBezTo>
                    <a:pt x="69" y="13"/>
                    <a:pt x="67" y="13"/>
                    <a:pt x="64" y="13"/>
                  </a:cubicBezTo>
                  <a:cubicBezTo>
                    <a:pt x="61" y="13"/>
                    <a:pt x="59" y="13"/>
                    <a:pt x="56" y="13"/>
                  </a:cubicBezTo>
                  <a:cubicBezTo>
                    <a:pt x="56" y="24"/>
                    <a:pt x="56" y="24"/>
                    <a:pt x="56" y="24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0" y="18"/>
                    <a:pt x="34" y="22"/>
                    <a:pt x="28" y="28"/>
                  </a:cubicBezTo>
                  <a:cubicBezTo>
                    <a:pt x="26" y="29"/>
                    <a:pt x="25" y="31"/>
                    <a:pt x="24" y="32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6" y="45"/>
                    <a:pt x="14" y="50"/>
                    <a:pt x="13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3" y="78"/>
                    <a:pt x="18" y="91"/>
                    <a:pt x="28" y="100"/>
                  </a:cubicBezTo>
                  <a:cubicBezTo>
                    <a:pt x="29" y="102"/>
                    <a:pt x="30" y="103"/>
                    <a:pt x="32" y="104"/>
                  </a:cubicBezTo>
                  <a:cubicBezTo>
                    <a:pt x="56" y="104"/>
                    <a:pt x="56" y="104"/>
                    <a:pt x="56" y="104"/>
                  </a:cubicBezTo>
                  <a:cubicBezTo>
                    <a:pt x="61" y="40"/>
                    <a:pt x="61" y="40"/>
                    <a:pt x="61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72" y="104"/>
                    <a:pt x="72" y="104"/>
                    <a:pt x="72" y="104"/>
                  </a:cubicBezTo>
                  <a:cubicBezTo>
                    <a:pt x="96" y="104"/>
                    <a:pt x="96" y="104"/>
                    <a:pt x="96" y="104"/>
                  </a:cubicBezTo>
                  <a:cubicBezTo>
                    <a:pt x="97" y="103"/>
                    <a:pt x="99" y="102"/>
                    <a:pt x="100" y="1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HK" altLang="en-US" sz="3200">
                <a:cs typeface="+mn-ea"/>
                <a:sym typeface="+mn-lt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032125" y="4367198"/>
            <a:ext cx="489125" cy="489125"/>
            <a:chOff x="1059280" y="5017374"/>
            <a:chExt cx="714661" cy="714661"/>
          </a:xfrm>
        </p:grpSpPr>
        <p:sp>
          <p:nvSpPr>
            <p:cNvPr id="8" name="Oval 37"/>
            <p:cNvSpPr/>
            <p:nvPr/>
          </p:nvSpPr>
          <p:spPr>
            <a:xfrm>
              <a:off x="1059280" y="5017374"/>
              <a:ext cx="714661" cy="71466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 sz="32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4" name="Freeform 83"/>
            <p:cNvSpPr>
              <a:spLocks noChangeAspect="1" noEditPoints="1"/>
            </p:cNvSpPr>
            <p:nvPr/>
          </p:nvSpPr>
          <p:spPr bwMode="auto">
            <a:xfrm>
              <a:off x="1276594" y="5150232"/>
              <a:ext cx="280036" cy="448944"/>
            </a:xfrm>
            <a:custGeom>
              <a:avLst/>
              <a:gdLst>
                <a:gd name="T0" fmla="*/ 40 w 80"/>
                <a:gd name="T1" fmla="*/ 0 h 128"/>
                <a:gd name="T2" fmla="*/ 0 w 80"/>
                <a:gd name="T3" fmla="*/ 40 h 128"/>
                <a:gd name="T4" fmla="*/ 40 w 80"/>
                <a:gd name="T5" fmla="*/ 128 h 128"/>
                <a:gd name="T6" fmla="*/ 80 w 80"/>
                <a:gd name="T7" fmla="*/ 40 h 128"/>
                <a:gd name="T8" fmla="*/ 40 w 80"/>
                <a:gd name="T9" fmla="*/ 0 h 128"/>
                <a:gd name="T10" fmla="*/ 40 w 80"/>
                <a:gd name="T11" fmla="*/ 64 h 128"/>
                <a:gd name="T12" fmla="*/ 15 w 80"/>
                <a:gd name="T13" fmla="*/ 40 h 128"/>
                <a:gd name="T14" fmla="*/ 40 w 80"/>
                <a:gd name="T15" fmla="*/ 15 h 128"/>
                <a:gd name="T16" fmla="*/ 64 w 80"/>
                <a:gd name="T17" fmla="*/ 40 h 128"/>
                <a:gd name="T18" fmla="*/ 40 w 80"/>
                <a:gd name="T19" fmla="*/ 64 h 128"/>
                <a:gd name="T20" fmla="*/ 24 w 80"/>
                <a:gd name="T21" fmla="*/ 40 h 128"/>
                <a:gd name="T22" fmla="*/ 40 w 80"/>
                <a:gd name="T23" fmla="*/ 55 h 128"/>
                <a:gd name="T24" fmla="*/ 55 w 80"/>
                <a:gd name="T25" fmla="*/ 40 h 128"/>
                <a:gd name="T26" fmla="*/ 40 w 80"/>
                <a:gd name="T27" fmla="*/ 24 h 128"/>
                <a:gd name="T28" fmla="*/ 24 w 80"/>
                <a:gd name="T29" fmla="*/ 4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0" h="128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80"/>
                    <a:pt x="40" y="128"/>
                    <a:pt x="40" y="128"/>
                  </a:cubicBezTo>
                  <a:cubicBezTo>
                    <a:pt x="40" y="128"/>
                    <a:pt x="80" y="80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  <a:moveTo>
                    <a:pt x="40" y="64"/>
                  </a:moveTo>
                  <a:cubicBezTo>
                    <a:pt x="26" y="64"/>
                    <a:pt x="15" y="54"/>
                    <a:pt x="15" y="40"/>
                  </a:cubicBezTo>
                  <a:cubicBezTo>
                    <a:pt x="15" y="26"/>
                    <a:pt x="26" y="15"/>
                    <a:pt x="40" y="15"/>
                  </a:cubicBezTo>
                  <a:cubicBezTo>
                    <a:pt x="54" y="15"/>
                    <a:pt x="64" y="26"/>
                    <a:pt x="64" y="40"/>
                  </a:cubicBezTo>
                  <a:cubicBezTo>
                    <a:pt x="64" y="54"/>
                    <a:pt x="54" y="64"/>
                    <a:pt x="40" y="64"/>
                  </a:cubicBezTo>
                  <a:close/>
                  <a:moveTo>
                    <a:pt x="24" y="40"/>
                  </a:moveTo>
                  <a:cubicBezTo>
                    <a:pt x="24" y="49"/>
                    <a:pt x="31" y="55"/>
                    <a:pt x="40" y="55"/>
                  </a:cubicBezTo>
                  <a:cubicBezTo>
                    <a:pt x="49" y="55"/>
                    <a:pt x="55" y="49"/>
                    <a:pt x="55" y="40"/>
                  </a:cubicBezTo>
                  <a:cubicBezTo>
                    <a:pt x="55" y="31"/>
                    <a:pt x="49" y="24"/>
                    <a:pt x="40" y="24"/>
                  </a:cubicBezTo>
                  <a:cubicBezTo>
                    <a:pt x="31" y="24"/>
                    <a:pt x="24" y="31"/>
                    <a:pt x="24" y="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HK" altLang="en-US" sz="3200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221686" y="2269096"/>
            <a:ext cx="489125" cy="489125"/>
            <a:chOff x="4028328" y="3974078"/>
            <a:chExt cx="714661" cy="714661"/>
          </a:xfrm>
        </p:grpSpPr>
        <p:sp>
          <p:nvSpPr>
            <p:cNvPr id="16" name="Oval 38"/>
            <p:cNvSpPr/>
            <p:nvPr/>
          </p:nvSpPr>
          <p:spPr>
            <a:xfrm>
              <a:off x="4028328" y="3974078"/>
              <a:ext cx="714661" cy="71466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 sz="32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7" name="Freeform 51"/>
            <p:cNvSpPr>
              <a:spLocks noChangeAspect="1" noEditPoints="1"/>
            </p:cNvSpPr>
            <p:nvPr/>
          </p:nvSpPr>
          <p:spPr bwMode="auto">
            <a:xfrm>
              <a:off x="4161185" y="4107676"/>
              <a:ext cx="448947" cy="447464"/>
            </a:xfrm>
            <a:custGeom>
              <a:avLst/>
              <a:gdLst>
                <a:gd name="T0" fmla="*/ 64 w 128"/>
                <a:gd name="T1" fmla="*/ 0 h 128"/>
                <a:gd name="T2" fmla="*/ 0 w 128"/>
                <a:gd name="T3" fmla="*/ 64 h 128"/>
                <a:gd name="T4" fmla="*/ 64 w 128"/>
                <a:gd name="T5" fmla="*/ 128 h 128"/>
                <a:gd name="T6" fmla="*/ 128 w 128"/>
                <a:gd name="T7" fmla="*/ 64 h 128"/>
                <a:gd name="T8" fmla="*/ 64 w 128"/>
                <a:gd name="T9" fmla="*/ 0 h 128"/>
                <a:gd name="T10" fmla="*/ 40 w 128"/>
                <a:gd name="T11" fmla="*/ 64 h 128"/>
                <a:gd name="T12" fmla="*/ 64 w 128"/>
                <a:gd name="T13" fmla="*/ 40 h 128"/>
                <a:gd name="T14" fmla="*/ 88 w 128"/>
                <a:gd name="T15" fmla="*/ 64 h 128"/>
                <a:gd name="T16" fmla="*/ 64 w 128"/>
                <a:gd name="T17" fmla="*/ 88 h 128"/>
                <a:gd name="T18" fmla="*/ 40 w 128"/>
                <a:gd name="T19" fmla="*/ 64 h 128"/>
                <a:gd name="T20" fmla="*/ 116 w 128"/>
                <a:gd name="T21" fmla="*/ 85 h 128"/>
                <a:gd name="T22" fmla="*/ 116 w 128"/>
                <a:gd name="T23" fmla="*/ 85 h 128"/>
                <a:gd name="T24" fmla="*/ 94 w 128"/>
                <a:gd name="T25" fmla="*/ 76 h 128"/>
                <a:gd name="T26" fmla="*/ 96 w 128"/>
                <a:gd name="T27" fmla="*/ 64 h 128"/>
                <a:gd name="T28" fmla="*/ 94 w 128"/>
                <a:gd name="T29" fmla="*/ 52 h 128"/>
                <a:gd name="T30" fmla="*/ 109 w 128"/>
                <a:gd name="T31" fmla="*/ 45 h 128"/>
                <a:gd name="T32" fmla="*/ 116 w 128"/>
                <a:gd name="T33" fmla="*/ 43 h 128"/>
                <a:gd name="T34" fmla="*/ 120 w 128"/>
                <a:gd name="T35" fmla="*/ 64 h 128"/>
                <a:gd name="T36" fmla="*/ 116 w 128"/>
                <a:gd name="T37" fmla="*/ 85 h 128"/>
                <a:gd name="T38" fmla="*/ 85 w 128"/>
                <a:gd name="T39" fmla="*/ 12 h 128"/>
                <a:gd name="T40" fmla="*/ 85 w 128"/>
                <a:gd name="T41" fmla="*/ 12 h 128"/>
                <a:gd name="T42" fmla="*/ 85 w 128"/>
                <a:gd name="T43" fmla="*/ 12 h 128"/>
                <a:gd name="T44" fmla="*/ 76 w 128"/>
                <a:gd name="T45" fmla="*/ 34 h 128"/>
                <a:gd name="T46" fmla="*/ 64 w 128"/>
                <a:gd name="T47" fmla="*/ 32 h 128"/>
                <a:gd name="T48" fmla="*/ 52 w 128"/>
                <a:gd name="T49" fmla="*/ 34 h 128"/>
                <a:gd name="T50" fmla="*/ 47 w 128"/>
                <a:gd name="T51" fmla="*/ 24 h 128"/>
                <a:gd name="T52" fmla="*/ 43 w 128"/>
                <a:gd name="T53" fmla="*/ 12 h 128"/>
                <a:gd name="T54" fmla="*/ 64 w 128"/>
                <a:gd name="T55" fmla="*/ 8 h 128"/>
                <a:gd name="T56" fmla="*/ 85 w 128"/>
                <a:gd name="T57" fmla="*/ 12 h 128"/>
                <a:gd name="T58" fmla="*/ 12 w 128"/>
                <a:gd name="T59" fmla="*/ 43 h 128"/>
                <a:gd name="T60" fmla="*/ 24 w 128"/>
                <a:gd name="T61" fmla="*/ 47 h 128"/>
                <a:gd name="T62" fmla="*/ 34 w 128"/>
                <a:gd name="T63" fmla="*/ 52 h 128"/>
                <a:gd name="T64" fmla="*/ 32 w 128"/>
                <a:gd name="T65" fmla="*/ 64 h 128"/>
                <a:gd name="T66" fmla="*/ 34 w 128"/>
                <a:gd name="T67" fmla="*/ 76 h 128"/>
                <a:gd name="T68" fmla="*/ 12 w 128"/>
                <a:gd name="T69" fmla="*/ 85 h 128"/>
                <a:gd name="T70" fmla="*/ 8 w 128"/>
                <a:gd name="T71" fmla="*/ 64 h 128"/>
                <a:gd name="T72" fmla="*/ 12 w 128"/>
                <a:gd name="T73" fmla="*/ 43 h 128"/>
                <a:gd name="T74" fmla="*/ 43 w 128"/>
                <a:gd name="T75" fmla="*/ 116 h 128"/>
                <a:gd name="T76" fmla="*/ 45 w 128"/>
                <a:gd name="T77" fmla="*/ 109 h 128"/>
                <a:gd name="T78" fmla="*/ 52 w 128"/>
                <a:gd name="T79" fmla="*/ 94 h 128"/>
                <a:gd name="T80" fmla="*/ 64 w 128"/>
                <a:gd name="T81" fmla="*/ 96 h 128"/>
                <a:gd name="T82" fmla="*/ 76 w 128"/>
                <a:gd name="T83" fmla="*/ 94 h 128"/>
                <a:gd name="T84" fmla="*/ 85 w 128"/>
                <a:gd name="T85" fmla="*/ 116 h 128"/>
                <a:gd name="T86" fmla="*/ 85 w 128"/>
                <a:gd name="T87" fmla="*/ 116 h 128"/>
                <a:gd name="T88" fmla="*/ 85 w 128"/>
                <a:gd name="T89" fmla="*/ 116 h 128"/>
                <a:gd name="T90" fmla="*/ 64 w 128"/>
                <a:gd name="T91" fmla="*/ 120 h 128"/>
                <a:gd name="T92" fmla="*/ 43 w 128"/>
                <a:gd name="T93" fmla="*/ 11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28" h="128">
                  <a:moveTo>
                    <a:pt x="64" y="0"/>
                  </a:moveTo>
                  <a:cubicBezTo>
                    <a:pt x="29" y="0"/>
                    <a:pt x="0" y="29"/>
                    <a:pt x="0" y="64"/>
                  </a:cubicBezTo>
                  <a:cubicBezTo>
                    <a:pt x="0" y="99"/>
                    <a:pt x="29" y="128"/>
                    <a:pt x="64" y="128"/>
                  </a:cubicBezTo>
                  <a:cubicBezTo>
                    <a:pt x="99" y="128"/>
                    <a:pt x="128" y="99"/>
                    <a:pt x="128" y="64"/>
                  </a:cubicBezTo>
                  <a:cubicBezTo>
                    <a:pt x="128" y="29"/>
                    <a:pt x="99" y="0"/>
                    <a:pt x="64" y="0"/>
                  </a:cubicBezTo>
                  <a:close/>
                  <a:moveTo>
                    <a:pt x="40" y="64"/>
                  </a:moveTo>
                  <a:cubicBezTo>
                    <a:pt x="40" y="51"/>
                    <a:pt x="51" y="40"/>
                    <a:pt x="64" y="40"/>
                  </a:cubicBezTo>
                  <a:cubicBezTo>
                    <a:pt x="77" y="40"/>
                    <a:pt x="88" y="51"/>
                    <a:pt x="88" y="64"/>
                  </a:cubicBezTo>
                  <a:cubicBezTo>
                    <a:pt x="88" y="77"/>
                    <a:pt x="77" y="88"/>
                    <a:pt x="64" y="88"/>
                  </a:cubicBezTo>
                  <a:cubicBezTo>
                    <a:pt x="51" y="88"/>
                    <a:pt x="40" y="77"/>
                    <a:pt x="40" y="64"/>
                  </a:cubicBezTo>
                  <a:close/>
                  <a:moveTo>
                    <a:pt x="116" y="85"/>
                  </a:moveTo>
                  <a:cubicBezTo>
                    <a:pt x="116" y="85"/>
                    <a:pt x="116" y="85"/>
                    <a:pt x="116" y="85"/>
                  </a:cubicBezTo>
                  <a:cubicBezTo>
                    <a:pt x="94" y="76"/>
                    <a:pt x="94" y="76"/>
                    <a:pt x="94" y="76"/>
                  </a:cubicBezTo>
                  <a:cubicBezTo>
                    <a:pt x="95" y="72"/>
                    <a:pt x="96" y="68"/>
                    <a:pt x="96" y="64"/>
                  </a:cubicBezTo>
                  <a:cubicBezTo>
                    <a:pt x="96" y="60"/>
                    <a:pt x="95" y="56"/>
                    <a:pt x="94" y="52"/>
                  </a:cubicBezTo>
                  <a:cubicBezTo>
                    <a:pt x="109" y="45"/>
                    <a:pt x="109" y="45"/>
                    <a:pt x="109" y="45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8" y="49"/>
                    <a:pt x="120" y="56"/>
                    <a:pt x="120" y="64"/>
                  </a:cubicBezTo>
                  <a:cubicBezTo>
                    <a:pt x="120" y="72"/>
                    <a:pt x="118" y="79"/>
                    <a:pt x="116" y="85"/>
                  </a:cubicBezTo>
                  <a:close/>
                  <a:moveTo>
                    <a:pt x="85" y="12"/>
                  </a:moveTo>
                  <a:cubicBezTo>
                    <a:pt x="85" y="12"/>
                    <a:pt x="85" y="12"/>
                    <a:pt x="85" y="12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76" y="34"/>
                    <a:pt x="76" y="34"/>
                    <a:pt x="76" y="34"/>
                  </a:cubicBezTo>
                  <a:cubicBezTo>
                    <a:pt x="72" y="33"/>
                    <a:pt x="68" y="32"/>
                    <a:pt x="64" y="32"/>
                  </a:cubicBezTo>
                  <a:cubicBezTo>
                    <a:pt x="60" y="32"/>
                    <a:pt x="56" y="33"/>
                    <a:pt x="52" y="34"/>
                  </a:cubicBezTo>
                  <a:cubicBezTo>
                    <a:pt x="47" y="24"/>
                    <a:pt x="47" y="24"/>
                    <a:pt x="47" y="2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9" y="10"/>
                    <a:pt x="56" y="8"/>
                    <a:pt x="64" y="8"/>
                  </a:cubicBezTo>
                  <a:cubicBezTo>
                    <a:pt x="72" y="8"/>
                    <a:pt x="79" y="10"/>
                    <a:pt x="85" y="12"/>
                  </a:cubicBezTo>
                  <a:close/>
                  <a:moveTo>
                    <a:pt x="12" y="43"/>
                  </a:moveTo>
                  <a:cubicBezTo>
                    <a:pt x="24" y="47"/>
                    <a:pt x="24" y="47"/>
                    <a:pt x="24" y="47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6"/>
                    <a:pt x="32" y="60"/>
                    <a:pt x="32" y="64"/>
                  </a:cubicBezTo>
                  <a:cubicBezTo>
                    <a:pt x="32" y="68"/>
                    <a:pt x="33" y="72"/>
                    <a:pt x="34" y="76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0" y="79"/>
                    <a:pt x="8" y="72"/>
                    <a:pt x="8" y="64"/>
                  </a:cubicBezTo>
                  <a:cubicBezTo>
                    <a:pt x="8" y="56"/>
                    <a:pt x="10" y="49"/>
                    <a:pt x="12" y="43"/>
                  </a:cubicBezTo>
                  <a:close/>
                  <a:moveTo>
                    <a:pt x="43" y="116"/>
                  </a:moveTo>
                  <a:cubicBezTo>
                    <a:pt x="45" y="109"/>
                    <a:pt x="45" y="109"/>
                    <a:pt x="45" y="109"/>
                  </a:cubicBezTo>
                  <a:cubicBezTo>
                    <a:pt x="52" y="94"/>
                    <a:pt x="52" y="94"/>
                    <a:pt x="52" y="94"/>
                  </a:cubicBezTo>
                  <a:cubicBezTo>
                    <a:pt x="56" y="95"/>
                    <a:pt x="60" y="96"/>
                    <a:pt x="64" y="96"/>
                  </a:cubicBezTo>
                  <a:cubicBezTo>
                    <a:pt x="68" y="96"/>
                    <a:pt x="72" y="95"/>
                    <a:pt x="76" y="94"/>
                  </a:cubicBezTo>
                  <a:cubicBezTo>
                    <a:pt x="85" y="116"/>
                    <a:pt x="85" y="116"/>
                    <a:pt x="85" y="116"/>
                  </a:cubicBezTo>
                  <a:cubicBezTo>
                    <a:pt x="85" y="116"/>
                    <a:pt x="85" y="116"/>
                    <a:pt x="85" y="116"/>
                  </a:cubicBezTo>
                  <a:cubicBezTo>
                    <a:pt x="85" y="116"/>
                    <a:pt x="85" y="116"/>
                    <a:pt x="85" y="116"/>
                  </a:cubicBezTo>
                  <a:cubicBezTo>
                    <a:pt x="79" y="118"/>
                    <a:pt x="72" y="120"/>
                    <a:pt x="64" y="120"/>
                  </a:cubicBezTo>
                  <a:cubicBezTo>
                    <a:pt x="56" y="120"/>
                    <a:pt x="49" y="118"/>
                    <a:pt x="43" y="11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HK" altLang="en-US" sz="3200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221686" y="4367198"/>
            <a:ext cx="489125" cy="489125"/>
            <a:chOff x="4028328" y="5017372"/>
            <a:chExt cx="714661" cy="714661"/>
          </a:xfrm>
        </p:grpSpPr>
        <p:sp>
          <p:nvSpPr>
            <p:cNvPr id="19" name="Oval 39"/>
            <p:cNvSpPr/>
            <p:nvPr/>
          </p:nvSpPr>
          <p:spPr>
            <a:xfrm>
              <a:off x="4028328" y="5017372"/>
              <a:ext cx="714661" cy="71466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 sz="32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0" name="Freeform 6"/>
            <p:cNvSpPr>
              <a:spLocks noChangeAspect="1"/>
            </p:cNvSpPr>
            <p:nvPr/>
          </p:nvSpPr>
          <p:spPr bwMode="auto">
            <a:xfrm>
              <a:off x="4161188" y="5151712"/>
              <a:ext cx="448944" cy="447464"/>
            </a:xfrm>
            <a:custGeom>
              <a:avLst/>
              <a:gdLst>
                <a:gd name="T0" fmla="*/ 108 w 128"/>
                <a:gd name="T1" fmla="*/ 88 h 128"/>
                <a:gd name="T2" fmla="*/ 94 w 128"/>
                <a:gd name="T3" fmla="*/ 94 h 128"/>
                <a:gd name="T4" fmla="*/ 40 w 128"/>
                <a:gd name="T5" fmla="*/ 67 h 128"/>
                <a:gd name="T6" fmla="*/ 40 w 128"/>
                <a:gd name="T7" fmla="*/ 64 h 128"/>
                <a:gd name="T8" fmla="*/ 40 w 128"/>
                <a:gd name="T9" fmla="*/ 61 h 128"/>
                <a:gd name="T10" fmla="*/ 94 w 128"/>
                <a:gd name="T11" fmla="*/ 34 h 128"/>
                <a:gd name="T12" fmla="*/ 108 w 128"/>
                <a:gd name="T13" fmla="*/ 40 h 128"/>
                <a:gd name="T14" fmla="*/ 128 w 128"/>
                <a:gd name="T15" fmla="*/ 20 h 128"/>
                <a:gd name="T16" fmla="*/ 108 w 128"/>
                <a:gd name="T17" fmla="*/ 0 h 128"/>
                <a:gd name="T18" fmla="*/ 88 w 128"/>
                <a:gd name="T19" fmla="*/ 20 h 128"/>
                <a:gd name="T20" fmla="*/ 88 w 128"/>
                <a:gd name="T21" fmla="*/ 23 h 128"/>
                <a:gd name="T22" fmla="*/ 34 w 128"/>
                <a:gd name="T23" fmla="*/ 50 h 128"/>
                <a:gd name="T24" fmla="*/ 20 w 128"/>
                <a:gd name="T25" fmla="*/ 44 h 128"/>
                <a:gd name="T26" fmla="*/ 0 w 128"/>
                <a:gd name="T27" fmla="*/ 64 h 128"/>
                <a:gd name="T28" fmla="*/ 20 w 128"/>
                <a:gd name="T29" fmla="*/ 84 h 128"/>
                <a:gd name="T30" fmla="*/ 34 w 128"/>
                <a:gd name="T31" fmla="*/ 78 h 128"/>
                <a:gd name="T32" fmla="*/ 88 w 128"/>
                <a:gd name="T33" fmla="*/ 105 h 128"/>
                <a:gd name="T34" fmla="*/ 88 w 128"/>
                <a:gd name="T35" fmla="*/ 108 h 128"/>
                <a:gd name="T36" fmla="*/ 108 w 128"/>
                <a:gd name="T37" fmla="*/ 128 h 128"/>
                <a:gd name="T38" fmla="*/ 128 w 128"/>
                <a:gd name="T39" fmla="*/ 108 h 128"/>
                <a:gd name="T40" fmla="*/ 108 w 128"/>
                <a:gd name="T41" fmla="*/ 8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8" h="128">
                  <a:moveTo>
                    <a:pt x="108" y="88"/>
                  </a:moveTo>
                  <a:cubicBezTo>
                    <a:pt x="102" y="88"/>
                    <a:pt x="97" y="90"/>
                    <a:pt x="94" y="94"/>
                  </a:cubicBezTo>
                  <a:cubicBezTo>
                    <a:pt x="40" y="67"/>
                    <a:pt x="40" y="67"/>
                    <a:pt x="40" y="67"/>
                  </a:cubicBezTo>
                  <a:cubicBezTo>
                    <a:pt x="40" y="66"/>
                    <a:pt x="40" y="65"/>
                    <a:pt x="40" y="64"/>
                  </a:cubicBezTo>
                  <a:cubicBezTo>
                    <a:pt x="40" y="63"/>
                    <a:pt x="40" y="62"/>
                    <a:pt x="40" y="61"/>
                  </a:cubicBezTo>
                  <a:cubicBezTo>
                    <a:pt x="94" y="34"/>
                    <a:pt x="94" y="34"/>
                    <a:pt x="94" y="34"/>
                  </a:cubicBezTo>
                  <a:cubicBezTo>
                    <a:pt x="97" y="38"/>
                    <a:pt x="102" y="40"/>
                    <a:pt x="108" y="40"/>
                  </a:cubicBezTo>
                  <a:cubicBezTo>
                    <a:pt x="119" y="40"/>
                    <a:pt x="128" y="31"/>
                    <a:pt x="128" y="20"/>
                  </a:cubicBezTo>
                  <a:cubicBezTo>
                    <a:pt x="128" y="9"/>
                    <a:pt x="119" y="0"/>
                    <a:pt x="108" y="0"/>
                  </a:cubicBezTo>
                  <a:cubicBezTo>
                    <a:pt x="97" y="0"/>
                    <a:pt x="88" y="9"/>
                    <a:pt x="88" y="20"/>
                  </a:cubicBezTo>
                  <a:cubicBezTo>
                    <a:pt x="88" y="21"/>
                    <a:pt x="88" y="22"/>
                    <a:pt x="88" y="23"/>
                  </a:cubicBezTo>
                  <a:cubicBezTo>
                    <a:pt x="34" y="50"/>
                    <a:pt x="34" y="50"/>
                    <a:pt x="34" y="50"/>
                  </a:cubicBezTo>
                  <a:cubicBezTo>
                    <a:pt x="31" y="46"/>
                    <a:pt x="26" y="44"/>
                    <a:pt x="20" y="44"/>
                  </a:cubicBezTo>
                  <a:cubicBezTo>
                    <a:pt x="9" y="44"/>
                    <a:pt x="0" y="53"/>
                    <a:pt x="0" y="64"/>
                  </a:cubicBezTo>
                  <a:cubicBezTo>
                    <a:pt x="0" y="75"/>
                    <a:pt x="9" y="84"/>
                    <a:pt x="20" y="84"/>
                  </a:cubicBezTo>
                  <a:cubicBezTo>
                    <a:pt x="26" y="84"/>
                    <a:pt x="31" y="82"/>
                    <a:pt x="34" y="78"/>
                  </a:cubicBezTo>
                  <a:cubicBezTo>
                    <a:pt x="88" y="105"/>
                    <a:pt x="88" y="105"/>
                    <a:pt x="88" y="105"/>
                  </a:cubicBezTo>
                  <a:cubicBezTo>
                    <a:pt x="88" y="106"/>
                    <a:pt x="88" y="107"/>
                    <a:pt x="88" y="108"/>
                  </a:cubicBezTo>
                  <a:cubicBezTo>
                    <a:pt x="88" y="119"/>
                    <a:pt x="97" y="128"/>
                    <a:pt x="108" y="128"/>
                  </a:cubicBezTo>
                  <a:cubicBezTo>
                    <a:pt x="119" y="128"/>
                    <a:pt x="128" y="119"/>
                    <a:pt x="128" y="108"/>
                  </a:cubicBezTo>
                  <a:cubicBezTo>
                    <a:pt x="128" y="97"/>
                    <a:pt x="119" y="88"/>
                    <a:pt x="108" y="8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HK" altLang="en-US" sz="3200">
                <a:cs typeface="+mn-ea"/>
                <a:sym typeface="+mn-lt"/>
              </a:endParaRPr>
            </a:p>
          </p:txBody>
        </p:sp>
      </p:grp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1603059" y="2584667"/>
            <a:ext cx="2105007" cy="11400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经 TGF-β1/Smad3 激活成纤维细胞，胶原沉积形成慢传导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596873" y="2243087"/>
            <a:ext cx="1930473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结构一侧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4845574" y="2584667"/>
            <a:ext cx="2105007" cy="11400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氧化应激与钙处理异常，肌浆网钙泄漏增加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826796" y="2243087"/>
            <a:ext cx="1930473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电学一侧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1595419" y="4653733"/>
            <a:ext cx="2105007" cy="11400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多起自肺静脉-左房交界与左房后壁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586018" y="4315179"/>
            <a:ext cx="1930473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空间不均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4839543" y="4653732"/>
            <a:ext cx="2105007" cy="11400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房颤快速激动反过来加重炎症与钙超载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815941" y="4315179"/>
            <a:ext cx="1930473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正反馈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387592" y="1983901"/>
            <a:ext cx="3721209" cy="4055807"/>
          </a:xfrm>
          <a:prstGeom prst="rect">
            <a:avLst/>
          </a:prstGeom>
          <a:solidFill>
            <a:srgbClr val="BAE2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7886408" y="2710234"/>
            <a:ext cx="1447971" cy="341307"/>
            <a:chOff x="1265732" y="3016591"/>
            <a:chExt cx="1371009" cy="323166"/>
          </a:xfrm>
        </p:grpSpPr>
        <p:sp>
          <p:nvSpPr>
            <p:cNvPr id="34" name="Rectangle: Rounded Corners 30"/>
            <p:cNvSpPr/>
            <p:nvPr/>
          </p:nvSpPr>
          <p:spPr>
            <a:xfrm>
              <a:off x="1265732" y="3031980"/>
              <a:ext cx="1371009" cy="30777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000">
                <a:cs typeface="+mn-ea"/>
                <a:sym typeface="+mn-lt"/>
              </a:endParaRPr>
            </a:p>
          </p:txBody>
        </p:sp>
        <p:sp>
          <p:nvSpPr>
            <p:cNvPr id="35" name="TextBox 30"/>
            <p:cNvSpPr txBox="1"/>
            <p:nvPr/>
          </p:nvSpPr>
          <p:spPr>
            <a:xfrm>
              <a:off x="1374321" y="3016591"/>
              <a:ext cx="1153831" cy="320559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>
              <a:defPPr>
                <a:defRPr lang="en-US"/>
              </a:defPPr>
              <a:lvl1pPr>
                <a:defRPr sz="1600">
                  <a:solidFill>
                    <a:schemeClr val="bg1"/>
                  </a:solidFill>
                  <a:latin typeface="Montserrat" panose="00000A00000000000000" pitchFamily="50" charset="0"/>
                  <a:cs typeface="Montserrat" panose="00000A00000000000000" pitchFamily="50" charset="0"/>
                </a:defRPr>
              </a:lvl1pPr>
            </a:lstStyle>
            <a:p>
              <a:pPr algn="ctr"/>
              <a:r>
                <a:rPr lang="zh-CN" altLang="en-US" b="1" dirty="0">
                  <a:latin typeface="+mn-lt"/>
                  <a:cs typeface="+mn-ea"/>
                  <a:sym typeface="+mn-lt"/>
                </a:rPr>
                <a:t>结构</a:t>
              </a:r>
              <a:endParaRPr lang="en-US" b="1" dirty="0">
                <a:latin typeface="+mn-lt"/>
                <a:cs typeface="+mn-ea"/>
                <a:sym typeface="+mn-lt"/>
              </a:endParaRPr>
            </a:p>
          </p:txBody>
        </p:sp>
      </p:grpSp>
      <p:sp>
        <p:nvSpPr>
          <p:cNvPr id="36" name="Text Box 10"/>
          <p:cNvSpPr txBox="1">
            <a:spLocks noChangeArrowheads="1"/>
          </p:cNvSpPr>
          <p:nvPr/>
        </p:nvSpPr>
        <p:spPr bwMode="auto">
          <a:xfrm>
            <a:off x="7814795" y="3056343"/>
            <a:ext cx="2851275" cy="8577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结构上的传导异质性与电学上的触发活动相互叠加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7886408" y="4345444"/>
            <a:ext cx="1447971" cy="341307"/>
            <a:chOff x="1265732" y="4592810"/>
            <a:chExt cx="1371009" cy="323166"/>
          </a:xfrm>
        </p:grpSpPr>
        <p:sp>
          <p:nvSpPr>
            <p:cNvPr id="38" name="Rectangle: Rounded Corners 30"/>
            <p:cNvSpPr/>
            <p:nvPr/>
          </p:nvSpPr>
          <p:spPr>
            <a:xfrm>
              <a:off x="1265732" y="4608199"/>
              <a:ext cx="1371009" cy="30777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000">
                <a:cs typeface="+mn-ea"/>
                <a:sym typeface="+mn-lt"/>
              </a:endParaRPr>
            </a:p>
          </p:txBody>
        </p:sp>
        <p:sp>
          <p:nvSpPr>
            <p:cNvPr id="39" name="TextBox 30"/>
            <p:cNvSpPr txBox="1"/>
            <p:nvPr/>
          </p:nvSpPr>
          <p:spPr>
            <a:xfrm>
              <a:off x="1374321" y="4592810"/>
              <a:ext cx="1153831" cy="320559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>
              <a:defPPr>
                <a:defRPr lang="en-US"/>
              </a:defPPr>
              <a:lvl1pPr>
                <a:defRPr sz="1600">
                  <a:solidFill>
                    <a:schemeClr val="bg1"/>
                  </a:solidFill>
                  <a:latin typeface="Montserrat" panose="00000A00000000000000" pitchFamily="50" charset="0"/>
                  <a:cs typeface="Montserrat" panose="00000A00000000000000" pitchFamily="50" charset="0"/>
                </a:defRPr>
              </a:lvl1pPr>
            </a:lstStyle>
            <a:p>
              <a:pPr algn="ctr"/>
              <a:r>
                <a:rPr lang="zh-CN" altLang="en-US" b="1" dirty="0">
                  <a:latin typeface="+mn-lt"/>
                  <a:cs typeface="+mn-ea"/>
                  <a:sym typeface="+mn-lt"/>
                </a:rPr>
                <a:t>电学</a:t>
              </a:r>
              <a:endParaRPr lang="en-US" b="1" dirty="0">
                <a:latin typeface="+mn-lt"/>
                <a:cs typeface="+mn-ea"/>
                <a:sym typeface="+mn-lt"/>
              </a:endParaRPr>
            </a:p>
          </p:txBody>
        </p:sp>
      </p:grpSp>
      <p:sp>
        <p:nvSpPr>
          <p:cNvPr id="40" name="Text Box 10"/>
          <p:cNvSpPr txBox="1">
            <a:spLocks noChangeArrowheads="1"/>
          </p:cNvSpPr>
          <p:nvPr/>
        </p:nvSpPr>
        <p:spPr bwMode="auto">
          <a:xfrm>
            <a:off x="7814795" y="4691554"/>
            <a:ext cx="2851275" cy="8577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使房颤得以自我维持，形成「房颤引发房颤」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1" name="Footer Text"/>
          <p:cNvSpPr txBox="1"/>
          <p:nvPr/>
        </p:nvSpPr>
        <p:spPr>
          <a:xfrm>
            <a:off x="1343247" y="710205"/>
            <a:ext cx="32956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cs typeface="+mn-ea"/>
                <a:sym typeface="+mn-lt"/>
              </a:rPr>
              <a:t>IL-1β 的下游通路</a:t>
            </a:r>
            <a:endParaRPr lang="zh-CN" altLang="en-US" sz="2800" dirty="0">
              <a:cs typeface="+mn-ea"/>
              <a:sym typeface="+mn-lt"/>
            </a:endParaRPr>
          </a:p>
        </p:txBody>
      </p:sp>
      <p:pic>
        <p:nvPicPr>
          <p:cNvPr id="42" name="图片 41" descr="005Rm9jOly4grelek7dmbj30u00u0k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95325" y="601345"/>
            <a:ext cx="647700" cy="6477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</p:sld>
</file>

<file path=ppt/slides/slide2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4822" b="11608"/>
          <a:stretch>
            <a:fillRect/>
          </a:stretch>
        </p:blipFill>
        <p:spPr>
          <a:xfrm>
            <a:off x="399415" y="390525"/>
            <a:ext cx="6259195" cy="607123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98841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950497" y="2"/>
            <a:ext cx="1270457" cy="2291617"/>
            <a:chOff x="10950497" y="2"/>
            <a:chExt cx="1270457" cy="2291617"/>
          </a:xfrm>
        </p:grpSpPr>
        <p:sp>
          <p:nvSpPr>
            <p:cNvPr id="8" name="任意多边形: 形状 7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19" name="等腰三角形 18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" name="组合 24"/>
          <p:cNvGrpSpPr/>
          <p:nvPr userDrawn="1"/>
        </p:nvGrpSpPr>
        <p:grpSpPr>
          <a:xfrm rot="10800000">
            <a:off x="1" y="4566383"/>
            <a:ext cx="1270457" cy="2291617"/>
            <a:chOff x="10950497" y="2"/>
            <a:chExt cx="1270457" cy="2291617"/>
          </a:xfrm>
          <a:solidFill>
            <a:srgbClr val="BAE2FF"/>
          </a:solidFill>
        </p:grpSpPr>
        <p:sp>
          <p:nvSpPr>
            <p:cNvPr id="26" name="任意多边形: 形状 25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grpFill/>
          </p:grpSpPr>
          <p:sp>
            <p:nvSpPr>
              <p:cNvPr id="28" name="等腰三角形 27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9" name="等腰三角形 28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0" name="等腰三角形 29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1" name="等腰三角形 30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9" name="椭圆 8"/>
          <p:cNvSpPr/>
          <p:nvPr/>
        </p:nvSpPr>
        <p:spPr>
          <a:xfrm>
            <a:off x="10650680" y="597491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186302" y="5864996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0889597" y="5858219"/>
            <a:ext cx="676134" cy="381689"/>
            <a:chOff x="4468761" y="1799303"/>
            <a:chExt cx="914400" cy="51619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4" name="矩形 33"/>
            <p:cNvSpPr/>
            <p:nvPr/>
          </p:nvSpPr>
          <p:spPr>
            <a:xfrm>
              <a:off x="4468761" y="1799303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4468761" y="1999942"/>
              <a:ext cx="914400" cy="114917"/>
            </a:xfrm>
            <a:prstGeom prst="rect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4468761" y="2200580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" name="矩形: 圆角 5"/>
          <p:cNvSpPr/>
          <p:nvPr/>
        </p:nvSpPr>
        <p:spPr>
          <a:xfrm>
            <a:off x="7295515" y="2291715"/>
            <a:ext cx="2985135" cy="753745"/>
          </a:xfrm>
          <a:prstGeom prst="roundRect">
            <a:avLst>
              <a:gd name="adj" fmla="val 50000"/>
            </a:avLst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dirty="0">
                <a:cs typeface="+mn-ea"/>
                <a:sym typeface="+mn-lt"/>
              </a:rPr>
              <a:t>PART 04</a:t>
            </a:r>
            <a:endParaRPr lang="zh-CN" altLang="en-US" sz="3200" b="1" dirty="0">
              <a:cs typeface="+mn-ea"/>
              <a:sym typeface="+mn-lt"/>
            </a:endParaRPr>
          </a:p>
        </p:txBody>
      </p:sp>
      <p:sp>
        <p:nvSpPr>
          <p:cNvPr id="14" name="Footer Text"/>
          <p:cNvSpPr txBox="1"/>
          <p:nvPr/>
        </p:nvSpPr>
        <p:spPr>
          <a:xfrm>
            <a:off x="6658610" y="3204845"/>
            <a:ext cx="4291965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800" b="1" dirty="0">
                <a:cs typeface="+mn-ea"/>
                <a:sym typeface="+mn-lt"/>
              </a:rPr>
              <a:t>干预</a:t>
            </a:r>
            <a:endParaRPr lang="zh-CN" altLang="en-US" sz="4800" b="1" dirty="0">
              <a:cs typeface="+mn-ea"/>
              <a:sym typeface="+mn-lt"/>
            </a:endParaRPr>
          </a:p>
        </p:txBody>
      </p:sp>
    </p:spTree>
  </p:cSld>
  <p:clrMapOvr>
    <a:masterClrMapping/>
  </p:clrMapOvr>
  <p:transition p14:dur="500">
    <p:fade/>
  </p:transition>
</p:sld>
</file>

<file path=ppt/slides/slide3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 userDrawn="1"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1379690" y="2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1859995" y="797633"/>
            <a:ext cx="216293" cy="1527440"/>
            <a:chOff x="11349438" y="764179"/>
            <a:chExt cx="216293" cy="1527440"/>
          </a:xfrm>
        </p:grpSpPr>
        <p:sp>
          <p:nvSpPr>
            <p:cNvPr id="9" name="等腰三角形 8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3" name="任意多边形: 形状 42"/>
          <p:cNvSpPr/>
          <p:nvPr userDrawn="1"/>
        </p:nvSpPr>
        <p:spPr>
          <a:xfrm rot="10800000">
            <a:off x="1" y="6209613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/>
        </p:nvGrpSpPr>
        <p:grpSpPr>
          <a:xfrm rot="10800000">
            <a:off x="110007" y="4544081"/>
            <a:ext cx="216293" cy="1527440"/>
            <a:chOff x="11349438" y="764179"/>
            <a:chExt cx="216293" cy="1527440"/>
          </a:xfrm>
        </p:grpSpPr>
        <p:sp>
          <p:nvSpPr>
            <p:cNvPr id="45" name="等腰三角形 44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等腰三角形 45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等腰三角形 47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30" name="图片 29" descr="caef76094b36acaf4fbac5a272e12c1600e99c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880" y="381635"/>
            <a:ext cx="792480" cy="1586230"/>
          </a:xfrm>
          <a:prstGeom prst="rect">
            <a:avLst/>
          </a:prstGeom>
        </p:spPr>
      </p:pic>
      <p:sp>
        <p:nvSpPr>
          <p:cNvPr id="2" name="Rounded Rectangle 5"/>
          <p:cNvSpPr/>
          <p:nvPr/>
        </p:nvSpPr>
        <p:spPr>
          <a:xfrm rot="5400000">
            <a:off x="5122430" y="-796981"/>
            <a:ext cx="890648" cy="8451962"/>
          </a:xfrm>
          <a:prstGeom prst="roundRect">
            <a:avLst/>
          </a:pr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" name="Rounded Rectangle 6"/>
          <p:cNvSpPr/>
          <p:nvPr/>
        </p:nvSpPr>
        <p:spPr>
          <a:xfrm rot="5400000">
            <a:off x="4594180" y="792852"/>
            <a:ext cx="890652" cy="7395465"/>
          </a:xfrm>
          <a:prstGeom prst="roundRect">
            <a:avLst/>
          </a:prstGeom>
          <a:solidFill>
            <a:schemeClr val="bg1"/>
          </a:solidFill>
          <a:ln>
            <a:solidFill>
              <a:srgbClr val="BAE2FF"/>
            </a:solidFill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en-US" dirty="0">
              <a:cs typeface="+mn-ea"/>
              <a:sym typeface="+mn-lt"/>
            </a:endParaRPr>
          </a:p>
        </p:txBody>
      </p:sp>
      <p:sp>
        <p:nvSpPr>
          <p:cNvPr id="4" name="Rounded Rectangle 7"/>
          <p:cNvSpPr/>
          <p:nvPr/>
        </p:nvSpPr>
        <p:spPr>
          <a:xfrm rot="5400000">
            <a:off x="5650675" y="-2405231"/>
            <a:ext cx="890652" cy="9508455"/>
          </a:xfrm>
          <a:prstGeom prst="roundRect">
            <a:avLst/>
          </a:prstGeom>
          <a:solidFill>
            <a:schemeClr val="bg1"/>
          </a:solidFill>
          <a:ln>
            <a:solidFill>
              <a:srgbClr val="BAE2FF"/>
            </a:solidFill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en-US" dirty="0">
              <a:cs typeface="+mn-ea"/>
              <a:sym typeface="+mn-lt"/>
            </a:endParaRPr>
          </a:p>
        </p:txBody>
      </p:sp>
      <p:sp>
        <p:nvSpPr>
          <p:cNvPr id="6" name="Rounded Rectangle 30"/>
          <p:cNvSpPr/>
          <p:nvPr/>
        </p:nvSpPr>
        <p:spPr>
          <a:xfrm rot="5400000">
            <a:off x="4159873" y="2325577"/>
            <a:ext cx="890648" cy="6526848"/>
          </a:xfrm>
          <a:prstGeom prst="roundRect">
            <a:avLst/>
          </a:pr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1" name="speed"/>
          <p:cNvSpPr txBox="1">
            <a:spLocks noChangeArrowheads="1"/>
          </p:cNvSpPr>
          <p:nvPr/>
        </p:nvSpPr>
        <p:spPr bwMode="auto">
          <a:xfrm>
            <a:off x="10056500" y="1941433"/>
            <a:ext cx="684000" cy="830997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6000" b="1" dirty="0">
                <a:solidFill>
                  <a:srgbClr val="005FA5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endParaRPr lang="en-US" altLang="ko-KR" sz="6000" b="1" dirty="0">
              <a:solidFill>
                <a:srgbClr val="005FA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speed"/>
          <p:cNvSpPr txBox="1">
            <a:spLocks noChangeArrowheads="1"/>
          </p:cNvSpPr>
          <p:nvPr/>
        </p:nvSpPr>
        <p:spPr bwMode="auto">
          <a:xfrm>
            <a:off x="9070729" y="3008950"/>
            <a:ext cx="684000" cy="830997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6000" b="1" dirty="0">
                <a:solidFill>
                  <a:srgbClr val="005FA5"/>
                </a:solidFill>
                <a:latin typeface="+mn-lt"/>
                <a:ea typeface="+mn-ea"/>
                <a:cs typeface="+mn-ea"/>
                <a:sym typeface="+mn-lt"/>
              </a:rPr>
              <a:t>2</a:t>
            </a:r>
            <a:endParaRPr lang="en-US" altLang="ko-KR" sz="6000" b="1" dirty="0">
              <a:solidFill>
                <a:srgbClr val="005FA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3" name="speed"/>
          <p:cNvSpPr txBox="1">
            <a:spLocks noChangeArrowheads="1"/>
          </p:cNvSpPr>
          <p:nvPr/>
        </p:nvSpPr>
        <p:spPr bwMode="auto">
          <a:xfrm>
            <a:off x="8053239" y="4123329"/>
            <a:ext cx="684000" cy="830997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6000" b="1" dirty="0">
                <a:solidFill>
                  <a:srgbClr val="005FA5"/>
                </a:solidFill>
                <a:latin typeface="+mn-lt"/>
                <a:ea typeface="+mn-ea"/>
                <a:cs typeface="+mn-ea"/>
                <a:sym typeface="+mn-lt"/>
              </a:rPr>
              <a:t>3</a:t>
            </a:r>
            <a:endParaRPr lang="en-US" altLang="ko-KR" sz="6000" b="1" dirty="0">
              <a:solidFill>
                <a:srgbClr val="005FA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4" name="speed"/>
          <p:cNvSpPr txBox="1">
            <a:spLocks noChangeArrowheads="1"/>
          </p:cNvSpPr>
          <p:nvPr/>
        </p:nvSpPr>
        <p:spPr bwMode="auto">
          <a:xfrm>
            <a:off x="7099189" y="5203329"/>
            <a:ext cx="684000" cy="830997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6000" b="1" dirty="0">
                <a:solidFill>
                  <a:srgbClr val="005FA5"/>
                </a:solidFill>
                <a:latin typeface="+mn-lt"/>
                <a:ea typeface="+mn-ea"/>
                <a:cs typeface="+mn-ea"/>
                <a:sym typeface="+mn-lt"/>
              </a:rPr>
              <a:t>4</a:t>
            </a:r>
            <a:endParaRPr lang="en-US" altLang="ko-KR" sz="6000" b="1" dirty="0">
              <a:solidFill>
                <a:srgbClr val="005FA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 Box 10"/>
          <p:cNvSpPr txBox="1">
            <a:spLocks noChangeArrowheads="1"/>
          </p:cNvSpPr>
          <p:nvPr/>
        </p:nvSpPr>
        <p:spPr bwMode="auto">
          <a:xfrm>
            <a:off x="3955663" y="2029807"/>
            <a:ext cx="5524249" cy="5860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MCC950 及其衍生物，抑制炎症小体组装或 NLRP3 活性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523361" y="2138170"/>
            <a:ext cx="1583692" cy="369332"/>
          </a:xfrm>
          <a:prstGeom prst="rect">
            <a:avLst/>
          </a:prstGeom>
          <a:solidFill>
            <a:srgbClr val="005FA5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直接抑制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3708310" y="3126380"/>
            <a:ext cx="5185317" cy="5860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IL-1 受体拮抗剂，切断效应分子的下游通路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523361" y="3244334"/>
            <a:ext cx="1583692" cy="369332"/>
          </a:xfrm>
          <a:prstGeom prst="rect">
            <a:avLst/>
          </a:prstGeom>
          <a:solidFill>
            <a:srgbClr val="005FA5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阻断下游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3592288" y="4168101"/>
            <a:ext cx="4190901" cy="5860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秋水仙碱、SGLT2 抑制剂，从代谢层面减少上游刺激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523361" y="4276464"/>
            <a:ext cx="1583692" cy="369332"/>
          </a:xfrm>
          <a:prstGeom prst="rect">
            <a:avLst/>
          </a:prstGeom>
          <a:solidFill>
            <a:srgbClr val="005FA5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间接抗炎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3318925" y="5248956"/>
            <a:ext cx="3780264" cy="5860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机制证据一致，人群终点有限；长期抑制固有免疫有感染风险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523361" y="5366910"/>
            <a:ext cx="1583692" cy="369332"/>
          </a:xfrm>
          <a:prstGeom prst="rect">
            <a:avLst/>
          </a:prstGeom>
          <a:solidFill>
            <a:srgbClr val="005FA5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瓶颈所在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4" name="Footer Text"/>
          <p:cNvSpPr txBox="1"/>
          <p:nvPr/>
        </p:nvSpPr>
        <p:spPr>
          <a:xfrm>
            <a:off x="1343247" y="710205"/>
            <a:ext cx="32956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cs typeface="+mn-ea"/>
                <a:sym typeface="+mn-lt"/>
              </a:rPr>
              <a:t>干预策略与瓶颈</a:t>
            </a:r>
            <a:endParaRPr lang="zh-CN" altLang="en-US" sz="2800" dirty="0">
              <a:cs typeface="+mn-ea"/>
              <a:sym typeface="+mn-lt"/>
            </a:endParaRPr>
          </a:p>
        </p:txBody>
      </p:sp>
      <p:pic>
        <p:nvPicPr>
          <p:cNvPr id="21" name="图片 20" descr="005Rm9jOly4grelek7dmbj30u00u0k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95325" y="601345"/>
            <a:ext cx="647700" cy="6477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</p:sld>
</file>

<file path=ppt/slides/slide3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6589" t="2517" r="8201" b="13635"/>
          <a:stretch>
            <a:fillRect/>
          </a:stretch>
        </p:blipFill>
        <p:spPr>
          <a:xfrm>
            <a:off x="436245" y="390525"/>
            <a:ext cx="11319510" cy="6083300"/>
          </a:xfrm>
          <a:prstGeom prst="rect">
            <a:avLst/>
          </a:prstGeom>
        </p:spPr>
      </p:pic>
      <p:grpSp>
        <p:nvGrpSpPr>
          <p:cNvPr id="7" name="组合 6"/>
          <p:cNvGrpSpPr/>
          <p:nvPr userDrawn="1"/>
        </p:nvGrpSpPr>
        <p:grpSpPr>
          <a:xfrm>
            <a:off x="-28955" y="1"/>
            <a:ext cx="12249910" cy="6858000"/>
            <a:chOff x="-28955" y="1"/>
            <a:chExt cx="12249910" cy="6858000"/>
          </a:xfrm>
        </p:grpSpPr>
        <p:sp>
          <p:nvSpPr>
            <p:cNvPr id="8" name="矩形 7"/>
            <p:cNvSpPr/>
            <p:nvPr/>
          </p:nvSpPr>
          <p:spPr>
            <a:xfrm>
              <a:off x="436306" y="390832"/>
              <a:ext cx="11319388" cy="607633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9607347" y="1"/>
              <a:ext cx="2613608" cy="2014383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-28955" y="4843618"/>
              <a:ext cx="2613608" cy="2014383"/>
            </a:xfrm>
            <a:custGeom>
              <a:avLst/>
              <a:gdLst>
                <a:gd name="connsiteX0" fmla="*/ 696318 w 2613608"/>
                <a:gd name="connsiteY0" fmla="*/ 0 h 2014383"/>
                <a:gd name="connsiteX1" fmla="*/ 2613608 w 2613608"/>
                <a:gd name="connsiteY1" fmla="*/ 1917290 h 2014383"/>
                <a:gd name="connsiteX2" fmla="*/ 2608705 w 2613608"/>
                <a:gd name="connsiteY2" fmla="*/ 2014383 h 2014383"/>
                <a:gd name="connsiteX3" fmla="*/ 0 w 2613608"/>
                <a:gd name="connsiteY3" fmla="*/ 2014383 h 2014383"/>
                <a:gd name="connsiteX4" fmla="*/ 0 w 2613608"/>
                <a:gd name="connsiteY4" fmla="*/ 132378 h 2014383"/>
                <a:gd name="connsiteX5" fmla="*/ 126175 w 2613608"/>
                <a:gd name="connsiteY5" fmla="*/ 86198 h 2014383"/>
                <a:gd name="connsiteX6" fmla="*/ 696318 w 2613608"/>
                <a:gd name="connsiteY6" fmla="*/ 0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13608" h="2014383">
                  <a:moveTo>
                    <a:pt x="696318" y="0"/>
                  </a:moveTo>
                  <a:cubicBezTo>
                    <a:pt x="1755208" y="0"/>
                    <a:pt x="2613608" y="858400"/>
                    <a:pt x="2613608" y="1917290"/>
                  </a:cubicBezTo>
                  <a:lnTo>
                    <a:pt x="2608705" y="2014383"/>
                  </a:lnTo>
                  <a:lnTo>
                    <a:pt x="0" y="2014383"/>
                  </a:lnTo>
                  <a:lnTo>
                    <a:pt x="0" y="132378"/>
                  </a:lnTo>
                  <a:lnTo>
                    <a:pt x="126175" y="86198"/>
                  </a:lnTo>
                  <a:cubicBezTo>
                    <a:pt x="306283" y="30178"/>
                    <a:pt x="497776" y="0"/>
                    <a:pt x="696318" y="0"/>
                  </a:cubicBezTo>
                  <a:close/>
                </a:path>
              </a:pathLst>
            </a:cu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2824706" y="5922253"/>
              <a:ext cx="935747" cy="935747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11662673" y="499894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20" name="等腰三角形 19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4" name="等腰三角形 23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371707" y="5333365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15" name="等腰三角形 14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" name="组合 24"/>
          <p:cNvGrpSpPr/>
          <p:nvPr userDrawn="1"/>
        </p:nvGrpSpPr>
        <p:grpSpPr>
          <a:xfrm>
            <a:off x="10757221" y="5846823"/>
            <a:ext cx="767416" cy="433219"/>
            <a:chOff x="4468761" y="1799303"/>
            <a:chExt cx="914400" cy="51619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6" name="矩形 25"/>
            <p:cNvSpPr/>
            <p:nvPr/>
          </p:nvSpPr>
          <p:spPr>
            <a:xfrm>
              <a:off x="4468761" y="1799303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4468761" y="1999942"/>
              <a:ext cx="914400" cy="114917"/>
            </a:xfrm>
            <a:prstGeom prst="rect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4468761" y="2200580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45" name="图片 4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25" y="565785"/>
            <a:ext cx="2464435" cy="707390"/>
          </a:xfrm>
          <a:prstGeom prst="rect">
            <a:avLst/>
          </a:prstGeom>
        </p:spPr>
      </p:pic>
      <p:sp>
        <p:nvSpPr>
          <p:cNvPr id="2" name="矩形: 圆角 4"/>
          <p:cNvSpPr/>
          <p:nvPr>
            <p:custDataLst>
              <p:tags r:id="rId3"/>
            </p:custDataLst>
          </p:nvPr>
        </p:nvSpPr>
        <p:spPr>
          <a:xfrm>
            <a:off x="921385" y="2152650"/>
            <a:ext cx="10354945" cy="2596515"/>
          </a:xfrm>
          <a:prstGeom prst="roundRect">
            <a:avLst>
              <a:gd name="adj" fmla="val 0"/>
            </a:avLst>
          </a:prstGeom>
          <a:solidFill>
            <a:srgbClr val="FFFFFF">
              <a:alpha val="79000"/>
            </a:srgbClr>
          </a:solidFill>
          <a:ln w="28575" cmpd="sng">
            <a:noFill/>
            <a:prstDash val="solid"/>
          </a:ln>
          <a:effectLst>
            <a:outerShdw blurRad="127000" dist="254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dirty="0">
              <a:solidFill>
                <a:schemeClr val="dk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94317" y="2478826"/>
            <a:ext cx="7603367" cy="1066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5400" b="1" spc="300" dirty="0">
                <a:solidFill>
                  <a:srgbClr val="005FA5"/>
                </a:solidFill>
                <a:effectLst/>
                <a:latin typeface="+mj-ea"/>
                <a:ea typeface="+mj-ea"/>
                <a:sym typeface="+mn-ea"/>
              </a:rPr>
              <a:t>恳请各位老师批评指正</a:t>
            </a:r>
            <a:endParaRPr lang="zh-CN" altLang="en-US" sz="5400" b="1" spc="300" dirty="0">
              <a:solidFill>
                <a:srgbClr val="005FA5"/>
              </a:solidFill>
              <a:effectLst/>
              <a:latin typeface="+mj-ea"/>
              <a:ea typeface="+mj-ea"/>
              <a:cs typeface="+mn-ea"/>
              <a:sym typeface="+mn-ea"/>
            </a:endParaRPr>
          </a:p>
        </p:txBody>
      </p:sp>
      <p:sp>
        <p:nvSpPr>
          <p:cNvPr id="4" name="文本框 21"/>
          <p:cNvSpPr txBox="1"/>
          <p:nvPr/>
        </p:nvSpPr>
        <p:spPr>
          <a:xfrm>
            <a:off x="2584635" y="3618212"/>
            <a:ext cx="7425319" cy="44717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000"/>
              </a:lnSpc>
            </a:pPr>
            <a:r>
              <a:rPr lang="zh-CN" altLang="en-US" sz="2000" spc="600" dirty="0">
                <a:solidFill>
                  <a:srgbClr val="005FA5"/>
                </a:solidFill>
                <a:cs typeface="+mn-ea"/>
                <a:sym typeface="+mn-lt"/>
              </a:rPr>
              <a:t>厦门大学医学院</a:t>
            </a:r>
            <a:r>
              <a:rPr lang="en-US" altLang="zh-CN" sz="2000" spc="600" dirty="0">
                <a:solidFill>
                  <a:srgbClr val="005FA5"/>
                </a:solidFill>
                <a:cs typeface="+mn-ea"/>
                <a:sym typeface="+mn-lt"/>
              </a:rPr>
              <a:t/>
            </a:r>
            <a:r>
              <a:rPr lang="zh-CN" altLang="en-US" sz="2000" spc="600" dirty="0">
                <a:solidFill>
                  <a:srgbClr val="005FA5"/>
                </a:solidFill>
                <a:cs typeface="+mn-ea"/>
                <a:sym typeface="+mn-lt"/>
              </a:rPr>
              <a:t/>
            </a:r>
            <a:r>
              <a:rPr lang="en-US" altLang="zh-CN" sz="2000" spc="600" dirty="0">
                <a:solidFill>
                  <a:srgbClr val="005FA5"/>
                </a:solidFill>
                <a:cs typeface="+mn-ea"/>
                <a:sym typeface="+mn-lt"/>
              </a:rPr>
              <a:t/>
            </a:r>
            <a:r>
              <a:rPr lang="zh-CN" altLang="en-US" sz="2000" spc="600" dirty="0">
                <a:solidFill>
                  <a:srgbClr val="005FA5"/>
                </a:solidFill>
                <a:cs typeface="+mn-ea"/>
                <a:sym typeface="+mn-lt"/>
              </a:rPr>
              <a:t/>
            </a:r>
            <a:endParaRPr lang="zh-CN" altLang="en-US" sz="2000" spc="600" dirty="0">
              <a:solidFill>
                <a:srgbClr val="005FA5"/>
              </a:solidFill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266530" y="4270504"/>
            <a:ext cx="1603726" cy="3429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cs typeface="+mn-ea"/>
                <a:sym typeface="+mn-lt"/>
              </a:rPr>
              <a:t>指导老师：XXX</a:t>
            </a:r>
            <a:r>
              <a:rPr lang="en-US" altLang="zh-CN" sz="1600" dirty="0">
                <a:cs typeface="+mn-ea"/>
                <a:sym typeface="+mn-lt"/>
              </a:rPr>
              <a:t/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0" name="图形"/>
          <p:cNvSpPr>
            <a:spLocks noChangeAspect="1"/>
          </p:cNvSpPr>
          <p:nvPr/>
        </p:nvSpPr>
        <p:spPr bwMode="auto">
          <a:xfrm>
            <a:off x="4039666" y="4270504"/>
            <a:ext cx="226864" cy="254198"/>
          </a:xfrm>
          <a:custGeom>
            <a:avLst/>
            <a:gdLst>
              <a:gd name="T0" fmla="*/ 1931 w 2597"/>
              <a:gd name="T1" fmla="*/ 807 h 2914"/>
              <a:gd name="T2" fmla="*/ 1741 w 2597"/>
              <a:gd name="T3" fmla="*/ 141 h 2914"/>
              <a:gd name="T4" fmla="*/ 1037 w 2597"/>
              <a:gd name="T5" fmla="*/ 90 h 2914"/>
              <a:gd name="T6" fmla="*/ 646 w 2597"/>
              <a:gd name="T7" fmla="*/ 436 h 2914"/>
              <a:gd name="T8" fmla="*/ 665 w 2597"/>
              <a:gd name="T9" fmla="*/ 807 h 2914"/>
              <a:gd name="T10" fmla="*/ 593 w 2597"/>
              <a:gd name="T11" fmla="*/ 1085 h 2914"/>
              <a:gd name="T12" fmla="*/ 989 w 2597"/>
              <a:gd name="T13" fmla="*/ 1588 h 2914"/>
              <a:gd name="T14" fmla="*/ 1298 w 2597"/>
              <a:gd name="T15" fmla="*/ 1696 h 2914"/>
              <a:gd name="T16" fmla="*/ 1608 w 2597"/>
              <a:gd name="T17" fmla="*/ 1588 h 2914"/>
              <a:gd name="T18" fmla="*/ 2003 w 2597"/>
              <a:gd name="T19" fmla="*/ 1085 h 2914"/>
              <a:gd name="T20" fmla="*/ 1874 w 2597"/>
              <a:gd name="T21" fmla="*/ 1052 h 2914"/>
              <a:gd name="T22" fmla="*/ 1766 w 2597"/>
              <a:gd name="T23" fmla="*/ 1173 h 2914"/>
              <a:gd name="T24" fmla="*/ 1517 w 2597"/>
              <a:gd name="T25" fmla="*/ 1490 h 2914"/>
              <a:gd name="T26" fmla="*/ 1156 w 2597"/>
              <a:gd name="T27" fmla="*/ 1536 h 2914"/>
              <a:gd name="T28" fmla="*/ 903 w 2597"/>
              <a:gd name="T29" fmla="*/ 1210 h 2914"/>
              <a:gd name="T30" fmla="*/ 830 w 2597"/>
              <a:gd name="T31" fmla="*/ 1173 h 2914"/>
              <a:gd name="T32" fmla="*/ 722 w 2597"/>
              <a:gd name="T33" fmla="*/ 1052 h 2914"/>
              <a:gd name="T34" fmla="*/ 745 w 2597"/>
              <a:gd name="T35" fmla="*/ 916 h 2914"/>
              <a:gd name="T36" fmla="*/ 800 w 2597"/>
              <a:gd name="T37" fmla="*/ 765 h 2914"/>
              <a:gd name="T38" fmla="*/ 1052 w 2597"/>
              <a:gd name="T39" fmla="*/ 526 h 2914"/>
              <a:gd name="T40" fmla="*/ 1795 w 2597"/>
              <a:gd name="T41" fmla="*/ 746 h 2914"/>
              <a:gd name="T42" fmla="*/ 1851 w 2597"/>
              <a:gd name="T43" fmla="*/ 916 h 2914"/>
              <a:gd name="T44" fmla="*/ 1874 w 2597"/>
              <a:gd name="T45" fmla="*/ 1052 h 2914"/>
              <a:gd name="T46" fmla="*/ 1719 w 2597"/>
              <a:gd name="T47" fmla="*/ 1709 h 2914"/>
              <a:gd name="T48" fmla="*/ 1632 w 2597"/>
              <a:gd name="T49" fmla="*/ 1748 h 2914"/>
              <a:gd name="T50" fmla="*/ 1456 w 2597"/>
              <a:gd name="T51" fmla="*/ 2070 h 2914"/>
              <a:gd name="T52" fmla="*/ 1496 w 2597"/>
              <a:gd name="T53" fmla="*/ 1895 h 2914"/>
              <a:gd name="T54" fmla="*/ 1156 w 2597"/>
              <a:gd name="T55" fmla="*/ 1865 h 2914"/>
              <a:gd name="T56" fmla="*/ 1094 w 2597"/>
              <a:gd name="T57" fmla="*/ 1957 h 2914"/>
              <a:gd name="T58" fmla="*/ 1111 w 2597"/>
              <a:gd name="T59" fmla="*/ 2153 h 2914"/>
              <a:gd name="T60" fmla="*/ 929 w 2597"/>
              <a:gd name="T61" fmla="*/ 1710 h 2914"/>
              <a:gd name="T62" fmla="*/ 294 w 2597"/>
              <a:gd name="T63" fmla="*/ 1942 h 2914"/>
              <a:gd name="T64" fmla="*/ 0 w 2597"/>
              <a:gd name="T65" fmla="*/ 2848 h 2914"/>
              <a:gd name="T66" fmla="*/ 2530 w 2597"/>
              <a:gd name="T67" fmla="*/ 2914 h 2914"/>
              <a:gd name="T68" fmla="*/ 2597 w 2597"/>
              <a:gd name="T69" fmla="*/ 2377 h 2914"/>
              <a:gd name="T70" fmla="*/ 2282 w 2597"/>
              <a:gd name="T71" fmla="*/ 2570 h 2914"/>
              <a:gd name="T72" fmla="*/ 1767 w 2597"/>
              <a:gd name="T73" fmla="*/ 2636 h 2914"/>
              <a:gd name="T74" fmla="*/ 1701 w 2597"/>
              <a:gd name="T75" fmla="*/ 2362 h 2914"/>
              <a:gd name="T76" fmla="*/ 2215 w 2597"/>
              <a:gd name="T77" fmla="*/ 2295 h 2914"/>
              <a:gd name="T78" fmla="*/ 2282 w 2597"/>
              <a:gd name="T79" fmla="*/ 2570 h 2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597" h="2914">
                <a:moveTo>
                  <a:pt x="1985" y="861"/>
                </a:moveTo>
                <a:cubicBezTo>
                  <a:pt x="1969" y="836"/>
                  <a:pt x="1949" y="819"/>
                  <a:pt x="1931" y="807"/>
                </a:cubicBezTo>
                <a:cubicBezTo>
                  <a:pt x="1931" y="776"/>
                  <a:pt x="1929" y="732"/>
                  <a:pt x="1922" y="682"/>
                </a:cubicBezTo>
                <a:cubicBezTo>
                  <a:pt x="1927" y="622"/>
                  <a:pt x="1944" y="290"/>
                  <a:pt x="1741" y="141"/>
                </a:cubicBezTo>
                <a:cubicBezTo>
                  <a:pt x="1616" y="49"/>
                  <a:pt x="1477" y="0"/>
                  <a:pt x="1338" y="0"/>
                </a:cubicBezTo>
                <a:cubicBezTo>
                  <a:pt x="1226" y="0"/>
                  <a:pt x="1119" y="32"/>
                  <a:pt x="1037" y="90"/>
                </a:cubicBezTo>
                <a:cubicBezTo>
                  <a:pt x="963" y="142"/>
                  <a:pt x="922" y="199"/>
                  <a:pt x="900" y="239"/>
                </a:cubicBezTo>
                <a:cubicBezTo>
                  <a:pt x="837" y="241"/>
                  <a:pt x="705" y="267"/>
                  <a:pt x="646" y="436"/>
                </a:cubicBezTo>
                <a:cubicBezTo>
                  <a:pt x="591" y="595"/>
                  <a:pt x="636" y="693"/>
                  <a:pt x="668" y="739"/>
                </a:cubicBezTo>
                <a:cubicBezTo>
                  <a:pt x="666" y="765"/>
                  <a:pt x="665" y="789"/>
                  <a:pt x="665" y="807"/>
                </a:cubicBezTo>
                <a:cubicBezTo>
                  <a:pt x="647" y="819"/>
                  <a:pt x="628" y="836"/>
                  <a:pt x="611" y="861"/>
                </a:cubicBezTo>
                <a:cubicBezTo>
                  <a:pt x="575" y="917"/>
                  <a:pt x="569" y="993"/>
                  <a:pt x="593" y="1085"/>
                </a:cubicBezTo>
                <a:cubicBezTo>
                  <a:pt x="638" y="1259"/>
                  <a:pt x="744" y="1297"/>
                  <a:pt x="801" y="1305"/>
                </a:cubicBezTo>
                <a:cubicBezTo>
                  <a:pt x="836" y="1374"/>
                  <a:pt x="912" y="1516"/>
                  <a:pt x="989" y="1588"/>
                </a:cubicBezTo>
                <a:cubicBezTo>
                  <a:pt x="1019" y="1616"/>
                  <a:pt x="1059" y="1641"/>
                  <a:pt x="1107" y="1659"/>
                </a:cubicBezTo>
                <a:cubicBezTo>
                  <a:pt x="1168" y="1684"/>
                  <a:pt x="1232" y="1696"/>
                  <a:pt x="1298" y="1696"/>
                </a:cubicBezTo>
                <a:cubicBezTo>
                  <a:pt x="1364" y="1696"/>
                  <a:pt x="1429" y="1684"/>
                  <a:pt x="1490" y="1659"/>
                </a:cubicBezTo>
                <a:cubicBezTo>
                  <a:pt x="1538" y="1641"/>
                  <a:pt x="1577" y="1616"/>
                  <a:pt x="1608" y="1588"/>
                </a:cubicBezTo>
                <a:cubicBezTo>
                  <a:pt x="1684" y="1516"/>
                  <a:pt x="1761" y="1374"/>
                  <a:pt x="1796" y="1305"/>
                </a:cubicBezTo>
                <a:cubicBezTo>
                  <a:pt x="1852" y="1297"/>
                  <a:pt x="1958" y="1259"/>
                  <a:pt x="2003" y="1085"/>
                </a:cubicBezTo>
                <a:cubicBezTo>
                  <a:pt x="2028" y="993"/>
                  <a:pt x="2022" y="917"/>
                  <a:pt x="1985" y="861"/>
                </a:cubicBezTo>
                <a:close/>
                <a:moveTo>
                  <a:pt x="1874" y="1052"/>
                </a:moveTo>
                <a:cubicBezTo>
                  <a:pt x="1847" y="1157"/>
                  <a:pt x="1797" y="1173"/>
                  <a:pt x="1770" y="1173"/>
                </a:cubicBezTo>
                <a:cubicBezTo>
                  <a:pt x="1768" y="1173"/>
                  <a:pt x="1767" y="1173"/>
                  <a:pt x="1766" y="1173"/>
                </a:cubicBezTo>
                <a:cubicBezTo>
                  <a:pt x="1735" y="1165"/>
                  <a:pt x="1707" y="1181"/>
                  <a:pt x="1693" y="1210"/>
                </a:cubicBezTo>
                <a:cubicBezTo>
                  <a:pt x="1667" y="1267"/>
                  <a:pt x="1584" y="1428"/>
                  <a:pt x="1517" y="1490"/>
                </a:cubicBezTo>
                <a:cubicBezTo>
                  <a:pt x="1499" y="1508"/>
                  <a:pt x="1473" y="1523"/>
                  <a:pt x="1441" y="1536"/>
                </a:cubicBezTo>
                <a:cubicBezTo>
                  <a:pt x="1350" y="1572"/>
                  <a:pt x="1246" y="1572"/>
                  <a:pt x="1156" y="1536"/>
                </a:cubicBezTo>
                <a:cubicBezTo>
                  <a:pt x="1124" y="1523"/>
                  <a:pt x="1098" y="1508"/>
                  <a:pt x="1080" y="1490"/>
                </a:cubicBezTo>
                <a:cubicBezTo>
                  <a:pt x="1013" y="1428"/>
                  <a:pt x="930" y="1267"/>
                  <a:pt x="903" y="1210"/>
                </a:cubicBezTo>
                <a:cubicBezTo>
                  <a:pt x="892" y="1186"/>
                  <a:pt x="870" y="1171"/>
                  <a:pt x="846" y="1171"/>
                </a:cubicBezTo>
                <a:cubicBezTo>
                  <a:pt x="841" y="1171"/>
                  <a:pt x="835" y="1172"/>
                  <a:pt x="830" y="1173"/>
                </a:cubicBezTo>
                <a:cubicBezTo>
                  <a:pt x="829" y="1173"/>
                  <a:pt x="828" y="1173"/>
                  <a:pt x="826" y="1173"/>
                </a:cubicBezTo>
                <a:cubicBezTo>
                  <a:pt x="799" y="1173"/>
                  <a:pt x="750" y="1157"/>
                  <a:pt x="722" y="1052"/>
                </a:cubicBezTo>
                <a:cubicBezTo>
                  <a:pt x="708" y="1000"/>
                  <a:pt x="708" y="958"/>
                  <a:pt x="722" y="935"/>
                </a:cubicBezTo>
                <a:cubicBezTo>
                  <a:pt x="730" y="921"/>
                  <a:pt x="742" y="917"/>
                  <a:pt x="745" y="916"/>
                </a:cubicBezTo>
                <a:cubicBezTo>
                  <a:pt x="781" y="912"/>
                  <a:pt x="803" y="880"/>
                  <a:pt x="800" y="844"/>
                </a:cubicBezTo>
                <a:cubicBezTo>
                  <a:pt x="800" y="843"/>
                  <a:pt x="797" y="812"/>
                  <a:pt x="800" y="765"/>
                </a:cubicBezTo>
                <a:cubicBezTo>
                  <a:pt x="846" y="745"/>
                  <a:pt x="920" y="707"/>
                  <a:pt x="981" y="640"/>
                </a:cubicBezTo>
                <a:cubicBezTo>
                  <a:pt x="1013" y="606"/>
                  <a:pt x="1036" y="564"/>
                  <a:pt x="1052" y="526"/>
                </a:cubicBezTo>
                <a:cubicBezTo>
                  <a:pt x="1097" y="562"/>
                  <a:pt x="1160" y="605"/>
                  <a:pt x="1244" y="642"/>
                </a:cubicBezTo>
                <a:cubicBezTo>
                  <a:pt x="1387" y="706"/>
                  <a:pt x="1674" y="736"/>
                  <a:pt x="1795" y="746"/>
                </a:cubicBezTo>
                <a:cubicBezTo>
                  <a:pt x="1800" y="804"/>
                  <a:pt x="1797" y="843"/>
                  <a:pt x="1797" y="844"/>
                </a:cubicBezTo>
                <a:cubicBezTo>
                  <a:pt x="1793" y="880"/>
                  <a:pt x="1815" y="912"/>
                  <a:pt x="1851" y="916"/>
                </a:cubicBezTo>
                <a:cubicBezTo>
                  <a:pt x="1855" y="917"/>
                  <a:pt x="1866" y="921"/>
                  <a:pt x="1874" y="935"/>
                </a:cubicBezTo>
                <a:cubicBezTo>
                  <a:pt x="1888" y="958"/>
                  <a:pt x="1888" y="1000"/>
                  <a:pt x="1874" y="1052"/>
                </a:cubicBezTo>
                <a:close/>
                <a:moveTo>
                  <a:pt x="2302" y="1942"/>
                </a:moveTo>
                <a:lnTo>
                  <a:pt x="1719" y="1709"/>
                </a:lnTo>
                <a:cubicBezTo>
                  <a:pt x="1702" y="1702"/>
                  <a:pt x="1684" y="1703"/>
                  <a:pt x="1667" y="1710"/>
                </a:cubicBezTo>
                <a:cubicBezTo>
                  <a:pt x="1651" y="1717"/>
                  <a:pt x="1638" y="1731"/>
                  <a:pt x="1632" y="1748"/>
                </a:cubicBezTo>
                <a:lnTo>
                  <a:pt x="1485" y="2153"/>
                </a:lnTo>
                <a:lnTo>
                  <a:pt x="1456" y="2070"/>
                </a:lnTo>
                <a:lnTo>
                  <a:pt x="1502" y="1957"/>
                </a:lnTo>
                <a:cubicBezTo>
                  <a:pt x="1511" y="1936"/>
                  <a:pt x="1508" y="1913"/>
                  <a:pt x="1496" y="1895"/>
                </a:cubicBezTo>
                <a:cubicBezTo>
                  <a:pt x="1484" y="1876"/>
                  <a:pt x="1463" y="1865"/>
                  <a:pt x="1441" y="1865"/>
                </a:cubicBezTo>
                <a:lnTo>
                  <a:pt x="1156" y="1865"/>
                </a:lnTo>
                <a:cubicBezTo>
                  <a:pt x="1134" y="1865"/>
                  <a:pt x="1113" y="1876"/>
                  <a:pt x="1101" y="1895"/>
                </a:cubicBezTo>
                <a:cubicBezTo>
                  <a:pt x="1088" y="1913"/>
                  <a:pt x="1086" y="1936"/>
                  <a:pt x="1094" y="1957"/>
                </a:cubicBezTo>
                <a:lnTo>
                  <a:pt x="1140" y="2070"/>
                </a:lnTo>
                <a:lnTo>
                  <a:pt x="1111" y="2153"/>
                </a:lnTo>
                <a:lnTo>
                  <a:pt x="965" y="1748"/>
                </a:lnTo>
                <a:cubicBezTo>
                  <a:pt x="959" y="1731"/>
                  <a:pt x="946" y="1717"/>
                  <a:pt x="929" y="1710"/>
                </a:cubicBezTo>
                <a:cubicBezTo>
                  <a:pt x="913" y="1703"/>
                  <a:pt x="894" y="1702"/>
                  <a:pt x="877" y="1709"/>
                </a:cubicBezTo>
                <a:lnTo>
                  <a:pt x="294" y="1942"/>
                </a:lnTo>
                <a:cubicBezTo>
                  <a:pt x="115" y="2014"/>
                  <a:pt x="0" y="2184"/>
                  <a:pt x="0" y="2377"/>
                </a:cubicBezTo>
                <a:lnTo>
                  <a:pt x="0" y="2848"/>
                </a:lnTo>
                <a:cubicBezTo>
                  <a:pt x="0" y="2885"/>
                  <a:pt x="30" y="2914"/>
                  <a:pt x="66" y="2914"/>
                </a:cubicBezTo>
                <a:lnTo>
                  <a:pt x="2530" y="2914"/>
                </a:lnTo>
                <a:cubicBezTo>
                  <a:pt x="2567" y="2914"/>
                  <a:pt x="2597" y="2885"/>
                  <a:pt x="2597" y="2848"/>
                </a:cubicBezTo>
                <a:lnTo>
                  <a:pt x="2597" y="2377"/>
                </a:lnTo>
                <a:cubicBezTo>
                  <a:pt x="2597" y="2184"/>
                  <a:pt x="2481" y="2014"/>
                  <a:pt x="2302" y="1942"/>
                </a:cubicBezTo>
                <a:close/>
                <a:moveTo>
                  <a:pt x="2282" y="2570"/>
                </a:moveTo>
                <a:cubicBezTo>
                  <a:pt x="2282" y="2606"/>
                  <a:pt x="2252" y="2636"/>
                  <a:pt x="2215" y="2636"/>
                </a:cubicBezTo>
                <a:lnTo>
                  <a:pt x="1767" y="2636"/>
                </a:lnTo>
                <a:cubicBezTo>
                  <a:pt x="1731" y="2636"/>
                  <a:pt x="1701" y="2606"/>
                  <a:pt x="1701" y="2570"/>
                </a:cubicBezTo>
                <a:lnTo>
                  <a:pt x="1701" y="2362"/>
                </a:lnTo>
                <a:cubicBezTo>
                  <a:pt x="1701" y="2325"/>
                  <a:pt x="1731" y="2295"/>
                  <a:pt x="1767" y="2295"/>
                </a:cubicBezTo>
                <a:lnTo>
                  <a:pt x="2215" y="2295"/>
                </a:lnTo>
                <a:cubicBezTo>
                  <a:pt x="2252" y="2295"/>
                  <a:pt x="2282" y="2325"/>
                  <a:pt x="2282" y="2362"/>
                </a:cubicBezTo>
                <a:lnTo>
                  <a:pt x="2282" y="25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677791" y="4270504"/>
            <a:ext cx="1390724" cy="3429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cs typeface="+mn-ea"/>
                <a:sym typeface="+mn-lt"/>
              </a:rPr>
              <a:t>答辩人：陶龙飞</a:t>
            </a:r>
            <a:r>
              <a:rPr lang="en-US" altLang="zh-CN" sz="1600" dirty="0">
                <a:cs typeface="+mn-ea"/>
                <a:sym typeface="+mn-lt"/>
              </a:rPr>
              <a:t/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31" name="图形"/>
          <p:cNvSpPr>
            <a:spLocks noChangeAspect="1"/>
          </p:cNvSpPr>
          <p:nvPr/>
        </p:nvSpPr>
        <p:spPr bwMode="auto">
          <a:xfrm>
            <a:off x="6411755" y="4272898"/>
            <a:ext cx="254198" cy="249411"/>
          </a:xfrm>
          <a:custGeom>
            <a:avLst/>
            <a:gdLst>
              <a:gd name="T0" fmla="*/ 10234 w 10586"/>
              <a:gd name="T1" fmla="*/ 8579 h 10403"/>
              <a:gd name="T2" fmla="*/ 7877 w 10586"/>
              <a:gd name="T3" fmla="*/ 7605 h 10403"/>
              <a:gd name="T4" fmla="*/ 7647 w 10586"/>
              <a:gd name="T5" fmla="*/ 5423 h 10403"/>
              <a:gd name="T6" fmla="*/ 7758 w 10586"/>
              <a:gd name="T7" fmla="*/ 3791 h 10403"/>
              <a:gd name="T8" fmla="*/ 7679 w 10586"/>
              <a:gd name="T9" fmla="*/ 2943 h 10403"/>
              <a:gd name="T10" fmla="*/ 8116 w 10586"/>
              <a:gd name="T11" fmla="*/ 1246 h 10403"/>
              <a:gd name="T12" fmla="*/ 7943 w 10586"/>
              <a:gd name="T13" fmla="*/ 2955 h 10403"/>
              <a:gd name="T14" fmla="*/ 9242 w 10586"/>
              <a:gd name="T15" fmla="*/ 3318 h 10403"/>
              <a:gd name="T16" fmla="*/ 8888 w 10586"/>
              <a:gd name="T17" fmla="*/ 1967 h 10403"/>
              <a:gd name="T18" fmla="*/ 9573 w 10586"/>
              <a:gd name="T19" fmla="*/ 1246 h 10403"/>
              <a:gd name="T20" fmla="*/ 8421 w 10586"/>
              <a:gd name="T21" fmla="*/ 233 h 10403"/>
              <a:gd name="T22" fmla="*/ 5631 w 10586"/>
              <a:gd name="T23" fmla="*/ 0 h 10403"/>
              <a:gd name="T24" fmla="*/ 1013 w 10586"/>
              <a:gd name="T25" fmla="*/ 233 h 10403"/>
              <a:gd name="T26" fmla="*/ 2907 w 10586"/>
              <a:gd name="T27" fmla="*/ 1246 h 10403"/>
              <a:gd name="T28" fmla="*/ 2984 w 10586"/>
              <a:gd name="T29" fmla="*/ 2943 h 10403"/>
              <a:gd name="T30" fmla="*/ 2510 w 10586"/>
              <a:gd name="T31" fmla="*/ 4799 h 10403"/>
              <a:gd name="T32" fmla="*/ 3672 w 10586"/>
              <a:gd name="T33" fmla="*/ 7122 h 10403"/>
              <a:gd name="T34" fmla="*/ 826 w 10586"/>
              <a:gd name="T35" fmla="*/ 8270 h 10403"/>
              <a:gd name="T36" fmla="*/ 0 w 10586"/>
              <a:gd name="T37" fmla="*/ 10403 h 10403"/>
              <a:gd name="T38" fmla="*/ 10586 w 10586"/>
              <a:gd name="T39" fmla="*/ 10066 h 10403"/>
              <a:gd name="T40" fmla="*/ 937 w 10586"/>
              <a:gd name="T41" fmla="*/ 8940 h 10403"/>
              <a:gd name="T42" fmla="*/ 4360 w 10586"/>
              <a:gd name="T43" fmla="*/ 7212 h 10403"/>
              <a:gd name="T44" fmla="*/ 3604 w 10586"/>
              <a:gd name="T45" fmla="*/ 5223 h 10403"/>
              <a:gd name="T46" fmla="*/ 3417 w 10586"/>
              <a:gd name="T47" fmla="*/ 4921 h 10403"/>
              <a:gd name="T48" fmla="*/ 3400 w 10586"/>
              <a:gd name="T49" fmla="*/ 4158 h 10403"/>
              <a:gd name="T50" fmla="*/ 3490 w 10586"/>
              <a:gd name="T51" fmla="*/ 3960 h 10403"/>
              <a:gd name="T52" fmla="*/ 6902 w 10586"/>
              <a:gd name="T53" fmla="*/ 2943 h 10403"/>
              <a:gd name="T54" fmla="*/ 7107 w 10586"/>
              <a:gd name="T55" fmla="*/ 4074 h 10403"/>
              <a:gd name="T56" fmla="*/ 7410 w 10586"/>
              <a:gd name="T57" fmla="*/ 4679 h 10403"/>
              <a:gd name="T58" fmla="*/ 6982 w 10586"/>
              <a:gd name="T59" fmla="*/ 5014 h 10403"/>
              <a:gd name="T60" fmla="*/ 6433 w 10586"/>
              <a:gd name="T61" fmla="*/ 6649 h 10403"/>
              <a:gd name="T62" fmla="*/ 7658 w 10586"/>
              <a:gd name="T63" fmla="*/ 8245 h 10403"/>
              <a:gd name="T64" fmla="*/ 9649 w 10586"/>
              <a:gd name="T65" fmla="*/ 8940 h 10403"/>
              <a:gd name="T66" fmla="*/ 688 w 10586"/>
              <a:gd name="T67" fmla="*/ 9728 h 104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0586" h="10403">
                <a:moveTo>
                  <a:pt x="10586" y="10066"/>
                </a:moveTo>
                <a:cubicBezTo>
                  <a:pt x="10586" y="9382"/>
                  <a:pt x="10468" y="8882"/>
                  <a:pt x="10234" y="8579"/>
                </a:cubicBezTo>
                <a:cubicBezTo>
                  <a:pt x="10084" y="8384"/>
                  <a:pt x="9904" y="8294"/>
                  <a:pt x="9762" y="8270"/>
                </a:cubicBezTo>
                <a:lnTo>
                  <a:pt x="7877" y="7605"/>
                </a:lnTo>
                <a:cubicBezTo>
                  <a:pt x="7193" y="7377"/>
                  <a:pt x="6978" y="7196"/>
                  <a:pt x="6914" y="7122"/>
                </a:cubicBezTo>
                <a:cubicBezTo>
                  <a:pt x="7474" y="6578"/>
                  <a:pt x="7613" y="5789"/>
                  <a:pt x="7647" y="5423"/>
                </a:cubicBezTo>
                <a:cubicBezTo>
                  <a:pt x="7940" y="5222"/>
                  <a:pt x="8043" y="4979"/>
                  <a:pt x="8075" y="4799"/>
                </a:cubicBezTo>
                <a:cubicBezTo>
                  <a:pt x="8153" y="4366"/>
                  <a:pt x="7897" y="3968"/>
                  <a:pt x="7758" y="3791"/>
                </a:cubicBezTo>
                <a:cubicBezTo>
                  <a:pt x="7725" y="3484"/>
                  <a:pt x="7671" y="3203"/>
                  <a:pt x="7602" y="2943"/>
                </a:cubicBezTo>
                <a:lnTo>
                  <a:pt x="7679" y="2943"/>
                </a:lnTo>
                <a:lnTo>
                  <a:pt x="7679" y="1246"/>
                </a:lnTo>
                <a:lnTo>
                  <a:pt x="8116" y="1246"/>
                </a:lnTo>
                <a:cubicBezTo>
                  <a:pt x="8151" y="1413"/>
                  <a:pt x="8182" y="1625"/>
                  <a:pt x="8205" y="1894"/>
                </a:cubicBezTo>
                <a:cubicBezTo>
                  <a:pt x="8105" y="2037"/>
                  <a:pt x="7989" y="2328"/>
                  <a:pt x="7943" y="2955"/>
                </a:cubicBezTo>
                <a:lnTo>
                  <a:pt x="7916" y="3318"/>
                </a:lnTo>
                <a:lnTo>
                  <a:pt x="9242" y="3318"/>
                </a:lnTo>
                <a:lnTo>
                  <a:pt x="9212" y="2952"/>
                </a:lnTo>
                <a:cubicBezTo>
                  <a:pt x="9173" y="2474"/>
                  <a:pt x="9006" y="2146"/>
                  <a:pt x="8888" y="1967"/>
                </a:cubicBezTo>
                <a:cubicBezTo>
                  <a:pt x="8868" y="1689"/>
                  <a:pt x="8838" y="1453"/>
                  <a:pt x="8801" y="1246"/>
                </a:cubicBezTo>
                <a:lnTo>
                  <a:pt x="9573" y="1246"/>
                </a:lnTo>
                <a:lnTo>
                  <a:pt x="9573" y="233"/>
                </a:lnTo>
                <a:lnTo>
                  <a:pt x="8421" y="233"/>
                </a:lnTo>
                <a:cubicBezTo>
                  <a:pt x="8272" y="51"/>
                  <a:pt x="8113" y="0"/>
                  <a:pt x="7986" y="0"/>
                </a:cubicBezTo>
                <a:lnTo>
                  <a:pt x="5631" y="0"/>
                </a:lnTo>
                <a:lnTo>
                  <a:pt x="5631" y="233"/>
                </a:lnTo>
                <a:lnTo>
                  <a:pt x="1013" y="233"/>
                </a:lnTo>
                <a:lnTo>
                  <a:pt x="1013" y="1246"/>
                </a:lnTo>
                <a:lnTo>
                  <a:pt x="2907" y="1246"/>
                </a:lnTo>
                <a:lnTo>
                  <a:pt x="2907" y="2943"/>
                </a:lnTo>
                <a:lnTo>
                  <a:pt x="2984" y="2943"/>
                </a:lnTo>
                <a:cubicBezTo>
                  <a:pt x="2915" y="3203"/>
                  <a:pt x="2861" y="3484"/>
                  <a:pt x="2828" y="3791"/>
                </a:cubicBezTo>
                <a:cubicBezTo>
                  <a:pt x="2689" y="3968"/>
                  <a:pt x="2433" y="4366"/>
                  <a:pt x="2510" y="4799"/>
                </a:cubicBezTo>
                <a:cubicBezTo>
                  <a:pt x="2543" y="4979"/>
                  <a:pt x="2646" y="5222"/>
                  <a:pt x="2939" y="5423"/>
                </a:cubicBezTo>
                <a:cubicBezTo>
                  <a:pt x="2974" y="5788"/>
                  <a:pt x="3112" y="6575"/>
                  <a:pt x="3672" y="7122"/>
                </a:cubicBezTo>
                <a:cubicBezTo>
                  <a:pt x="3608" y="7195"/>
                  <a:pt x="3392" y="7378"/>
                  <a:pt x="2703" y="7607"/>
                </a:cubicBezTo>
                <a:lnTo>
                  <a:pt x="826" y="8270"/>
                </a:lnTo>
                <a:cubicBezTo>
                  <a:pt x="586" y="8306"/>
                  <a:pt x="0" y="8550"/>
                  <a:pt x="0" y="10066"/>
                </a:cubicBezTo>
                <a:lnTo>
                  <a:pt x="0" y="10403"/>
                </a:lnTo>
                <a:lnTo>
                  <a:pt x="10586" y="10403"/>
                </a:lnTo>
                <a:lnTo>
                  <a:pt x="10586" y="10066"/>
                </a:lnTo>
                <a:close/>
                <a:moveTo>
                  <a:pt x="688" y="9728"/>
                </a:moveTo>
                <a:cubicBezTo>
                  <a:pt x="731" y="9184"/>
                  <a:pt x="872" y="8979"/>
                  <a:pt x="937" y="8940"/>
                </a:cubicBezTo>
                <a:lnTo>
                  <a:pt x="2922" y="8247"/>
                </a:lnTo>
                <a:cubicBezTo>
                  <a:pt x="3832" y="7943"/>
                  <a:pt x="4288" y="7615"/>
                  <a:pt x="4360" y="7212"/>
                </a:cubicBezTo>
                <a:cubicBezTo>
                  <a:pt x="4406" y="6955"/>
                  <a:pt x="4277" y="6748"/>
                  <a:pt x="4170" y="6663"/>
                </a:cubicBezTo>
                <a:cubicBezTo>
                  <a:pt x="3615" y="6155"/>
                  <a:pt x="3604" y="5232"/>
                  <a:pt x="3604" y="5223"/>
                </a:cubicBezTo>
                <a:lnTo>
                  <a:pt x="3604" y="5014"/>
                </a:lnTo>
                <a:lnTo>
                  <a:pt x="3417" y="4921"/>
                </a:lnTo>
                <a:cubicBezTo>
                  <a:pt x="3273" y="4849"/>
                  <a:pt x="3192" y="4768"/>
                  <a:pt x="3176" y="4680"/>
                </a:cubicBezTo>
                <a:cubicBezTo>
                  <a:pt x="3144" y="4506"/>
                  <a:pt x="3314" y="4253"/>
                  <a:pt x="3400" y="4158"/>
                </a:cubicBezTo>
                <a:lnTo>
                  <a:pt x="3479" y="4074"/>
                </a:lnTo>
                <a:lnTo>
                  <a:pt x="3490" y="3960"/>
                </a:lnTo>
                <a:cubicBezTo>
                  <a:pt x="3526" y="3578"/>
                  <a:pt x="3591" y="3237"/>
                  <a:pt x="3684" y="2943"/>
                </a:cubicBezTo>
                <a:lnTo>
                  <a:pt x="6902" y="2943"/>
                </a:lnTo>
                <a:cubicBezTo>
                  <a:pt x="6995" y="3237"/>
                  <a:pt x="7060" y="3578"/>
                  <a:pt x="7096" y="3960"/>
                </a:cubicBezTo>
                <a:lnTo>
                  <a:pt x="7107" y="4074"/>
                </a:lnTo>
                <a:lnTo>
                  <a:pt x="7186" y="4158"/>
                </a:lnTo>
                <a:cubicBezTo>
                  <a:pt x="7269" y="4248"/>
                  <a:pt x="7442" y="4504"/>
                  <a:pt x="7410" y="4679"/>
                </a:cubicBezTo>
                <a:cubicBezTo>
                  <a:pt x="7394" y="4767"/>
                  <a:pt x="7313" y="4849"/>
                  <a:pt x="7169" y="4921"/>
                </a:cubicBezTo>
                <a:lnTo>
                  <a:pt x="6982" y="5014"/>
                </a:lnTo>
                <a:lnTo>
                  <a:pt x="6982" y="5223"/>
                </a:lnTo>
                <a:cubicBezTo>
                  <a:pt x="6982" y="5232"/>
                  <a:pt x="6967" y="6159"/>
                  <a:pt x="6433" y="6649"/>
                </a:cubicBezTo>
                <a:cubicBezTo>
                  <a:pt x="6309" y="6748"/>
                  <a:pt x="6180" y="6955"/>
                  <a:pt x="6226" y="7212"/>
                </a:cubicBezTo>
                <a:cubicBezTo>
                  <a:pt x="6298" y="7615"/>
                  <a:pt x="6754" y="7943"/>
                  <a:pt x="7658" y="8245"/>
                </a:cubicBezTo>
                <a:lnTo>
                  <a:pt x="9627" y="8940"/>
                </a:lnTo>
                <a:lnTo>
                  <a:pt x="9649" y="8940"/>
                </a:lnTo>
                <a:cubicBezTo>
                  <a:pt x="9714" y="8979"/>
                  <a:pt x="9855" y="9184"/>
                  <a:pt x="9898" y="9728"/>
                </a:cubicBezTo>
                <a:lnTo>
                  <a:pt x="688" y="9728"/>
                </a:lnTo>
                <a:lnTo>
                  <a:pt x="688" y="97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2383341" y="4137651"/>
            <a:ext cx="74253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/>
          <p:cNvSpPr/>
          <p:nvPr/>
        </p:nvSpPr>
        <p:spPr>
          <a:xfrm>
            <a:off x="8491446" y="-5472"/>
            <a:ext cx="935747" cy="935747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</p:cSld>
  <p:clrMapOvr>
    <a:masterClrMapping/>
  </p:clrMapOvr>
  <p:transition p14:dur="500">
    <p:fade/>
  </p:transition>
</p:sld>
</file>

<file path=ppt/tags/tag1_tf1.xml><?xml version="1.0" encoding="utf-8"?>
<p:tagLst xmlns:p="http://schemas.openxmlformats.org/presentationml/2006/main"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5"/>
  <p:tag name="KSO_WM_UNIT_LINE_FILL_TYPE" val="2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custom20231190_1*i*4"/>
  <p:tag name="KSO_WM_TEMPLATE_CATEGORY" val="custom"/>
  <p:tag name="KSO_WM_TEMPLATE_INDEX" val="20231190"/>
  <p:tag name="KSO_WM_UNIT_LAYERLEVEL" val="1"/>
  <p:tag name="KSO_WM_TAG_VERSION" val="3.0"/>
  <p:tag name="KSO_WM_UNIT_TYPE" val="i"/>
  <p:tag name="KSO_WM_UNIT_INDEX" val="4"/>
</p:tagLst>
</file>

<file path=ppt/tags/tag74_tf1.xml><?xml version="1.0" encoding="utf-8"?>
<p:tagLst xmlns:p="http://schemas.openxmlformats.org/presentationml/2006/main"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5"/>
  <p:tag name="KSO_WM_UNIT_LINE_FILL_TYPE" val="2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custom20231190_1*i*4"/>
  <p:tag name="KSO_WM_TEMPLATE_CATEGORY" val="custom"/>
  <p:tag name="KSO_WM_TEMPLATE_INDEX" val="20231190"/>
  <p:tag name="KSO_WM_UNIT_LAYERLEVEL" val="1"/>
  <p:tag name="KSO_WM_TAG_VERSION" val="3.0"/>
  <p:tag name="KSO_WM_UNIT_TYPE" val="i"/>
  <p:tag name="KSO_WM_UNIT_INDEX" val="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2950</Words>
  <Application>WPS 演示</Application>
  <PresentationFormat>宽屏</PresentationFormat>
  <Paragraphs>282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Montserrat</vt:lpstr>
      <vt:lpstr>Taken by Vultures Alternates De</vt:lpstr>
      <vt:lpstr>Gulim</vt:lpstr>
      <vt:lpstr>Malgun Gothic</vt:lpstr>
      <vt:lpstr>Calibri</vt:lpstr>
      <vt:lpstr>微软雅黑</vt:lpstr>
      <vt:lpstr>Arial Unicode MS</vt:lpstr>
      <vt:lpstr>PMingLiU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KeAnran</dc:creator>
  <cp:lastModifiedBy>Rhoda Wang</cp:lastModifiedBy>
  <cp:revision>23</cp:revision>
  <dcterms:created xsi:type="dcterms:W3CDTF">2023-08-09T12:44:00Z</dcterms:created>
  <dcterms:modified xsi:type="dcterms:W3CDTF">2025-05-07T09:01:02Z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2052-12.1.0.20784</vt:lpwstr>
  </property>
</Properties>
</file>