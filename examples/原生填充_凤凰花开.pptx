
<file path=[Content_Types].xml><?xml version="1.0" encoding="utf-8"?>
<ns0:Types xmlns:ns0="http://schemas.openxmlformats.org/package/2006/content-types">
  <ns0:Default Extension="fntdata" ContentType="application/x-fontdata"/>
  <ns0:Default Extension="jpeg" ContentType="image/jpeg"/>
  <ns0:Default Extension="png" ContentType="image/png"/>
  <ns0:Default Extension="rels" ContentType="application/vnd.openxmlformats-package.relationships+xml"/>
  <ns0:Default Extension="svg" ContentType="image/svg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docProps/custom.xml" ContentType="application/vnd.openxmlformats-officedocument.custom-properties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0.xml" ContentType="application/vnd.openxmlformats-officedocument.presentationml.slide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embedTrueTypeFonts="1" saveSubsetFonts="1">
  <p:sldMasterIdLst>
    <p:sldMasterId id="2147483648" r:id="rId1"/>
  </p:sldMasterIdLst>
  <p:sldIdLst>
    <p:sldId id="256" r:id="rId31"/>
    <p:sldId id="257" r:id="rId32"/>
    <p:sldId id="258" r:id="rId33"/>
    <p:sldId id="259" r:id="rId34"/>
    <p:sldId id="260" r:id="rId35"/>
    <p:sldId id="261" r:id="rId36"/>
    <p:sldId id="262" r:id="rId37"/>
    <p:sldId id="263" r:id="rId38"/>
    <p:sldId id="264" r:id="rId39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>
        <ns3:guide id="1" orient="horz" pos="2571">
          <ns3:clr>
            <a:srgbClr val="A4A3A4"/>
          </ns3:clr>
        </ns3:guide>
        <ns3:guide id="2" pos="3728">
          <ns3:clr>
            <a:srgbClr val="A4A3A4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495644"/>
    <a:srgbClr val="9A3227"/>
    <a:srgbClr val="CF6450"/>
    <a:srgbClr val="D77161"/>
    <a:srgbClr val="E48D76"/>
    <a:srgbClr val="616044"/>
    <a:srgbClr val="4C5543"/>
    <a:srgbClr val="A73737"/>
    <a:srgbClr val="2E3D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226" y="58"/>
      </p:cViewPr>
      <p:guideLst>
        <p:guide orient="horz" pos="2571"/>
        <p:guide pos="37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Relationships xmlns="http://schemas.openxmlformats.org/package/2006/relationships"><Relationship Id="rId29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30" Type="http://schemas.openxmlformats.org/officeDocument/2006/relationships/tableStyles" Target="tableStyles.xml" /><Relationship Id="rId31" Type="http://schemas.openxmlformats.org/officeDocument/2006/relationships/slide" Target="slides/slide12.xml" /><Relationship Id="rId32" Type="http://schemas.openxmlformats.org/officeDocument/2006/relationships/slide" Target="slides/slide13.xml" /><Relationship Id="rId33" Type="http://schemas.openxmlformats.org/officeDocument/2006/relationships/slide" Target="slides/slide14.xml" /><Relationship Id="rId34" Type="http://schemas.openxmlformats.org/officeDocument/2006/relationships/slide" Target="slides/slide15.xml" /><Relationship Id="rId35" Type="http://schemas.openxmlformats.org/officeDocument/2006/relationships/slide" Target="slides/slide16.xml" /><Relationship Id="rId36" Type="http://schemas.openxmlformats.org/officeDocument/2006/relationships/slide" Target="slides/slide17.xml" /><Relationship Id="rId37" Type="http://schemas.openxmlformats.org/officeDocument/2006/relationships/slide" Target="slides/slide18.xml" /><Relationship Id="rId38" Type="http://schemas.openxmlformats.org/officeDocument/2006/relationships/slide" Target="slides/slide19.xml" /><Relationship Id="rId39" Type="http://schemas.openxmlformats.org/officeDocument/2006/relationships/slide" Target="slides/slide20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2.xml.rels><?xml version='1.0' encoding='utf-8'?>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.png" /></Relationships>
</file>

<file path=ppt/slides/_rels/slide13.xml.rels><?xml version='1.0' encoding='utf-8'?>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png" /></Relationships>
</file>

<file path=ppt/slides/_rels/slide14.xml.rels><?xml version='1.0' encoding='utf-8'?>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7.xml" /></Relationships>
</file>

<file path=ppt/slides/_rels/slide15.xml.rels><?xml version='1.0' encoding='utf-8'?>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9.jpeg" /></Relationships>
</file>

<file path=ppt/slides/_rels/slide16.xml.rels><?xml version='1.0' encoding='utf-8'?>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7.xml" /></Relationships>
</file>

<file path=ppt/slides/_rels/slide17.xml.rels><?xml version='1.0' encoding='utf-8'?>
<Relationships xmlns="http://schemas.openxmlformats.org/package/2006/relationships"><Relationship Id="rId8" Type="http://schemas.openxmlformats.org/officeDocument/2006/relationships/image" Target="../media/image24.svg" /><Relationship Id="rId13" Type="http://schemas.openxmlformats.org/officeDocument/2006/relationships/image" Target="../media/image2.png" /><Relationship Id="rId3" Type="http://schemas.openxmlformats.org/officeDocument/2006/relationships/image" Target="../media/image19.png" /><Relationship Id="rId7" Type="http://schemas.openxmlformats.org/officeDocument/2006/relationships/image" Target="../media/image23.png" /><Relationship Id="rId12" Type="http://schemas.openxmlformats.org/officeDocument/2006/relationships/image" Target="../media/image28.svg" /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22.svg" /><Relationship Id="rId11" Type="http://schemas.openxmlformats.org/officeDocument/2006/relationships/image" Target="../media/image27.png" /><Relationship Id="rId5" Type="http://schemas.openxmlformats.org/officeDocument/2006/relationships/image" Target="../media/image21.png" /><Relationship Id="rId10" Type="http://schemas.openxmlformats.org/officeDocument/2006/relationships/image" Target="../media/image26.svg" /><Relationship Id="rId4" Type="http://schemas.openxmlformats.org/officeDocument/2006/relationships/image" Target="../media/image20.svg" /><Relationship Id="rId9" Type="http://schemas.openxmlformats.org/officeDocument/2006/relationships/image" Target="../media/image25.png" /><Relationship Id="rId14" Type="http://schemas.openxmlformats.org/officeDocument/2006/relationships/image" Target="../media/image3.png" /></Relationships>
</file>

<file path=ppt/slides/_rels/slide18.xml.rels><?xml version='1.0' encoding='utf-8'?>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7.xml" /></Relationships>
</file>

<file path=ppt/slides/_rels/slide19.xml.rels><?xml version='1.0' encoding='utf-8'?>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9.jpeg" /></Relationships>
</file>

<file path=ppt/slides/_rels/slide20.xml.rels><?xml version='1.0' encoding='utf-8'?>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png" /></Relationships>
</file>

<file path=ppt/slides/slide12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84ee83e63cd29fa50c3f02250ca31e9e"/>
          <p:cNvPicPr>
            <a:picLocks noChangeAspect="1"/>
          </p:cNvPicPr>
          <p:nvPr/>
        </p:nvPicPr>
        <p:blipFill>
          <a:blip r:embed="rId2"/>
          <a:srcRect l="-5" t="-1767" b="23959"/>
          <a:stretch>
            <a:fillRect/>
          </a:stretch>
        </p:blipFill>
        <p:spPr>
          <a:xfrm>
            <a:off x="-12700" y="-181610"/>
            <a:ext cx="12238990" cy="7044055"/>
          </a:xfrm>
          <a:prstGeom prst="rect">
            <a:avLst/>
          </a:prstGeom>
        </p:spPr>
      </p:pic>
      <p:sp>
        <p:nvSpPr>
          <p:cNvPr id="40" name="矩形 39"/>
          <p:cNvSpPr/>
          <p:nvPr/>
        </p:nvSpPr>
        <p:spPr>
          <a:xfrm>
            <a:off x="635" y="0"/>
            <a:ext cx="2484120" cy="6851015"/>
          </a:xfrm>
          <a:prstGeom prst="rect">
            <a:avLst/>
          </a:prstGeom>
          <a:solidFill>
            <a:srgbClr val="2E3D3A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8874032" y="2926991"/>
            <a:ext cx="6739392" cy="16300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50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厦门大学</a:t>
            </a:r>
          </a:p>
          <a:p>
            <a:r>
              <a:rPr lang="en-US" altLang="zh-CN" sz="50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论文投稿</a:t>
            </a:r>
            <a:r>
              <a:rPr lang="zh-CN" altLang="en-US" sz="50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/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8874125" y="5691505"/>
            <a:ext cx="173609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  <a:sym typeface="+mn-ea"/>
              </a:rPr>
              <a:t>汇  报  人：陶龙飞</a:t>
            </a:r>
            <a:r>
              <a:rPr lang="en-US" altLang="zh-CN"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  <a:sym typeface="+mn-ea"/>
              </a:rPr>
              <a:t/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8863965" y="6059805"/>
            <a:ext cx="175641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  <a:sym typeface="+mn-ea"/>
              </a:rPr>
              <a:t>汇报时间：2026.10</a:t>
            </a:r>
            <a:r>
              <a:rPr lang="en-US" altLang="zh-CN"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  <a:sym typeface="+mn-ea"/>
              </a:rPr>
              <a:t/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9730012" y="2404945"/>
            <a:ext cx="1769110" cy="52197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+mn-ea"/>
              </a:rPr>
              <a:t>2026/10</a:t>
            </a:r>
          </a:p>
        </p:txBody>
      </p:sp>
      <p:pic>
        <p:nvPicPr>
          <p:cNvPr id="47" name="图片 46" descr="厦大校徽-白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4945" y="67945"/>
            <a:ext cx="1409065" cy="729615"/>
          </a:xfrm>
          <a:prstGeom prst="rect">
            <a:avLst/>
          </a:prstGeom>
        </p:spPr>
      </p:pic>
      <p:cxnSp>
        <p:nvCxnSpPr>
          <p:cNvPr id="49" name="直接连接符 48"/>
          <p:cNvCxnSpPr/>
          <p:nvPr/>
        </p:nvCxnSpPr>
        <p:spPr>
          <a:xfrm>
            <a:off x="250190" y="5624830"/>
            <a:ext cx="1905" cy="96647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 flipH="1">
            <a:off x="252095" y="6591300"/>
            <a:ext cx="3883660" cy="5715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250190" y="6096000"/>
            <a:ext cx="230251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Source Han Serif CN Regular" panose="02020500000000000000" charset="-122"/>
                <a:ea typeface="Source Han Serif CN Regular" panose="02020500000000000000" charset="-122"/>
                <a:cs typeface="Source Han Sans CN Bold" panose="020B0800000000000000" charset="-122"/>
                <a:sym typeface="+mn-ea"/>
              </a:rPr>
              <a:t>Xiamen University</a:t>
            </a:r>
            <a:r>
              <a:rPr lang="en-US" altLang="zh-CN"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  <a:sym typeface="+mn-ea"/>
              </a:rPr>
              <a:t/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8918575" y="4444365"/>
            <a:ext cx="2635250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altLang="zh-CN" sz="1000" dirty="0">
                <a:solidFill>
                  <a:schemeClr val="bg1"/>
                </a:solidFill>
                <a:latin typeface="Source Han Sans CN Regular" charset="0"/>
                <a:ea typeface="Source Han Serif CN Regular" panose="02020500000000000000" charset="-122"/>
                <a:cs typeface="Source Han Sans CN Regular" charset="0"/>
                <a:sym typeface="+mn-ea"/>
              </a:rPr>
              <a:t>从邮件来回到看板可见</a:t>
            </a:r>
            <a:r>
              <a:rPr lang="en-US" altLang="zh-CN" sz="1000" dirty="0">
                <a:solidFill>
                  <a:schemeClr val="bg1"/>
                </a:solidFill>
                <a:latin typeface="Source Han Serif CN Regular" panose="02020500000000000000" charset="-122"/>
                <a:ea typeface="Source Han Serif CN Regular" panose="02020500000000000000" charset="-122"/>
                <a:cs typeface="Source Han Sans CN Bold" panose="020B0800000000000000" charset="-122"/>
                <a:sym typeface="+mn-ea"/>
              </a:rPr>
              <a:t/>
            </a:r>
            <a:endParaRPr lang="en-US" altLang="zh-CN" sz="1000" dirty="0">
              <a:solidFill>
                <a:schemeClr val="bg1"/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  <a:sym typeface="+mn-ea"/>
            </a:endParaRPr>
          </a:p>
        </p:txBody>
      </p:sp>
      <p:pic>
        <p:nvPicPr>
          <p:cNvPr id="2" name="图片 1" descr="厦大白标"/>
          <p:cNvPicPr>
            <a:picLocks noChangeAspect="1"/>
          </p:cNvPicPr>
          <p:nvPr/>
        </p:nvPicPr>
        <p:blipFill>
          <a:blip r:embed="rId4"/>
          <a:srcRect l="7917" t="27888" r="6660" b="36383"/>
          <a:stretch>
            <a:fillRect/>
          </a:stretch>
        </p:blipFill>
        <p:spPr>
          <a:xfrm>
            <a:off x="839470" y="241300"/>
            <a:ext cx="1350645" cy="376555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</p:sld>
</file>

<file path=ppt/slides/slide13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fb0201b1a0171f4c80145f37d72905cd"/>
          <p:cNvPicPr>
            <a:picLocks noChangeAspect="1"/>
          </p:cNvPicPr>
          <p:nvPr/>
        </p:nvPicPr>
        <p:blipFill>
          <a:blip r:embed="rId2"/>
          <a:srcRect b="15917"/>
          <a:stretch>
            <a:fillRect/>
          </a:stretch>
        </p:blipFill>
        <p:spPr>
          <a:xfrm>
            <a:off x="-20320" y="-25400"/>
            <a:ext cx="12232005" cy="690816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-20320" y="-29210"/>
            <a:ext cx="12251690" cy="6911975"/>
          </a:xfrm>
          <a:prstGeom prst="rect">
            <a:avLst/>
          </a:prstGeom>
          <a:solidFill>
            <a:schemeClr val="accent1">
              <a:lumMod val="60000"/>
              <a:lumOff val="40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 rot="2220000">
            <a:off x="224155" y="-1024255"/>
            <a:ext cx="14552930" cy="5953760"/>
          </a:xfrm>
          <a:prstGeom prst="rect">
            <a:avLst/>
          </a:prstGeom>
          <a:solidFill>
            <a:srgbClr val="2E3D3A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182333" y="803138"/>
            <a:ext cx="2320925" cy="4603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问题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229328" y="1221130"/>
            <a:ext cx="3534307" cy="283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5000"/>
              </a:lnSpc>
            </a:pPr>
            <a:r>
              <a:rPr lang="en-US" altLang="zh-CN" sz="1000" b="1" dirty="0">
                <a:solidFill>
                  <a:srgbClr val="9A3227"/>
                </a:solidFill>
                <a:latin typeface="Source Han Sans CN Bold" panose="020B0800000000000000" charset="-122"/>
                <a:ea typeface="Source Han Sans CN Bold" panose="020B0800000000000000" charset="-122"/>
                <a:cs typeface="+mn-ea"/>
              </a:rPr>
              <a:t>状态散落在邮件与聊天里</a:t>
            </a:r>
            <a:r>
              <a:rPr lang="en-US" altLang="zh-CN" sz="1000" dirty="0">
                <a:solidFill>
                  <a:srgbClr val="9A3227"/>
                </a:solidFill>
                <a:latin typeface="Century Gothic" panose="020B0502020202020204" pitchFamily="34" charset="0"/>
                <a:cs typeface="+mn-ea"/>
              </a:rPr>
              <a:t/>
            </a:r>
          </a:p>
        </p:txBody>
      </p:sp>
      <p:sp>
        <p:nvSpPr>
          <p:cNvPr id="18" name="椭圆 17"/>
          <p:cNvSpPr/>
          <p:nvPr/>
        </p:nvSpPr>
        <p:spPr>
          <a:xfrm>
            <a:off x="6243955" y="2136775"/>
            <a:ext cx="487680" cy="487680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6404060" y="2136638"/>
            <a:ext cx="606425" cy="4603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2400" b="1" dirty="0">
                <a:solidFill>
                  <a:srgbClr val="9A3227"/>
                </a:solidFill>
                <a:cs typeface="+mn-ea"/>
              </a:rPr>
              <a:t>02.</a:t>
            </a:r>
          </a:p>
        </p:txBody>
      </p:sp>
      <p:sp>
        <p:nvSpPr>
          <p:cNvPr id="27" name="矩形 26"/>
          <p:cNvSpPr/>
          <p:nvPr/>
        </p:nvSpPr>
        <p:spPr>
          <a:xfrm>
            <a:off x="7017358" y="2147433"/>
            <a:ext cx="2320925" cy="4603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方案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7064353" y="2565425"/>
            <a:ext cx="3534307" cy="283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5000"/>
              </a:lnSpc>
            </a:pPr>
            <a:r>
              <a:rPr lang="en-US" altLang="zh-CN" sz="1000" b="1" dirty="0">
                <a:solidFill>
                  <a:srgbClr val="9A3227"/>
                </a:solidFill>
                <a:latin typeface="Source Han Sans CN Bold" panose="020B0800000000000000" charset="-122"/>
                <a:ea typeface="Source Han Sans CN Bold" panose="020B0800000000000000" charset="-122"/>
                <a:cs typeface="+mn-ea"/>
              </a:rPr>
              <a:t>一个状态机加一块看板</a:t>
            </a:r>
            <a:r>
              <a:rPr lang="en-US" altLang="zh-CN" sz="1000" dirty="0">
                <a:solidFill>
                  <a:srgbClr val="9A3227"/>
                </a:solidFill>
                <a:latin typeface="Century Gothic" panose="020B0502020202020204" pitchFamily="34" charset="0"/>
                <a:cs typeface="+mn-ea"/>
              </a:rPr>
              <a:t/>
            </a:r>
          </a:p>
        </p:txBody>
      </p:sp>
      <p:sp>
        <p:nvSpPr>
          <p:cNvPr id="29" name="椭圆 28"/>
          <p:cNvSpPr/>
          <p:nvPr/>
        </p:nvSpPr>
        <p:spPr>
          <a:xfrm>
            <a:off x="5451475" y="806450"/>
            <a:ext cx="487680" cy="487680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5611580" y="806313"/>
            <a:ext cx="606425" cy="4603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2400" b="1" dirty="0">
                <a:solidFill>
                  <a:srgbClr val="9A3227"/>
                </a:solidFill>
                <a:cs typeface="+mn-ea"/>
              </a:rPr>
              <a:t>01.</a:t>
            </a:r>
          </a:p>
        </p:txBody>
      </p:sp>
      <p:sp>
        <p:nvSpPr>
          <p:cNvPr id="35" name="椭圆 34"/>
          <p:cNvSpPr/>
          <p:nvPr/>
        </p:nvSpPr>
        <p:spPr>
          <a:xfrm>
            <a:off x="7129145" y="3630295"/>
            <a:ext cx="487680" cy="487680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7289250" y="3630158"/>
            <a:ext cx="606425" cy="4603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2400" b="1" dirty="0">
                <a:solidFill>
                  <a:srgbClr val="9A3227"/>
                </a:solidFill>
                <a:cs typeface="+mn-ea"/>
              </a:rPr>
              <a:t>03.</a:t>
            </a:r>
          </a:p>
        </p:txBody>
      </p:sp>
      <p:sp>
        <p:nvSpPr>
          <p:cNvPr id="37" name="矩形 36"/>
          <p:cNvSpPr/>
          <p:nvPr/>
        </p:nvSpPr>
        <p:spPr>
          <a:xfrm>
            <a:off x="7902548" y="3640953"/>
            <a:ext cx="2320925" cy="4603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落地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7949543" y="4058945"/>
            <a:ext cx="3534307" cy="283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5000"/>
              </a:lnSpc>
            </a:pPr>
            <a:r>
              <a:rPr lang="en-US" altLang="zh-CN" sz="1000" b="1" dirty="0">
                <a:solidFill>
                  <a:srgbClr val="9A3227"/>
                </a:solidFill>
                <a:latin typeface="Source Han Sans CN Bold" panose="020B0800000000000000" charset="-122"/>
                <a:ea typeface="Source Han Sans CN Bold" panose="020B0800000000000000" charset="-122"/>
                <a:cs typeface="+mn-ea"/>
              </a:rPr>
              <a:t>从手动维护到自动同步</a:t>
            </a:r>
            <a:r>
              <a:rPr lang="en-US" altLang="zh-CN" sz="1000" dirty="0">
                <a:solidFill>
                  <a:srgbClr val="9A3227"/>
                </a:solidFill>
                <a:latin typeface="Century Gothic" panose="020B0502020202020204" pitchFamily="34" charset="0"/>
                <a:cs typeface="+mn-ea"/>
              </a:rPr>
              <a:t/>
            </a:r>
          </a:p>
        </p:txBody>
      </p:sp>
      <p:sp>
        <p:nvSpPr>
          <p:cNvPr id="48" name="椭圆 47"/>
          <p:cNvSpPr/>
          <p:nvPr/>
        </p:nvSpPr>
        <p:spPr>
          <a:xfrm>
            <a:off x="8012430" y="5039360"/>
            <a:ext cx="487680" cy="487680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8172535" y="5039223"/>
            <a:ext cx="606425" cy="4603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2400" b="1" dirty="0">
                <a:solidFill>
                  <a:srgbClr val="9A3227"/>
                </a:solidFill>
                <a:cs typeface="+mn-ea"/>
              </a:rPr>
              <a:t>04.</a:t>
            </a:r>
          </a:p>
        </p:txBody>
      </p:sp>
      <p:sp>
        <p:nvSpPr>
          <p:cNvPr id="50" name="矩形 49"/>
          <p:cNvSpPr/>
          <p:nvPr/>
        </p:nvSpPr>
        <p:spPr>
          <a:xfrm>
            <a:off x="8749003" y="5050018"/>
            <a:ext cx="2320925" cy="4603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复盘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8777583" y="5468010"/>
            <a:ext cx="3534307" cy="283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5000"/>
              </a:lnSpc>
            </a:pPr>
            <a:r>
              <a:rPr lang="en-US" altLang="zh-CN" sz="1000" b="1" dirty="0">
                <a:solidFill>
                  <a:srgbClr val="9A3227"/>
                </a:solidFill>
                <a:latin typeface="Source Han Sans CN Bold" panose="020B0800000000000000" charset="-122"/>
                <a:ea typeface="Source Han Sans CN Bold" panose="020B0800000000000000" charset="-122"/>
                <a:cs typeface="+mn-ea"/>
              </a:rPr>
              <a:t>三个月用下来的取舍</a:t>
            </a:r>
            <a:r>
              <a:rPr lang="en-US" altLang="zh-CN" sz="1000" dirty="0">
                <a:solidFill>
                  <a:srgbClr val="9A3227"/>
                </a:solidFill>
                <a:latin typeface="Century Gothic" panose="020B0502020202020204" pitchFamily="34" charset="0"/>
                <a:cs typeface="+mn-ea"/>
              </a:rPr>
              <a:t/>
            </a:r>
          </a:p>
        </p:txBody>
      </p:sp>
      <p:pic>
        <p:nvPicPr>
          <p:cNvPr id="2" name="图片 1" descr="厦大校徽-白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8930" y="6092190"/>
            <a:ext cx="1409065" cy="729615"/>
          </a:xfrm>
          <a:prstGeom prst="rect">
            <a:avLst/>
          </a:prstGeom>
        </p:spPr>
      </p:pic>
      <p:pic>
        <p:nvPicPr>
          <p:cNvPr id="3" name="图片 2" descr="厦大白标"/>
          <p:cNvPicPr>
            <a:picLocks noChangeAspect="1"/>
          </p:cNvPicPr>
          <p:nvPr/>
        </p:nvPicPr>
        <p:blipFill>
          <a:blip r:embed="rId4"/>
          <a:srcRect l="7917" t="27888" r="6660" b="36383"/>
          <a:stretch>
            <a:fillRect/>
          </a:stretch>
        </p:blipFill>
        <p:spPr>
          <a:xfrm>
            <a:off x="705485" y="6268720"/>
            <a:ext cx="1350645" cy="376555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542832" y="2624731"/>
            <a:ext cx="6739392" cy="18611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11500" b="1" dirty="0">
                <a:solidFill>
                  <a:schemeClr val="bg1">
                    <a:alpha val="83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目录</a:t>
            </a:r>
          </a:p>
        </p:txBody>
      </p:sp>
    </p:spTree>
  </p:cSld>
  <p:clrMapOvr>
    <a:masterClrMapping/>
  </p:clrMapOvr>
  <p:transition p14:dur="500">
    <p:fade/>
  </p:transition>
</p:sld>
</file>

<file path=ppt/slides/slide14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0c8d15b2f7bb1288dfe1bb9c9e6e"/>
          <p:cNvPicPr>
            <a:picLocks noChangeAspect="1"/>
          </p:cNvPicPr>
          <p:nvPr/>
        </p:nvPicPr>
        <p:blipFill>
          <a:blip r:embed="rId2"/>
          <a:srcRect t="7711" b="7727"/>
          <a:stretch>
            <a:fillRect/>
          </a:stretch>
        </p:blipFill>
        <p:spPr>
          <a:xfrm>
            <a:off x="-35560" y="-15240"/>
            <a:ext cx="12243435" cy="687324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-29210"/>
            <a:ext cx="12231370" cy="6911975"/>
          </a:xfrm>
          <a:prstGeom prst="rect">
            <a:avLst/>
          </a:prstGeom>
          <a:solidFill>
            <a:schemeClr val="accent1">
              <a:lumMod val="60000"/>
              <a:lumOff val="40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-582930" y="2113280"/>
            <a:ext cx="12775565" cy="2653030"/>
          </a:xfrm>
          <a:prstGeom prst="rect">
            <a:avLst/>
          </a:prstGeom>
          <a:solidFill>
            <a:srgbClr val="2E3D3A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769620" y="1539875"/>
            <a:ext cx="4161790" cy="4161790"/>
          </a:xfrm>
          <a:prstGeom prst="ellipse">
            <a:avLst/>
          </a:prstGeom>
          <a:solidFill>
            <a:schemeClr val="bg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0c8d11bb9c9e6e"/>
          <p:cNvPicPr>
            <a:picLocks noChangeAspect="1"/>
          </p:cNvPicPr>
          <p:nvPr/>
        </p:nvPicPr>
        <p:blipFill>
          <a:blip r:embed="rId3"/>
          <a:srcRect l="14823" t="22528" r="53491" b="29943"/>
          <a:stretch>
            <a:fillRect/>
          </a:stretch>
        </p:blipFill>
        <p:spPr>
          <a:xfrm>
            <a:off x="488950" y="1318895"/>
            <a:ext cx="4688840" cy="468884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436343" y="2514463"/>
            <a:ext cx="2931795" cy="4603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400" b="1" dirty="0">
                <a:solidFill>
                  <a:srgbClr val="49564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第一部分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1455420" y="3151505"/>
            <a:ext cx="2932430" cy="152471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900" b="0" i="0" dirty="0">
                <a:solidFill>
                  <a:srgbClr val="333333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状态散落在邮件、微信与一张 Excel 里。谁在审、审到哪一步，只有通讯作者知道。</a:t>
            </a:r>
            <a:endParaRPr lang="en-US" altLang="zh-CN" sz="900" b="0" i="0" dirty="0">
              <a:solidFill>
                <a:srgbClr val="333333"/>
              </a:solidFill>
              <a:effectLst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  <a:sym typeface="+mn-ea"/>
              </a:rPr>
              <a:t/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5579652" y="2681246"/>
            <a:ext cx="6739392" cy="15684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9600" b="1" dirty="0">
                <a:solidFill>
                  <a:schemeClr val="bg1">
                    <a:alpha val="83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问题</a:t>
            </a:r>
          </a:p>
        </p:txBody>
      </p:sp>
    </p:spTree>
  </p:cSld>
  <p:clrMapOvr>
    <a:masterClrMapping/>
  </p:clrMapOvr>
  <p:transition p14:dur="500">
    <p:fade/>
  </p:transition>
</p:sld>
</file>

<file path=ppt/slides/slide15.xml><?xml version="1.0" encoding="utf-8"?>
<p:sld xmlns:a="http://schemas.openxmlformats.org/drawingml/2006/main" xmlns:ns3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45085" y="-95250"/>
            <a:ext cx="12276455" cy="6978015"/>
          </a:xfrm>
          <a:prstGeom prst="rect">
            <a:avLst/>
          </a:prstGeom>
          <a:solidFill>
            <a:schemeClr val="accent1">
              <a:lumMod val="60000"/>
              <a:lumOff val="40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4" name="图片 43" descr="厦大白标"/>
          <p:cNvPicPr>
            <a:picLocks noChangeAspect="1"/>
          </p:cNvPicPr>
          <p:nvPr/>
        </p:nvPicPr>
        <p:blipFill>
          <a:blip r:embed="rId2"/>
          <a:srcRect l="7917" t="27888" r="6660" b="36383"/>
          <a:stretch>
            <a:fillRect/>
          </a:stretch>
        </p:blipFill>
        <p:spPr>
          <a:xfrm>
            <a:off x="10750550" y="6349365"/>
            <a:ext cx="1350645" cy="376555"/>
          </a:xfrm>
          <a:prstGeom prst="rect">
            <a:avLst/>
          </a:prstGeom>
        </p:spPr>
      </p:pic>
      <p:pic>
        <p:nvPicPr>
          <p:cNvPr id="90" name="图片 89" descr="厦大校徽-白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2165" y="6205220"/>
            <a:ext cx="1409065" cy="729615"/>
          </a:xfrm>
          <a:prstGeom prst="rect">
            <a:avLst/>
          </a:prstGeom>
        </p:spPr>
      </p:pic>
      <p:pic>
        <p:nvPicPr>
          <p:cNvPr id="7" name="图片 6" descr="973a07409efda808c63554f1ddf220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05" y="455930"/>
            <a:ext cx="3968750" cy="5946775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88" name="流程图: 可选过程 87"/>
          <p:cNvSpPr/>
          <p:nvPr/>
        </p:nvSpPr>
        <p:spPr>
          <a:xfrm>
            <a:off x="6732270" y="391795"/>
            <a:ext cx="4219575" cy="709295"/>
          </a:xfrm>
          <a:prstGeom prst="flowChartAlternateProcess">
            <a:avLst/>
          </a:prstGeom>
          <a:solidFill>
            <a:srgbClr val="2E3D3A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文本框 88"/>
          <p:cNvSpPr txBox="1"/>
          <p:nvPr/>
        </p:nvSpPr>
        <p:spPr>
          <a:xfrm>
            <a:off x="7306217" y="456206"/>
            <a:ext cx="6739392" cy="6451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四个信息孤岛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5568315" y="1401445"/>
            <a:ext cx="623824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5568315" y="1701800"/>
            <a:ext cx="6245225" cy="4496435"/>
          </a:xfrm>
          <a:prstGeom prst="rect">
            <a:avLst/>
          </a:prstGeom>
          <a:solidFill>
            <a:srgbClr val="2E3D3A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833745" y="2413000"/>
            <a:ext cx="5714365" cy="161582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200" b="0" i="0" dirty="0">
                <a:solidFill>
                  <a:schemeClr val="bg1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投稿记录在作者邮箱，初审记录在投稿系统，外审记录在审稿人邮件，最终决定记录在主编通知。四段信息互不相通，想知道进度只能挨个问人。</a:t>
            </a:r>
            <a:endParaRPr lang="en-US" altLang="zh-CN" sz="1200" b="0" i="0" dirty="0">
              <a:solidFill>
                <a:schemeClr val="bg1"/>
              </a:solidFill>
              <a:effectLst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 dirty="0"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  <a:sym typeface="+mn-ea"/>
              </a:rPr>
              <a:t/>
            </a:r>
          </a:p>
          <a:p>
            <a:pPr algn="l"/>
            <a:endParaRPr lang="en-US" altLang="zh-CN" sz="900" b="1" dirty="0">
              <a:solidFill>
                <a:schemeClr val="bg1"/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  <a:sym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ns3:creationId id="{86FA9F9C-C971-450E-80BC-D258B6DB9096}"/>
              </a:ext>
            </a:extLst>
          </p:cNvPr>
          <p:cNvSpPr txBox="1"/>
          <p:nvPr/>
        </p:nvSpPr>
        <p:spPr>
          <a:xfrm>
            <a:off x="5833745" y="3950017"/>
            <a:ext cx="5714365" cy="161582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200" b="0" i="0" dirty="0">
                <a:solidFill>
                  <a:schemeClr val="bg1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而每个人记住的版本都不一样：代理人记得已经投了，通讯作者记得还在改，导师记得还没投。核对一次要花半天。</a:t>
            </a:r>
            <a:endParaRPr lang="en-US" altLang="zh-CN" sz="1200" b="0" i="0" dirty="0">
              <a:solidFill>
                <a:schemeClr val="bg1"/>
              </a:solidFill>
              <a:effectLst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 dirty="0"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  <a:sym typeface="+mn-ea"/>
              </a:rPr>
              <a:t/>
            </a:r>
          </a:p>
          <a:p>
            <a:pPr algn="l"/>
            <a:endParaRPr lang="en-US" altLang="zh-CN" sz="900" b="1" dirty="0">
              <a:solidFill>
                <a:schemeClr val="bg1"/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  <a:sym typeface="+mn-ea"/>
            </a:endParaRPr>
          </a:p>
        </p:txBody>
      </p:sp>
    </p:spTree>
  </p:cSld>
  <p:clrMapOvr>
    <a:masterClrMapping/>
  </p:clrMapOvr>
  <p:transition p14:dur="500">
    <p:fade/>
  </p:transition>
</p:sld>
</file>

<file path=ppt/slides/slide16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0c8d15b2f7bb1288dfe1bb9c9e6e"/>
          <p:cNvPicPr>
            <a:picLocks noChangeAspect="1"/>
          </p:cNvPicPr>
          <p:nvPr/>
        </p:nvPicPr>
        <p:blipFill>
          <a:blip r:embed="rId2"/>
          <a:srcRect t="7711" b="7727"/>
          <a:stretch>
            <a:fillRect/>
          </a:stretch>
        </p:blipFill>
        <p:spPr>
          <a:xfrm>
            <a:off x="-35560" y="-15240"/>
            <a:ext cx="12243435" cy="687324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-29210"/>
            <a:ext cx="12231370" cy="6911975"/>
          </a:xfrm>
          <a:prstGeom prst="rect">
            <a:avLst/>
          </a:prstGeom>
          <a:solidFill>
            <a:schemeClr val="accent1">
              <a:lumMod val="60000"/>
              <a:lumOff val="40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-582930" y="2113280"/>
            <a:ext cx="12775565" cy="2653030"/>
          </a:xfrm>
          <a:prstGeom prst="rect">
            <a:avLst/>
          </a:prstGeom>
          <a:solidFill>
            <a:srgbClr val="2E3D3A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769620" y="1539875"/>
            <a:ext cx="4161790" cy="4161790"/>
          </a:xfrm>
          <a:prstGeom prst="ellipse">
            <a:avLst/>
          </a:prstGeom>
          <a:solidFill>
            <a:schemeClr val="bg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0c8d11bb9c9e6e"/>
          <p:cNvPicPr>
            <a:picLocks noChangeAspect="1"/>
          </p:cNvPicPr>
          <p:nvPr/>
        </p:nvPicPr>
        <p:blipFill>
          <a:blip r:embed="rId3"/>
          <a:srcRect l="14823" t="22528" r="53491" b="29943"/>
          <a:stretch>
            <a:fillRect/>
          </a:stretch>
        </p:blipFill>
        <p:spPr>
          <a:xfrm>
            <a:off x="488950" y="1318895"/>
            <a:ext cx="4688840" cy="468884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436343" y="2514463"/>
            <a:ext cx="2931795" cy="4603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400" b="1" dirty="0">
                <a:solidFill>
                  <a:srgbClr val="49564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第二部分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1455420" y="3151505"/>
            <a:ext cx="2932430" cy="152471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900" b="0" i="0" dirty="0">
                <a:solidFill>
                  <a:srgbClr val="333333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把投稿过程建模成有限状态机，落到一块所有成员都能看见的看板上。</a:t>
            </a:r>
            <a:endParaRPr lang="en-US" altLang="zh-CN" sz="900" b="0" i="0" dirty="0">
              <a:solidFill>
                <a:srgbClr val="333333"/>
              </a:solidFill>
              <a:effectLst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  <a:sym typeface="+mn-ea"/>
              </a:rPr>
              <a:t/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5579652" y="2681246"/>
            <a:ext cx="6739392" cy="15684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9600" b="1" dirty="0">
                <a:solidFill>
                  <a:schemeClr val="bg1">
                    <a:alpha val="83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方案</a:t>
            </a:r>
          </a:p>
        </p:txBody>
      </p:sp>
    </p:spTree>
  </p:cSld>
  <p:clrMapOvr>
    <a:masterClrMapping/>
  </p:clrMapOvr>
  <p:transition p14:dur="500">
    <p:fade/>
  </p:transition>
</p:sld>
</file>

<file path=ppt/slides/slide17.xml><?xml version="1.0" encoding="utf-8"?>
<p:sld xmlns:a="http://schemas.openxmlformats.org/drawingml/2006/main" xmlns:asvg="http://schemas.microsoft.com/office/drawing/2016/SVG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图片 84" descr="0c8d15b2f7fae5bb188dfe1bb9c9e6e"/>
          <p:cNvPicPr>
            <a:picLocks noChangeAspect="1"/>
          </p:cNvPicPr>
          <p:nvPr/>
        </p:nvPicPr>
        <p:blipFill>
          <a:blip r:embed="rId2"/>
          <a:srcRect b="14692"/>
          <a:stretch>
            <a:fillRect/>
          </a:stretch>
        </p:blipFill>
        <p:spPr>
          <a:xfrm>
            <a:off x="-53340" y="-95885"/>
            <a:ext cx="12298680" cy="699452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-45085" y="-95250"/>
            <a:ext cx="12276455" cy="6978015"/>
          </a:xfrm>
          <a:prstGeom prst="rect">
            <a:avLst/>
          </a:prstGeom>
          <a:solidFill>
            <a:schemeClr val="accent1">
              <a:lumMod val="60000"/>
              <a:lumOff val="40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/>
          <p:cNvSpPr/>
          <p:nvPr/>
        </p:nvSpPr>
        <p:spPr>
          <a:xfrm>
            <a:off x="-45085" y="1929130"/>
            <a:ext cx="12237085" cy="3991610"/>
          </a:xfrm>
          <a:prstGeom prst="rect">
            <a:avLst/>
          </a:prstGeom>
          <a:solidFill>
            <a:srgbClr val="2E3D3A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170180" y="1621155"/>
            <a:ext cx="1379855" cy="1379855"/>
          </a:xfrm>
          <a:prstGeom prst="ellipse">
            <a:avLst/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297180" y="1748155"/>
            <a:ext cx="1379855" cy="1379855"/>
          </a:xfrm>
          <a:prstGeom prst="ellipse">
            <a:avLst/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1136650" y="2741295"/>
            <a:ext cx="623570" cy="623570"/>
          </a:xfrm>
          <a:prstGeom prst="ellipse">
            <a:avLst/>
          </a:prstGeom>
          <a:solidFill>
            <a:srgbClr val="2E3D3A">
              <a:alpha val="37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 descr="2028799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>
            <a:off x="497840" y="1929130"/>
            <a:ext cx="812165" cy="812165"/>
          </a:xfrm>
          <a:prstGeom prst="rect">
            <a:avLst/>
          </a:prstGeom>
        </p:spPr>
      </p:pic>
      <p:sp>
        <p:nvSpPr>
          <p:cNvPr id="35" name="椭圆 34"/>
          <p:cNvSpPr/>
          <p:nvPr/>
        </p:nvSpPr>
        <p:spPr>
          <a:xfrm>
            <a:off x="2209800" y="4698365"/>
            <a:ext cx="1379855" cy="1379855"/>
          </a:xfrm>
          <a:prstGeom prst="ellipse">
            <a:avLst/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椭圆 35"/>
          <p:cNvSpPr/>
          <p:nvPr/>
        </p:nvSpPr>
        <p:spPr>
          <a:xfrm>
            <a:off x="2336800" y="4825365"/>
            <a:ext cx="1379855" cy="1379855"/>
          </a:xfrm>
          <a:prstGeom prst="ellipse">
            <a:avLst/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3251835" y="5708650"/>
            <a:ext cx="623570" cy="623570"/>
          </a:xfrm>
          <a:prstGeom prst="ellipse">
            <a:avLst/>
          </a:prstGeom>
          <a:solidFill>
            <a:srgbClr val="2E3D3A">
              <a:alpha val="37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/>
          <p:cNvSpPr/>
          <p:nvPr/>
        </p:nvSpPr>
        <p:spPr>
          <a:xfrm>
            <a:off x="5085080" y="2744470"/>
            <a:ext cx="623570" cy="623570"/>
          </a:xfrm>
          <a:prstGeom prst="ellipse">
            <a:avLst/>
          </a:prstGeom>
          <a:solidFill>
            <a:srgbClr val="2E3D3A">
              <a:alpha val="37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/>
          <p:cNvSpPr/>
          <p:nvPr/>
        </p:nvSpPr>
        <p:spPr>
          <a:xfrm>
            <a:off x="7165975" y="4698365"/>
            <a:ext cx="1379855" cy="1379855"/>
          </a:xfrm>
          <a:prstGeom prst="ellipse">
            <a:avLst/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/>
          <p:cNvSpPr/>
          <p:nvPr/>
        </p:nvSpPr>
        <p:spPr>
          <a:xfrm>
            <a:off x="7292975" y="4825365"/>
            <a:ext cx="1379855" cy="1379855"/>
          </a:xfrm>
          <a:prstGeom prst="ellipse">
            <a:avLst/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椭圆 50"/>
          <p:cNvSpPr/>
          <p:nvPr/>
        </p:nvSpPr>
        <p:spPr>
          <a:xfrm>
            <a:off x="8251825" y="5581650"/>
            <a:ext cx="623570" cy="623570"/>
          </a:xfrm>
          <a:prstGeom prst="ellipse">
            <a:avLst/>
          </a:prstGeom>
          <a:solidFill>
            <a:srgbClr val="2E3D3A">
              <a:alpha val="37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/>
          <p:cNvSpPr/>
          <p:nvPr/>
        </p:nvSpPr>
        <p:spPr>
          <a:xfrm>
            <a:off x="8362315" y="1621155"/>
            <a:ext cx="1379855" cy="1379855"/>
          </a:xfrm>
          <a:prstGeom prst="ellipse">
            <a:avLst/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椭圆 52"/>
          <p:cNvSpPr/>
          <p:nvPr/>
        </p:nvSpPr>
        <p:spPr>
          <a:xfrm>
            <a:off x="8489315" y="1748155"/>
            <a:ext cx="1379855" cy="1379855"/>
          </a:xfrm>
          <a:prstGeom prst="ellipse">
            <a:avLst/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椭圆 53"/>
          <p:cNvSpPr/>
          <p:nvPr/>
        </p:nvSpPr>
        <p:spPr>
          <a:xfrm>
            <a:off x="9293860" y="2713355"/>
            <a:ext cx="623570" cy="623570"/>
          </a:xfrm>
          <a:prstGeom prst="ellipse">
            <a:avLst/>
          </a:prstGeom>
          <a:solidFill>
            <a:srgbClr val="2E3D3A">
              <a:alpha val="37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5" name="图片 54" descr="20288311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2488565" y="4952365"/>
            <a:ext cx="914400" cy="914400"/>
          </a:xfrm>
          <a:prstGeom prst="rect">
            <a:avLst/>
          </a:prstGeom>
        </p:spPr>
      </p:pic>
      <p:pic>
        <p:nvPicPr>
          <p:cNvPr id="56" name="图片 55" descr="20288324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>
            <a:off x="8753475" y="1946910"/>
            <a:ext cx="776605" cy="776605"/>
          </a:xfrm>
          <a:prstGeom prst="rect">
            <a:avLst/>
          </a:prstGeom>
        </p:spPr>
      </p:pic>
      <p:pic>
        <p:nvPicPr>
          <p:cNvPr id="57" name="图片 56" descr="20288321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r:embed="rId10"/>
              </a:ext>
            </a:extLst>
          </a:blip>
          <a:stretch>
            <a:fillRect/>
          </a:stretch>
        </p:blipFill>
        <p:spPr>
          <a:xfrm>
            <a:off x="7526020" y="5025390"/>
            <a:ext cx="799465" cy="799465"/>
          </a:xfrm>
          <a:prstGeom prst="rect">
            <a:avLst/>
          </a:prstGeom>
        </p:spPr>
      </p:pic>
      <p:sp>
        <p:nvSpPr>
          <p:cNvPr id="59" name="矩形 58"/>
          <p:cNvSpPr/>
          <p:nvPr/>
        </p:nvSpPr>
        <p:spPr>
          <a:xfrm>
            <a:off x="1200235" y="2822438"/>
            <a:ext cx="521970" cy="4603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cs typeface="+mn-ea"/>
              </a:rPr>
              <a:t>01</a:t>
            </a:r>
            <a:endParaRPr lang="en-US" altLang="zh-CN" sz="2400" b="1" dirty="0">
              <a:solidFill>
                <a:srgbClr val="9A3227"/>
              </a:solidFill>
              <a:cs typeface="+mn-ea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3321770" y="5776458"/>
            <a:ext cx="521970" cy="4603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cs typeface="+mn-ea"/>
              </a:rPr>
              <a:t>02</a:t>
            </a:r>
            <a:endParaRPr lang="en-US" altLang="zh-CN" sz="2400" b="1" dirty="0">
              <a:solidFill>
                <a:srgbClr val="9A3227"/>
              </a:solidFill>
              <a:cs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5140410" y="2825613"/>
            <a:ext cx="521970" cy="4603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cs typeface="+mn-ea"/>
              </a:rPr>
              <a:t>03</a:t>
            </a:r>
            <a:endParaRPr lang="en-US" altLang="zh-CN" sz="2400" b="1" dirty="0">
              <a:solidFill>
                <a:srgbClr val="9A3227"/>
              </a:solidFill>
              <a:cs typeface="+mn-ea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8302710" y="5649458"/>
            <a:ext cx="521970" cy="4603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cs typeface="+mn-ea"/>
              </a:rPr>
              <a:t>04</a:t>
            </a:r>
            <a:endParaRPr lang="en-US" altLang="zh-CN" sz="2400" b="1" dirty="0">
              <a:solidFill>
                <a:srgbClr val="9A3227"/>
              </a:solidFill>
              <a:cs typeface="+mn-ea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9340935" y="2794498"/>
            <a:ext cx="521970" cy="4603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cs typeface="+mn-ea"/>
              </a:rPr>
              <a:t>05</a:t>
            </a:r>
            <a:endParaRPr lang="en-US" altLang="zh-CN" sz="2400" b="1" dirty="0">
              <a:solidFill>
                <a:srgbClr val="9A3227"/>
              </a:solidFill>
              <a:cs typeface="+mn-ea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1574138" y="1978523"/>
            <a:ext cx="2320925" cy="4603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状态机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1601470" y="2378710"/>
            <a:ext cx="2188845" cy="47561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5000"/>
              </a:lnSpc>
            </a:pPr>
            <a:r>
              <a:rPr lang="en-US" altLang="zh-CN" sz="1000" b="1" dirty="0"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+mn-ea"/>
              </a:rPr>
              <a:t>六个状态，十条转移</a:t>
            </a:r>
            <a:r>
              <a:rPr lang="en-US" altLang="zh-CN" sz="1000" dirty="0">
                <a:solidFill>
                  <a:schemeClr val="bg1"/>
                </a:solidFill>
                <a:latin typeface="Century Gothic" panose="020B0502020202020204" pitchFamily="34" charset="0"/>
                <a:cs typeface="+mn-ea"/>
              </a:rPr>
              <a:t/>
            </a:r>
          </a:p>
        </p:txBody>
      </p:sp>
      <p:sp>
        <p:nvSpPr>
          <p:cNvPr id="66" name="矩形 65"/>
          <p:cNvSpPr/>
          <p:nvPr/>
        </p:nvSpPr>
        <p:spPr>
          <a:xfrm>
            <a:off x="3748378" y="5044303"/>
            <a:ext cx="2320925" cy="4603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单一数据源</a:t>
            </a:r>
          </a:p>
        </p:txBody>
      </p:sp>
      <p:sp>
        <p:nvSpPr>
          <p:cNvPr id="67" name="文本框 66"/>
          <p:cNvSpPr txBox="1"/>
          <p:nvPr/>
        </p:nvSpPr>
        <p:spPr>
          <a:xfrm>
            <a:off x="3775710" y="5444490"/>
            <a:ext cx="2188845" cy="47561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5000"/>
              </a:lnSpc>
            </a:pPr>
            <a:r>
              <a:rPr lang="en-US" altLang="zh-CN" sz="1000" b="1" dirty="0"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+mn-ea"/>
              </a:rPr>
              <a:t>一张主表撑起全部视图</a:t>
            </a:r>
            <a:r>
              <a:rPr lang="en-US" altLang="zh-CN" sz="1000" dirty="0">
                <a:solidFill>
                  <a:schemeClr val="bg1"/>
                </a:solidFill>
                <a:latin typeface="Century Gothic" panose="020B0502020202020204" pitchFamily="34" charset="0"/>
                <a:cs typeface="+mn-ea"/>
              </a:rPr>
              <a:t/>
            </a:r>
          </a:p>
        </p:txBody>
      </p:sp>
      <p:sp>
        <p:nvSpPr>
          <p:cNvPr id="68" name="矩形 67"/>
          <p:cNvSpPr/>
          <p:nvPr/>
        </p:nvSpPr>
        <p:spPr>
          <a:xfrm>
            <a:off x="5624803" y="1997573"/>
            <a:ext cx="2320925" cy="4603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权限分层</a:t>
            </a:r>
          </a:p>
        </p:txBody>
      </p:sp>
      <p:sp>
        <p:nvSpPr>
          <p:cNvPr id="69" name="文本框 68"/>
          <p:cNvSpPr txBox="1"/>
          <p:nvPr/>
        </p:nvSpPr>
        <p:spPr>
          <a:xfrm>
            <a:off x="5652135" y="2397760"/>
            <a:ext cx="2188845" cy="47561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5000"/>
              </a:lnSpc>
            </a:pPr>
            <a:r>
              <a:rPr lang="en-US" altLang="zh-CN" sz="1000" b="1" dirty="0"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+mn-ea"/>
              </a:rPr>
              <a:t>组内可写，对外只读</a:t>
            </a:r>
            <a:r>
              <a:rPr lang="en-US" altLang="zh-CN" sz="1000" dirty="0">
                <a:solidFill>
                  <a:schemeClr val="bg1"/>
                </a:solidFill>
                <a:latin typeface="Century Gothic" panose="020B0502020202020204" pitchFamily="34" charset="0"/>
                <a:cs typeface="+mn-ea"/>
              </a:rPr>
              <a:t/>
            </a:r>
          </a:p>
        </p:txBody>
      </p:sp>
      <p:sp>
        <p:nvSpPr>
          <p:cNvPr id="70" name="矩形 69"/>
          <p:cNvSpPr/>
          <p:nvPr/>
        </p:nvSpPr>
        <p:spPr>
          <a:xfrm>
            <a:off x="8790278" y="5044303"/>
            <a:ext cx="2320925" cy="4603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事件留痕</a:t>
            </a:r>
          </a:p>
        </p:txBody>
      </p:sp>
      <p:sp>
        <p:nvSpPr>
          <p:cNvPr id="71" name="文本框 70"/>
          <p:cNvSpPr txBox="1"/>
          <p:nvPr/>
        </p:nvSpPr>
        <p:spPr>
          <a:xfrm>
            <a:off x="8817610" y="5444490"/>
            <a:ext cx="2188845" cy="47561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5000"/>
              </a:lnSpc>
            </a:pPr>
            <a:r>
              <a:rPr lang="en-US" altLang="zh-CN" sz="1000" b="1" dirty="0"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+mn-ea"/>
              </a:rPr>
              <a:t>每次变更追加一条</a:t>
            </a:r>
            <a:r>
              <a:rPr lang="en-US" altLang="zh-CN" sz="1000" dirty="0">
                <a:solidFill>
                  <a:schemeClr val="bg1"/>
                </a:solidFill>
                <a:latin typeface="Century Gothic" panose="020B0502020202020204" pitchFamily="34" charset="0"/>
                <a:cs typeface="+mn-ea"/>
              </a:rPr>
              <a:t/>
            </a:r>
          </a:p>
        </p:txBody>
      </p:sp>
      <p:sp>
        <p:nvSpPr>
          <p:cNvPr id="72" name="矩形 71"/>
          <p:cNvSpPr/>
          <p:nvPr/>
        </p:nvSpPr>
        <p:spPr>
          <a:xfrm>
            <a:off x="9766273" y="1992493"/>
            <a:ext cx="2320925" cy="4603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逾期预警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9793605" y="2392680"/>
            <a:ext cx="2188845" cy="47561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5000"/>
              </a:lnSpc>
            </a:pPr>
            <a:r>
              <a:rPr lang="en-US" altLang="zh-CN" sz="1000" b="1" dirty="0"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+mn-ea"/>
              </a:rPr>
              <a:t>超期自动标红</a:t>
            </a:r>
            <a:r>
              <a:rPr lang="en-US" altLang="zh-CN" sz="1000" dirty="0">
                <a:solidFill>
                  <a:schemeClr val="bg1"/>
                </a:solidFill>
                <a:latin typeface="Century Gothic" panose="020B0502020202020204" pitchFamily="34" charset="0"/>
                <a:cs typeface="+mn-ea"/>
              </a:rPr>
              <a:t/>
            </a:r>
          </a:p>
        </p:txBody>
      </p:sp>
      <p:sp>
        <p:nvSpPr>
          <p:cNvPr id="74" name="椭圆 73"/>
          <p:cNvSpPr/>
          <p:nvPr/>
        </p:nvSpPr>
        <p:spPr>
          <a:xfrm>
            <a:off x="4243070" y="1621155"/>
            <a:ext cx="1379855" cy="1379855"/>
          </a:xfrm>
          <a:prstGeom prst="ellipse">
            <a:avLst/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椭圆 74"/>
          <p:cNvSpPr/>
          <p:nvPr/>
        </p:nvSpPr>
        <p:spPr>
          <a:xfrm>
            <a:off x="4370070" y="1748155"/>
            <a:ext cx="1379855" cy="1379855"/>
          </a:xfrm>
          <a:prstGeom prst="ellipse">
            <a:avLst/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8" name="图片 57" descr="20288316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r:embed="rId12"/>
              </a:ext>
            </a:extLst>
          </a:blip>
          <a:stretch>
            <a:fillRect/>
          </a:stretch>
        </p:blipFill>
        <p:spPr>
          <a:xfrm>
            <a:off x="4589145" y="1932305"/>
            <a:ext cx="812165" cy="812165"/>
          </a:xfrm>
          <a:prstGeom prst="rect">
            <a:avLst/>
          </a:prstGeom>
        </p:spPr>
      </p:pic>
      <p:cxnSp>
        <p:nvCxnSpPr>
          <p:cNvPr id="78" name="直接连接符 77"/>
          <p:cNvCxnSpPr/>
          <p:nvPr/>
        </p:nvCxnSpPr>
        <p:spPr>
          <a:xfrm flipH="1">
            <a:off x="3617595" y="3335655"/>
            <a:ext cx="819785" cy="1300480"/>
          </a:xfrm>
          <a:prstGeom prst="line">
            <a:avLst/>
          </a:prstGeom>
          <a:ln w="120650" cmpd="sng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>
            <a:off x="1381125" y="3566795"/>
            <a:ext cx="694690" cy="1033145"/>
          </a:xfrm>
          <a:prstGeom prst="line">
            <a:avLst/>
          </a:prstGeom>
          <a:ln w="120650" cmpd="sng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/>
        </p:nvCxnSpPr>
        <p:spPr>
          <a:xfrm>
            <a:off x="6214745" y="3348990"/>
            <a:ext cx="823595" cy="1376045"/>
          </a:xfrm>
          <a:prstGeom prst="line">
            <a:avLst/>
          </a:prstGeom>
          <a:ln w="120650" cmpd="sng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 flipH="1">
            <a:off x="8362315" y="3308985"/>
            <a:ext cx="730250" cy="1389380"/>
          </a:xfrm>
          <a:prstGeom prst="line">
            <a:avLst/>
          </a:prstGeom>
          <a:ln w="120650" cmpd="sng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流程图: 可选过程 87"/>
          <p:cNvSpPr/>
          <p:nvPr/>
        </p:nvSpPr>
        <p:spPr>
          <a:xfrm>
            <a:off x="4178300" y="260985"/>
            <a:ext cx="4219575" cy="709295"/>
          </a:xfrm>
          <a:prstGeom prst="flowChartAlternateProcess">
            <a:avLst/>
          </a:prstGeom>
          <a:solidFill>
            <a:srgbClr val="2E3D3A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文本框 88"/>
          <p:cNvSpPr txBox="1"/>
          <p:nvPr/>
        </p:nvSpPr>
        <p:spPr>
          <a:xfrm>
            <a:off x="4714147" y="325396"/>
            <a:ext cx="6739392" cy="6451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五个设计决定</a:t>
            </a:r>
          </a:p>
        </p:txBody>
      </p:sp>
      <p:pic>
        <p:nvPicPr>
          <p:cNvPr id="90" name="图片 89" descr="厦大校徽-白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21215" y="6168390"/>
            <a:ext cx="1409065" cy="729615"/>
          </a:xfrm>
          <a:prstGeom prst="rect">
            <a:avLst/>
          </a:prstGeom>
        </p:spPr>
      </p:pic>
      <p:pic>
        <p:nvPicPr>
          <p:cNvPr id="91" name="图片 90" descr="厦大白标"/>
          <p:cNvPicPr>
            <a:picLocks noChangeAspect="1"/>
          </p:cNvPicPr>
          <p:nvPr/>
        </p:nvPicPr>
        <p:blipFill>
          <a:blip r:embed="rId14"/>
          <a:srcRect l="7917" t="27888" r="6660" b="36383"/>
          <a:stretch>
            <a:fillRect/>
          </a:stretch>
        </p:blipFill>
        <p:spPr>
          <a:xfrm>
            <a:off x="10750550" y="6349365"/>
            <a:ext cx="1350645" cy="376555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</p:sld>
</file>

<file path=ppt/slides/slide18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0c8d15b2f7bb1288dfe1bb9c9e6e"/>
          <p:cNvPicPr>
            <a:picLocks noChangeAspect="1"/>
          </p:cNvPicPr>
          <p:nvPr/>
        </p:nvPicPr>
        <p:blipFill>
          <a:blip r:embed="rId2"/>
          <a:srcRect t="7711" b="7727"/>
          <a:stretch>
            <a:fillRect/>
          </a:stretch>
        </p:blipFill>
        <p:spPr>
          <a:xfrm>
            <a:off x="-35560" y="-15240"/>
            <a:ext cx="12243435" cy="687324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-29210"/>
            <a:ext cx="12231370" cy="6911975"/>
          </a:xfrm>
          <a:prstGeom prst="rect">
            <a:avLst/>
          </a:prstGeom>
          <a:solidFill>
            <a:schemeClr val="accent1">
              <a:lumMod val="60000"/>
              <a:lumOff val="40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-582930" y="2113280"/>
            <a:ext cx="12775565" cy="2653030"/>
          </a:xfrm>
          <a:prstGeom prst="rect">
            <a:avLst/>
          </a:prstGeom>
          <a:solidFill>
            <a:srgbClr val="2E3D3A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769620" y="1539875"/>
            <a:ext cx="4161790" cy="4161790"/>
          </a:xfrm>
          <a:prstGeom prst="ellipse">
            <a:avLst/>
          </a:prstGeom>
          <a:solidFill>
            <a:schemeClr val="bg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0c8d11bb9c9e6e"/>
          <p:cNvPicPr>
            <a:picLocks noChangeAspect="1"/>
          </p:cNvPicPr>
          <p:nvPr/>
        </p:nvPicPr>
        <p:blipFill>
          <a:blip r:embed="rId3"/>
          <a:srcRect l="14823" t="22528" r="53491" b="29943"/>
          <a:stretch>
            <a:fillRect/>
          </a:stretch>
        </p:blipFill>
        <p:spPr>
          <a:xfrm>
            <a:off x="488950" y="1318895"/>
            <a:ext cx="4688840" cy="468884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436343" y="2514463"/>
            <a:ext cx="2931795" cy="4603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400" b="1" dirty="0">
                <a:solidFill>
                  <a:srgbClr val="49564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第三部分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1455420" y="3151505"/>
            <a:ext cx="2932430" cy="152471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900" b="0" i="0" dirty="0">
                <a:solidFill>
                  <a:srgbClr val="333333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部署在 Cloudflare 上，组内七个人用了三个月，替代了原来的 Excel。</a:t>
            </a:r>
            <a:endParaRPr lang="en-US" altLang="zh-CN" sz="900" b="0" i="0" dirty="0">
              <a:solidFill>
                <a:srgbClr val="333333"/>
              </a:solidFill>
              <a:effectLst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  <a:sym typeface="+mn-ea"/>
              </a:rPr>
              <a:t/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5579652" y="2681246"/>
            <a:ext cx="6739392" cy="15684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9600" b="1" dirty="0">
                <a:solidFill>
                  <a:schemeClr val="bg1">
                    <a:alpha val="83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落地</a:t>
            </a:r>
          </a:p>
        </p:txBody>
      </p:sp>
    </p:spTree>
  </p:cSld>
  <p:clrMapOvr>
    <a:masterClrMapping/>
  </p:clrMapOvr>
  <p:transition p14:dur="500">
    <p:fade/>
  </p:transition>
</p:sld>
</file>

<file path=ppt/slides/slide19.xml><?xml version="1.0" encoding="utf-8"?>
<p:sld xmlns:a="http://schemas.openxmlformats.org/drawingml/2006/main" xmlns:ns3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45085" y="-95250"/>
            <a:ext cx="12276455" cy="6978015"/>
          </a:xfrm>
          <a:prstGeom prst="rect">
            <a:avLst/>
          </a:prstGeom>
          <a:solidFill>
            <a:schemeClr val="accent1">
              <a:lumMod val="60000"/>
              <a:lumOff val="40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4" name="图片 43" descr="厦大白标"/>
          <p:cNvPicPr>
            <a:picLocks noChangeAspect="1"/>
          </p:cNvPicPr>
          <p:nvPr/>
        </p:nvPicPr>
        <p:blipFill>
          <a:blip r:embed="rId2"/>
          <a:srcRect l="7917" t="27888" r="6660" b="36383"/>
          <a:stretch>
            <a:fillRect/>
          </a:stretch>
        </p:blipFill>
        <p:spPr>
          <a:xfrm>
            <a:off x="10750550" y="6349365"/>
            <a:ext cx="1350645" cy="376555"/>
          </a:xfrm>
          <a:prstGeom prst="rect">
            <a:avLst/>
          </a:prstGeom>
        </p:spPr>
      </p:pic>
      <p:pic>
        <p:nvPicPr>
          <p:cNvPr id="90" name="图片 89" descr="厦大校徽-白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2165" y="6205220"/>
            <a:ext cx="1409065" cy="729615"/>
          </a:xfrm>
          <a:prstGeom prst="rect">
            <a:avLst/>
          </a:prstGeom>
        </p:spPr>
      </p:pic>
      <p:pic>
        <p:nvPicPr>
          <p:cNvPr id="7" name="图片 6" descr="973a07409efda808c63554f1ddf220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05" y="455930"/>
            <a:ext cx="3968750" cy="5946775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88" name="流程图: 可选过程 87"/>
          <p:cNvSpPr/>
          <p:nvPr/>
        </p:nvSpPr>
        <p:spPr>
          <a:xfrm>
            <a:off x="6732270" y="391795"/>
            <a:ext cx="4219575" cy="709295"/>
          </a:xfrm>
          <a:prstGeom prst="flowChartAlternateProcess">
            <a:avLst/>
          </a:prstGeom>
          <a:solidFill>
            <a:srgbClr val="2E3D3A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文本框 88"/>
          <p:cNvSpPr txBox="1"/>
          <p:nvPr/>
        </p:nvSpPr>
        <p:spPr>
          <a:xfrm>
            <a:off x="7306217" y="456206"/>
            <a:ext cx="6739392" cy="6451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组会不再问进度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5568315" y="1401445"/>
            <a:ext cx="623824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5568315" y="1701800"/>
            <a:ext cx="6245225" cy="4496435"/>
          </a:xfrm>
          <a:prstGeom prst="rect">
            <a:avLst/>
          </a:prstGeom>
          <a:solidFill>
            <a:srgbClr val="2E3D3A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833745" y="2413000"/>
            <a:ext cx="5714365" cy="161582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200" b="0" i="0" dirty="0">
                <a:solidFill>
                  <a:schemeClr val="bg1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12 篇在途稿件全部进入看板，7 名成员每周至少查看一次，状态变更到看板刷新平均 3 分钟。组会上不再逐篇问进度。</a:t>
            </a:r>
            <a:endParaRPr lang="en-US" altLang="zh-CN" sz="1200" b="0" i="0" dirty="0">
              <a:solidFill>
                <a:schemeClr val="bg1"/>
              </a:solidFill>
              <a:effectLst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 dirty="0"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  <a:sym typeface="+mn-ea"/>
              </a:rPr>
              <a:t/>
            </a:r>
          </a:p>
          <a:p>
            <a:pPr algn="l"/>
            <a:endParaRPr lang="en-US" altLang="zh-CN" sz="900" b="1" dirty="0">
              <a:solidFill>
                <a:schemeClr val="bg1"/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  <a:sym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ns3:creationId id="{86FA9F9C-C971-450E-80BC-D258B6DB9096}"/>
              </a:ext>
            </a:extLst>
          </p:cNvPr>
          <p:cNvSpPr txBox="1"/>
          <p:nvPr/>
        </p:nvSpPr>
        <p:spPr>
          <a:xfrm>
            <a:off x="5833745" y="3950017"/>
            <a:ext cx="5714365" cy="161582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200" b="0" i="0" dirty="0">
                <a:solidFill>
                  <a:schemeClr val="bg1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现在只看两件事：谁逾期，谁该催。剩下的属于判断，不属于工具——这一点不会因为上了系统就自动变好。</a:t>
            </a:r>
            <a:endParaRPr lang="en-US" altLang="zh-CN" sz="1200" b="0" i="0" dirty="0">
              <a:solidFill>
                <a:schemeClr val="bg1"/>
              </a:solidFill>
              <a:effectLst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 dirty="0"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  <a:sym typeface="+mn-ea"/>
              </a:rPr>
              <a:t/>
            </a:r>
          </a:p>
          <a:p>
            <a:pPr algn="l"/>
            <a:endParaRPr lang="en-US" altLang="zh-CN" sz="900" b="1" dirty="0">
              <a:solidFill>
                <a:schemeClr val="bg1"/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  <a:sym typeface="+mn-ea"/>
            </a:endParaRPr>
          </a:p>
        </p:txBody>
      </p:sp>
    </p:spTree>
  </p:cSld>
  <p:clrMapOvr>
    <a:masterClrMapping/>
  </p:clrMapOvr>
  <p:transition p14:dur="500">
    <p:fade/>
  </p:transition>
</p:sld>
</file>

<file path=ppt/slides/slide20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fb0201b1a0171f4c80145f37d72905cd"/>
          <p:cNvPicPr>
            <a:picLocks noChangeAspect="1"/>
          </p:cNvPicPr>
          <p:nvPr/>
        </p:nvPicPr>
        <p:blipFill>
          <a:blip r:embed="rId2"/>
          <a:srcRect b="15917"/>
          <a:stretch>
            <a:fillRect/>
          </a:stretch>
        </p:blipFill>
        <p:spPr>
          <a:xfrm>
            <a:off x="-20320" y="-25400"/>
            <a:ext cx="12232005" cy="690816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-20320" y="-29210"/>
            <a:ext cx="12251690" cy="6911975"/>
          </a:xfrm>
          <a:prstGeom prst="rect">
            <a:avLst/>
          </a:prstGeom>
          <a:solidFill>
            <a:schemeClr val="accent1">
              <a:lumMod val="60000"/>
              <a:lumOff val="40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 rot="2220000">
            <a:off x="224155" y="-1024255"/>
            <a:ext cx="14552930" cy="5953760"/>
          </a:xfrm>
          <a:prstGeom prst="rect">
            <a:avLst/>
          </a:prstGeom>
          <a:solidFill>
            <a:srgbClr val="2E3D3A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厦大校徽-白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8930" y="6092190"/>
            <a:ext cx="1409065" cy="729615"/>
          </a:xfrm>
          <a:prstGeom prst="rect">
            <a:avLst/>
          </a:prstGeom>
        </p:spPr>
      </p:pic>
      <p:pic>
        <p:nvPicPr>
          <p:cNvPr id="3" name="图片 2" descr="厦大白标"/>
          <p:cNvPicPr>
            <a:picLocks noChangeAspect="1"/>
          </p:cNvPicPr>
          <p:nvPr/>
        </p:nvPicPr>
        <p:blipFill>
          <a:blip r:embed="rId4"/>
          <a:srcRect l="7917" t="27888" r="6660" b="36383"/>
          <a:stretch>
            <a:fillRect/>
          </a:stretch>
        </p:blipFill>
        <p:spPr>
          <a:xfrm>
            <a:off x="705485" y="6268720"/>
            <a:ext cx="1350645" cy="376555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542832" y="2624731"/>
            <a:ext cx="6739392" cy="18611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11500" b="1" dirty="0">
                <a:solidFill>
                  <a:schemeClr val="bg1">
                    <a:alpha val="83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谢谢观看</a:t>
            </a:r>
          </a:p>
        </p:txBody>
      </p:sp>
    </p:spTree>
  </p:cSld>
  <p:clrMapOvr>
    <a:masterClrMapping/>
  </p:clrMapOvr>
  <p:transition p14:dur="500">
    <p:fade/>
  </p:transition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2E3D3A">
            <a:alpha val="37000"/>
          </a:srgbClr>
        </a:solidFill>
        <a:ln>
          <a:noFill/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1213</Words>
  <Application>Microsoft Office PowerPoint</Application>
  <PresentationFormat>宽屏</PresentationFormat>
  <Paragraphs>80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思源黑體 ExtraLight</vt:lpstr>
      <vt:lpstr>Calibri Light</vt:lpstr>
      <vt:lpstr>思源黑体 CN Bold</vt:lpstr>
      <vt:lpstr>思源黑体 CN Regular</vt:lpstr>
      <vt:lpstr>Calibri</vt:lpstr>
      <vt:lpstr>Arial</vt:lpstr>
      <vt:lpstr>Century Gothic</vt:lpstr>
      <vt:lpstr>Source Han Serif CN Regular</vt:lpstr>
      <vt:lpstr>Source Han Sans CN Bold</vt:lpstr>
      <vt:lpstr>Source Han Sans CN Regular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liyangkun</dc:creator>
  <cp:lastModifiedBy>Lu Shiying</cp:lastModifiedBy>
  <cp:revision>25</cp:revision>
  <dcterms:created xsi:type="dcterms:W3CDTF">2022-03-23T10:48:09Z</dcterms:created>
  <dcterms:modified xsi:type="dcterms:W3CDTF">2022-04-14T01:31:22Z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2052-3.4.2.5348</vt:lpwstr>
  </property>
</Properties>
</file>