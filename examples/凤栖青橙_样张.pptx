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7e50a4f9229643.jpg"/>
  <Relationship Id="rId3" Type="http://schemas.openxmlformats.org/officeDocument/2006/relationships/image" Target="../media/image_fbb52371ff2699aa.png"/>
  <Relationship Id="rId4" Type="http://schemas.openxmlformats.org/officeDocument/2006/relationships/image" Target="../media/image_65ab6441817432b2.png"/>
  <Relationship Id="rId5" Type="http://schemas.openxmlformats.org/officeDocument/2006/relationships/image" Target="../media/image_435c9693db42813b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7e50a4f9229643.jpg"/>
  <Relationship Id="rId3" Type="http://schemas.openxmlformats.org/officeDocument/2006/relationships/image" Target="../media/image_fbb52371ff2699aa.png"/>
  <Relationship Id="rId4" Type="http://schemas.openxmlformats.org/officeDocument/2006/relationships/image" Target="../media/image_435c9693db42813b.pn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7e50a4f9229643.jpg"/>
  <Relationship Id="rId3" Type="http://schemas.openxmlformats.org/officeDocument/2006/relationships/image" Target="../media/image_435c9693db42813b.png"/>
  <Relationship Id="rId4" Type="http://schemas.openxmlformats.org/officeDocument/2006/relationships/image" Target="../media/image_ec3f020643c7fcfb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7e50a4f9229643.jpg"/>
  <Relationship Id="rId3" Type="http://schemas.openxmlformats.org/officeDocument/2006/relationships/image" Target="../media/image_435c9693db42813b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7e50a4f9229643.jpg"/>
  <Relationship Id="rId3" Type="http://schemas.openxmlformats.org/officeDocument/2006/relationships/image" Target="../media/image_65ab6441817432b2.png"/>
  <Relationship Id="rId4" Type="http://schemas.openxmlformats.org/officeDocument/2006/relationships/image" Target="../media/image_435c9693db42813b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8763" r="0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rcRect l="0" t="4092" r="0" b="4092"/>
          <a:stretch>
            <a:fillRect/>
          </a:stretch>
        </p:blipFill>
        <p:spPr>
          <a:xfrm>
            <a:off x="0" y="2604135"/>
            <a:ext cx="9420225" cy="4253865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rcRect l="0" t="16481" r="0" b="16481"/>
          <a:stretch>
            <a:fillRect/>
          </a:stretch>
        </p:blipFill>
        <p:spPr>
          <a:xfrm>
            <a:off x="381000" y="3429000"/>
            <a:ext cx="2190750" cy="337185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480" y="383572"/>
            <a:ext cx="1306715" cy="37528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038403" y="1575435"/>
            <a:ext cx="39107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70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学院 / 专业 / 班级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3154" y="2544128"/>
            <a:ext cx="10132219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550" b="1" dirty="0">
                <a:solidFill>
                  <a:srgbClr val="111111"/>
                </a:solidFill>
                <a:latin typeface="华文中宋"/>
                <a:ea typeface="SimSun"/>
                <a:cs typeface="华文中宋"/>
              </a:rPr>
              <a:t>学术汇报论文答辩模板</a:t>
            </a:r>
          </a:p>
        </p:txBody>
      </p:sp>
      <p:sp>
        <p:nvSpPr>
          <p:cNvPr id="8" name="Line 8"/>
          <p:cNvSpPr/>
          <p:nvPr/>
        </p:nvSpPr>
        <p:spPr>
          <a:xfrm>
            <a:off x="9581960" y="4430458"/>
            <a:ext cx="1378268" cy="9525"/>
          </a:xfrm>
          <a:custGeom>
            <a:avLst/>
            <a:gdLst/>
            <a:ahLst/>
            <a:cxnLst/>
            <a:rect l="l" t="t" r="r" b="b"/>
            <a:pathLst>
              <a:path w="1378268" h="9525">
                <a:moveTo>
                  <a:pt x="0" y="0"/>
                </a:moveTo>
                <a:lnTo>
                  <a:pt x="1378268" y="0"/>
                </a:lnTo>
              </a:path>
            </a:pathLst>
          </a:custGeom>
          <a:noFill/>
          <a:ln w="12697">
            <a:solidFill>
              <a:srgbClr val="5252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527381" y="4713637"/>
            <a:ext cx="14911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汇报人：XXX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70206" y="5023485"/>
            <a:ext cx="17483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指导老师：XXX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95980" y="5422106"/>
            <a:ext cx="22177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0" dirty="0">
                <a:solidFill>
                  <a:srgbClr val="6B6558"/>
                </a:solidFill>
                <a:latin typeface="华文中宋"/>
                <a:ea typeface="SimSun"/>
                <a:cs typeface="华文中宋"/>
              </a:rPr>
              <a:t>厦门大学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8763" r="0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rcRect l="0" t="4092" r="0" b="4092"/>
          <a:stretch>
            <a:fillRect/>
          </a:stretch>
        </p:blipFill>
        <p:spPr>
          <a:xfrm>
            <a:off x="0" y="2604135"/>
            <a:ext cx="9420225" cy="4253865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80" y="383572"/>
            <a:ext cx="1306715" cy="37528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159761" y="2203132"/>
            <a:ext cx="7760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50" b="1" spc="450" dirty="0">
                <a:solidFill>
                  <a:srgbClr val="7A7466"/>
                </a:solidFill>
                <a:latin typeface="Manrope"/>
                <a:ea typeface="Manrope"/>
                <a:cs typeface="Manrope"/>
              </a:rPr>
              <a:t>PART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76409" y="2728912"/>
            <a:ext cx="1843254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0" b="1" dirty="0">
                <a:solidFill>
                  <a:srgbClr val="111111"/>
                </a:solidFill>
                <a:latin typeface="华文中宋"/>
                <a:ea typeface="华文中宋"/>
                <a:cs typeface="华文中宋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94410" y="3927158"/>
            <a:ext cx="386048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315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选题背景与意义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83168" y="4521518"/>
            <a:ext cx="23488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7A7466"/>
                </a:solidFill>
                <a:latin typeface="华文中宋"/>
                <a:ea typeface="SimSun"/>
                <a:cs typeface="华文中宋"/>
              </a:rPr>
              <a:t>从临床问题到研究问题</a:t>
            </a:r>
          </a:p>
        </p:txBody>
      </p:sp>
      <p:sp>
        <p:nvSpPr>
          <p:cNvPr id="9" name="Rectangle 9"/>
          <p:cNvSpPr/>
          <p:nvPr/>
        </p:nvSpPr>
        <p:spPr>
          <a:xfrm>
            <a:off x="9144000" y="4953000"/>
            <a:ext cx="1771650" cy="19050"/>
          </a:xfrm>
          <a:prstGeom prst="rect">
            <a:avLst/>
          </a:prstGeom>
          <a:solidFill>
            <a:srgbClr val="D37820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8763" r="0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0" y="383572"/>
            <a:ext cx="1306715" cy="37528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-600000">
            <a:off x="2780953" y="2056175"/>
            <a:ext cx="5614416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200" i="1" dirty="0">
                <a:solidFill>
                  <a:srgbClr val="FFFFFF">
                    <a:alphaMod val="72000"/>
                  </a:srgbClr>
                </a:solidFill>
                <a:latin typeface="华文中宋"/>
                <a:ea typeface="华文中宋"/>
                <a:cs typeface="华文中宋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9250" y="2800350"/>
            <a:ext cx="4625340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0" b="1" dirty="0">
                <a:solidFill>
                  <a:srgbClr val="C9C2B4"/>
                </a:solidFill>
                <a:latin typeface="华文中宋"/>
                <a:ea typeface="SimSun"/>
                <a:cs typeface="华文中宋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2100" y="2743200"/>
            <a:ext cx="4625340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0" b="1" dirty="0">
                <a:solidFill>
                  <a:srgbClr val="111111"/>
                </a:solidFill>
                <a:latin typeface="华文中宋"/>
                <a:ea typeface="SimSun"/>
                <a:cs typeface="华文中宋"/>
              </a:rPr>
              <a:t>目录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92090" y="1596390"/>
            <a:ext cx="73730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D37820"/>
                </a:solidFill>
                <a:latin typeface="华文中宋"/>
                <a:ea typeface="华文中宋"/>
                <a:cs typeface="华文中宋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61735" y="1694498"/>
            <a:ext cx="23898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选题背景与意义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74118" y="2085499"/>
            <a:ext cx="6934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7466"/>
                </a:solidFill>
                <a:latin typeface="华文中宋"/>
                <a:ea typeface="SimSun"/>
                <a:cs typeface="华文中宋"/>
              </a:rPr>
              <a:t>研究缘起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44840" y="1596390"/>
            <a:ext cx="73730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D37820"/>
                </a:solidFill>
                <a:latin typeface="华文中宋"/>
                <a:ea typeface="华文中宋"/>
                <a:cs typeface="华文中宋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14485" y="1694498"/>
            <a:ext cx="23898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研究方法与过程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6868" y="2085499"/>
            <a:ext cx="8605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7466"/>
                </a:solidFill>
                <a:latin typeface="华文中宋"/>
                <a:ea typeface="SimSun"/>
                <a:cs typeface="华文中宋"/>
              </a:rPr>
              <a:t>设计与实施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92090" y="3596640"/>
            <a:ext cx="73730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D37820"/>
                </a:solidFill>
                <a:latin typeface="华文中宋"/>
                <a:ea typeface="华文中宋"/>
                <a:cs typeface="华文中宋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61735" y="3694748"/>
            <a:ext cx="23898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研究成果与展示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74118" y="4085749"/>
            <a:ext cx="6934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7466"/>
                </a:solidFill>
                <a:latin typeface="华文中宋"/>
                <a:ea typeface="SimSun"/>
                <a:cs typeface="华文中宋"/>
              </a:rPr>
              <a:t>结果呈现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44840" y="3596640"/>
            <a:ext cx="73730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D37820"/>
                </a:solidFill>
                <a:latin typeface="华文中宋"/>
                <a:ea typeface="华文中宋"/>
                <a:cs typeface="华文中宋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14485" y="3694748"/>
            <a:ext cx="23898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A1A1A"/>
                </a:solidFill>
                <a:latin typeface="华文中宋"/>
                <a:ea typeface="SimSun"/>
                <a:cs typeface="华文中宋"/>
              </a:rPr>
              <a:t>论文总结与启示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26868" y="4085749"/>
            <a:ext cx="8605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7466"/>
                </a:solidFill>
                <a:latin typeface="华文中宋"/>
                <a:ea typeface="SimSun"/>
                <a:cs typeface="华文中宋"/>
              </a:rPr>
              <a:t>反思与展望</a:t>
            </a:r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607" y="5257800"/>
            <a:ext cx="5650787" cy="628650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0" y="6667500"/>
            <a:ext cx="12192000" cy="57150"/>
          </a:xfrm>
          <a:prstGeom prst="rect">
            <a:avLst/>
          </a:prstGeom>
          <a:solidFill>
            <a:srgbClr val="204080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8763" r="0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0" y="383572"/>
            <a:ext cx="1306715" cy="37528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43915" y="1048702"/>
            <a:ext cx="28825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spc="300" dirty="0">
                <a:solidFill>
                  <a:srgbClr val="D37820"/>
                </a:solidFill>
                <a:latin typeface="华文中宋"/>
                <a:ea typeface="SimSun"/>
                <a:cs typeface="华文中宋"/>
              </a:rPr>
              <a:t>第一部分 · 选题背景与意义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3435" y="1418272"/>
            <a:ext cx="4435173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11111"/>
                </a:solidFill>
                <a:latin typeface="华文中宋"/>
                <a:ea typeface="SimSun"/>
                <a:cs typeface="华文中宋"/>
              </a:rPr>
              <a:t>研究背景与意义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2047875"/>
            <a:ext cx="4152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E3E3E"/>
                </a:solidFill>
                <a:latin typeface="华文中宋"/>
                <a:ea typeface="SimSun"/>
                <a:cs typeface="华文中宋"/>
              </a:rPr>
              <a:t>术后营养管理是加速康复的关键环节</a:t>
            </a:r>
          </a:p>
        </p:txBody>
      </p:sp>
      <p:sp>
        <p:nvSpPr>
          <p:cNvPr id="7" name="Rectangle 7"/>
          <p:cNvSpPr/>
          <p:nvPr/>
        </p:nvSpPr>
        <p:spPr>
          <a:xfrm>
            <a:off x="857250" y="2457450"/>
            <a:ext cx="10477500" cy="19050"/>
          </a:xfrm>
          <a:prstGeom prst="rect">
            <a:avLst/>
          </a:prstGeom>
          <a:solidFill>
            <a:srgbClr val="647F5E">
              <a:alpha val="5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743200"/>
            <a:ext cx="10477500" cy="3028950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9C9585"/>
            </a:solidFill>
            <a:custDash>
              <a:ds d="800000" sp="800000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4549616" y="4205764"/>
            <a:ext cx="30927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8C8577"/>
                </a:solidFill>
                <a:latin typeface="华文中宋"/>
                <a:ea typeface="SimSun"/>
                <a:cs typeface="华文中宋"/>
              </a:rPr>
              <a:t>在此放置图表、图片或分栏内容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6189345"/>
            <a:ext cx="26923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466"/>
                </a:solidFill>
                <a:latin typeface="华文中宋"/>
                <a:ea typeface="SimSun"/>
                <a:cs typeface="华文中宋"/>
              </a:rPr>
              <a:t>厦门大学 · 第一部分 · 选题背景与意义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34052" y="6181249"/>
            <a:ext cx="413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7A7466"/>
                </a:solidFill>
                <a:latin typeface="Manrope"/>
                <a:ea typeface="Manrope"/>
                <a:cs typeface="Manrope"/>
              </a:rPr>
              <a:t>— 03 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8763" r="0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2381250" y="1000125"/>
            <a:ext cx="1428750" cy="2857500"/>
          </a:xfrm>
          <a:prstGeom prst="rect">
            <a:avLst/>
          </a:prstGeom>
          <a:solidFill>
            <a:srgbClr val="C6D3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0" y="1000125"/>
            <a:ext cx="1428750" cy="2857500"/>
          </a:xfrm>
          <a:prstGeom prst="rect">
            <a:avLst/>
          </a:prstGeom>
          <a:solidFill>
            <a:srgbClr val="AFC2A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238750" y="1000125"/>
            <a:ext cx="1428750" cy="2857500"/>
          </a:xfrm>
          <a:prstGeom prst="rect">
            <a:avLst/>
          </a:prstGeom>
          <a:solidFill>
            <a:srgbClr val="96AD8D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6667500" y="1000125"/>
            <a:ext cx="1428750" cy="2857500"/>
          </a:xfrm>
          <a:prstGeom prst="rect">
            <a:avLst/>
          </a:prstGeom>
          <a:solidFill>
            <a:srgbClr val="7A9573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8096250" y="1000125"/>
            <a:ext cx="1428750" cy="2857500"/>
          </a:xfrm>
          <a:prstGeom prst="rect">
            <a:avLst/>
          </a:prstGeom>
          <a:solidFill>
            <a:srgbClr val="5E7A60"/>
          </a:solidFill>
          <a:ln>
            <a:noFill/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rcRect l="0" t="16481" r="0" b="16481"/>
          <a:stretch>
            <a:fillRect/>
          </a:stretch>
        </p:blipFill>
        <p:spPr>
          <a:xfrm>
            <a:off x="381000" y="3429000"/>
            <a:ext cx="2190750" cy="3371850"/>
          </a:xfrm>
          <a:prstGeom prst="rect">
            <a:avLst/>
          </a:prstGeom>
        </p:spPr>
      </p:pic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80" y="383572"/>
            <a:ext cx="1306715" cy="37528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176706" y="1605915"/>
            <a:ext cx="2428304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300" b="1" dirty="0">
                <a:solidFill>
                  <a:srgbClr val="FFFFFF"/>
                </a:solidFill>
                <a:latin typeface="华文中宋"/>
                <a:ea typeface="SimSun"/>
                <a:cs typeface="华文中宋"/>
              </a:rPr>
              <a:t>感谢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76706" y="2558415"/>
            <a:ext cx="2428304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300" b="1" dirty="0">
                <a:solidFill>
                  <a:srgbClr val="FFFFFF"/>
                </a:solidFill>
                <a:latin typeface="华文中宋"/>
                <a:ea typeface="SimSun"/>
                <a:cs typeface="华文中宋"/>
              </a:rPr>
              <a:t>垂听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34200" y="4143375"/>
            <a:ext cx="2609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3E3E3E"/>
                </a:solidFill>
                <a:latin typeface="华文中宋"/>
                <a:ea typeface="SimSun"/>
                <a:cs typeface="华文中宋"/>
              </a:rPr>
              <a:t>恳请各位老师批评指正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13735" y="5980748"/>
            <a:ext cx="75547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spc="450" dirty="0">
                <a:solidFill>
                  <a:srgbClr val="111111"/>
                </a:solidFill>
                <a:latin typeface="华文中宋"/>
                <a:ea typeface="华文中宋"/>
                <a:cs typeface="华文中宋"/>
              </a:rPr>
              <a:t>END</a:t>
            </a:r>
          </a:p>
        </p:txBody>
      </p:sp>
      <p:sp>
        <p:nvSpPr>
          <p:cNvPr id="14" name="Line 14"/>
          <p:cNvSpPr/>
          <p:nvPr/>
        </p:nvSpPr>
        <p:spPr>
          <a:xfrm>
            <a:off x="4000500" y="61150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6B655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188500" y="61731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6558"/>
                </a:solidFill>
                <a:latin typeface="华文中宋"/>
                <a:ea typeface="SimSun"/>
                <a:cs typeface="华文中宋"/>
              </a:rPr>
              <a:t>厦门大学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2026-10-30T02:33:52Z</dcterms:created>
  <dcterms:modified xsi:type="dcterms:W3CDTF">2026-10-30T02:33:52Z</dcterms:modified>
  <cp:category/>
  <cp:contentStatus/>
</cp:coreProperties>
</file>