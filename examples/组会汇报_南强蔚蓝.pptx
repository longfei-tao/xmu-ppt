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  <Relationship Id="rId3" Type="http://schemas.openxmlformats.org/officeDocument/2006/relationships/image" Target="../media/image_7c94763dee102e41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  <Relationship Id="rId3" Type="http://schemas.openxmlformats.org/officeDocument/2006/relationships/image" Target="../media/image_7c94763dee102e41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76250"/>
            <a:ext cx="1047750" cy="3048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973" y="3095625"/>
            <a:ext cx="2338954" cy="376237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91540" y="1720215"/>
            <a:ext cx="442325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论文投稿管理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2020" y="3169920"/>
            <a:ext cx="403969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6585CC"/>
                </a:solidFill>
                <a:latin typeface="方正兰亭黑"/>
                <a:ea typeface="Microsoft YaHei"/>
                <a:cs typeface="方正兰亭黑"/>
              </a:rPr>
              <a:t>——从邮件来回到看板可见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5172075"/>
            <a:ext cx="15316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汇报人：陶龙飞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0118" y="5657374"/>
            <a:ext cx="7134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2026.10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65" y="5982652"/>
            <a:ext cx="624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厦门大学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0110" y="2718435"/>
            <a:ext cx="1847393" cy="115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3450" y="3743325"/>
            <a:ext cx="1201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30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CONTENT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14900" y="186690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4520" y="1884045"/>
            <a:ext cx="7778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99760" y="2327910"/>
            <a:ext cx="19080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状态散落在邮件与聊天里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43900" y="186690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13520" y="1884045"/>
            <a:ext cx="7778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方案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28760" y="232791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一个状态机加一块看板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4900" y="367665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84520" y="3693795"/>
            <a:ext cx="7778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落地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9760" y="413766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从手动维护到自动同步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3900" y="367665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13520" y="3693795"/>
            <a:ext cx="7778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复盘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28760" y="4137660"/>
            <a:ext cx="15666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三个月用下来的取舍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52500" y="5334000"/>
            <a:ext cx="10287000" cy="190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4572000" y="3333750"/>
            <a:ext cx="7620000" cy="9525"/>
          </a:xfrm>
          <a:custGeom>
            <a:avLst/>
            <a:gdLst/>
            <a:ahLst/>
            <a:cxnLst/>
            <a:rect l="l" t="t" r="r" b="b"/>
            <a:pathLst>
              <a:path w="7620000" h="9525">
                <a:moveTo>
                  <a:pt x="0" y="0"/>
                </a:moveTo>
                <a:lnTo>
                  <a:pt x="7620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715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0590" y="3834765"/>
            <a:ext cx="10695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115" y="4534852"/>
            <a:ext cx="1627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spc="225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37760" y="1775460"/>
            <a:ext cx="6021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一个课题组同时有十几篇稿子在途，状态却散落在邮件、微信与一张 Excel 里。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0140" y="2567940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状态不可见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38712" y="2945606"/>
            <a:ext cx="32289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谁在审、审到哪一步，只有通讯作者心里有数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0140" y="3901440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版本对不上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8712" y="4279106"/>
            <a:ext cx="33889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同一篇稿子五个版本，投出去的是哪一版说不清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0140" y="5187315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决策无依据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8712" y="5564981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该催稿还是该改投，全凭印象拍板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2495" y="726758"/>
            <a:ext cx="337322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沟通成本被低估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76700" y="904875"/>
            <a:ext cx="9726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1745932"/>
            <a:ext cx="450113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协调一篇稿子的精力，往往超过写作本身。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2590800"/>
            <a:ext cx="3238500" cy="2019300"/>
          </a:xfrm>
          <a:prstGeom prst="roundRect">
            <a:avLst>
              <a:gd name="adj" fmla="val 943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93174" y="3128010"/>
            <a:ext cx="195715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4.2 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8104" y="3854768"/>
            <a:ext cx="16472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每篇每周被问进度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7627" y="4191952"/>
            <a:ext cx="19682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导师、同门、合作者各问一遍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476750" y="2590800"/>
            <a:ext cx="3238500" cy="2019300"/>
          </a:xfrm>
          <a:prstGeom prst="roundRect">
            <a:avLst>
              <a:gd name="adj" fmla="val 943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48788" y="3128010"/>
            <a:ext cx="189442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6 小时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72354" y="3854768"/>
            <a:ext cx="16472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每周用于人工同步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11877" y="4191952"/>
            <a:ext cx="19682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整理表格、翻邮件、核对日期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01000" y="2590800"/>
            <a:ext cx="3238500" cy="2019300"/>
          </a:xfrm>
          <a:prstGeom prst="roundRect">
            <a:avLst>
              <a:gd name="adj" fmla="val 943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986677" y="3128010"/>
            <a:ext cx="126714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23%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98229" y="3854768"/>
            <a:ext cx="12440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错过催稿窗口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10803" y="4191952"/>
            <a:ext cx="18188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超期两周以上才想起来跟进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52500" y="4991100"/>
            <a:ext cx="10287000" cy="533400"/>
          </a:xfrm>
          <a:prstGeom prst="rect">
            <a:avLst/>
          </a:prstGeom>
          <a:solidFill>
            <a:srgbClr val="4661CC">
              <a:alpha val="8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03008" y="5186839"/>
            <a:ext cx="43849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这些成本不写进任何一张报表，但确实每周都在发生。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6173152"/>
            <a:ext cx="325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问题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53663" y="6173152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2495" y="726758"/>
            <a:ext cx="196184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现状流程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76700" y="904875"/>
            <a:ext cx="9726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1745932"/>
            <a:ext cx="66133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四步流程本身不复杂，复杂的是信息落在四个互不相通的地方。</a:t>
            </a:r>
          </a:p>
        </p:txBody>
      </p:sp>
      <p:sp>
        <p:nvSpPr>
          <p:cNvPr id="7" name="Line 7"/>
          <p:cNvSpPr/>
          <p:nvPr/>
        </p:nvSpPr>
        <p:spPr>
          <a:xfrm>
            <a:off x="2114550" y="314325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19050">
            <a:solidFill>
              <a:srgbClr val="4661CC">
                <a:alpha val="45000"/>
              </a:srgbClr>
            </a:solidFill>
          </a:ln>
        </p:spPr>
      </p:sp>
      <p:sp>
        <p:nvSpPr>
          <p:cNvPr id="8" name="Polygon 8"/>
          <p:cNvSpPr/>
          <p:nvPr/>
        </p:nvSpPr>
        <p:spPr>
          <a:xfrm>
            <a:off x="3733800" y="3086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661CC">
              <a:alpha val="45000"/>
            </a:srgbClr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4686300" y="314325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19050">
            <a:solidFill>
              <a:srgbClr val="4661CC">
                <a:alpha val="45000"/>
              </a:srgbClr>
            </a:solidFill>
          </a:ln>
        </p:spPr>
      </p:sp>
      <p:sp>
        <p:nvSpPr>
          <p:cNvPr id="10" name="Polygon 10"/>
          <p:cNvSpPr/>
          <p:nvPr/>
        </p:nvSpPr>
        <p:spPr>
          <a:xfrm>
            <a:off x="6305550" y="3086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661CC">
              <a:alpha val="45000"/>
            </a:srgbClr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7258050" y="314325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19050">
            <a:solidFill>
              <a:srgbClr val="4661CC">
                <a:alpha val="45000"/>
              </a:srgbClr>
            </a:solidFill>
          </a:ln>
        </p:spPr>
      </p:sp>
      <p:sp>
        <p:nvSpPr>
          <p:cNvPr id="12" name="Polygon 12"/>
          <p:cNvSpPr/>
          <p:nvPr/>
        </p:nvSpPr>
        <p:spPr>
          <a:xfrm>
            <a:off x="8877300" y="3086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661CC">
              <a:alpha val="45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314450" y="2743200"/>
            <a:ext cx="800100" cy="800100"/>
          </a:xfrm>
          <a:prstGeom prst="ellipse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609645" y="3008948"/>
            <a:ext cx="2097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9268" y="3716179"/>
            <a:ext cx="5104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投稿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0142" y="4069556"/>
            <a:ext cx="1148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记录在作者邮箱</a:t>
            </a:r>
          </a:p>
        </p:txBody>
      </p:sp>
      <p:sp>
        <p:nvSpPr>
          <p:cNvPr id="17" name="Ellipse 17"/>
          <p:cNvSpPr/>
          <p:nvPr/>
        </p:nvSpPr>
        <p:spPr>
          <a:xfrm>
            <a:off x="3886200" y="2743200"/>
            <a:ext cx="800100" cy="800100"/>
          </a:xfrm>
          <a:prstGeom prst="ellipse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181395" y="3008948"/>
            <a:ext cx="2097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31018" y="3716179"/>
            <a:ext cx="5104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初审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11892" y="4069556"/>
            <a:ext cx="1148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记录在投稿系统</a:t>
            </a:r>
          </a:p>
        </p:txBody>
      </p:sp>
      <p:sp>
        <p:nvSpPr>
          <p:cNvPr id="21" name="Ellipse 21"/>
          <p:cNvSpPr/>
          <p:nvPr/>
        </p:nvSpPr>
        <p:spPr>
          <a:xfrm>
            <a:off x="6457950" y="2743200"/>
            <a:ext cx="800100" cy="800100"/>
          </a:xfrm>
          <a:prstGeom prst="ellipse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53145" y="3008948"/>
            <a:ext cx="2097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02768" y="3716179"/>
            <a:ext cx="5104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外审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03632" y="4069556"/>
            <a:ext cx="13087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记录在审稿人邮件</a:t>
            </a:r>
          </a:p>
        </p:txBody>
      </p:sp>
      <p:sp>
        <p:nvSpPr>
          <p:cNvPr id="25" name="Ellipse 25"/>
          <p:cNvSpPr/>
          <p:nvPr/>
        </p:nvSpPr>
        <p:spPr>
          <a:xfrm>
            <a:off x="9029700" y="2743200"/>
            <a:ext cx="800100" cy="800100"/>
          </a:xfrm>
          <a:prstGeom prst="ellipse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324895" y="3008948"/>
            <a:ext cx="2097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74518" y="3716179"/>
            <a:ext cx="5104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决策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55392" y="4069556"/>
            <a:ext cx="1148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记录在主编通知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2500" y="4933950"/>
            <a:ext cx="10287000" cy="552450"/>
          </a:xfrm>
          <a:prstGeom prst="rect">
            <a:avLst/>
          </a:prstGeom>
          <a:solidFill>
            <a:srgbClr val="4661CC">
              <a:alpha val="8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202055" y="5131118"/>
            <a:ext cx="58142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结果：想知道进度，只能挨个问人——而每个人记住的版本都不一样。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9165" y="6173152"/>
            <a:ext cx="325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问题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53663" y="6173152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4572000" y="3333750"/>
            <a:ext cx="7620000" cy="9525"/>
          </a:xfrm>
          <a:custGeom>
            <a:avLst/>
            <a:gdLst/>
            <a:ahLst/>
            <a:cxnLst/>
            <a:rect l="l" t="t" r="r" b="b"/>
            <a:pathLst>
              <a:path w="7620000" h="9525">
                <a:moveTo>
                  <a:pt x="0" y="0"/>
                </a:moveTo>
                <a:lnTo>
                  <a:pt x="7620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715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0590" y="3834765"/>
            <a:ext cx="10695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方案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115" y="4534852"/>
            <a:ext cx="1627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spc="225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37760" y="1775460"/>
            <a:ext cx="532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把投稿过程建模成有限状态机，落到一块所有成员都能看见的看板上。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0140" y="2567940"/>
            <a:ext cx="8522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状态机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38712" y="2945606"/>
            <a:ext cx="30689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六个状态、十条转移，每一步都写清责任人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0140" y="3901440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单一数据源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8712" y="4279106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稿件、作者、期刊、时间线只存一份，其余全部从它派生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0140" y="5187315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权限分层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8712" y="5564981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组内全员可写，对外只给只读链接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2495" y="72675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投稿状态机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76700" y="904875"/>
            <a:ext cx="9726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3450" y="1666875"/>
            <a:ext cx="51587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六个状态，把「到哪一步了」变成一个可以查的字段。</a:t>
            </a:r>
          </a:p>
        </p:txBody>
      </p:sp>
      <p:sp>
        <p:nvSpPr>
          <p:cNvPr id="7" name="Line 7"/>
          <p:cNvSpPr/>
          <p:nvPr/>
        </p:nvSpPr>
        <p:spPr>
          <a:xfrm>
            <a:off x="2400300" y="270510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4661CC">
                <a:alpha val="50000"/>
              </a:srgbClr>
            </a:solidFill>
          </a:ln>
        </p:spPr>
      </p:sp>
      <p:sp>
        <p:nvSpPr>
          <p:cNvPr id="8" name="Polygon 8"/>
          <p:cNvSpPr/>
          <p:nvPr/>
        </p:nvSpPr>
        <p:spPr>
          <a:xfrm>
            <a:off x="2609850" y="26574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61CC">
              <a:alpha val="50000"/>
            </a:srgbClr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4114800" y="270510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4661CC">
                <a:alpha val="50000"/>
              </a:srgbClr>
            </a:solidFill>
          </a:ln>
        </p:spPr>
      </p:sp>
      <p:sp>
        <p:nvSpPr>
          <p:cNvPr id="10" name="Polygon 10"/>
          <p:cNvSpPr/>
          <p:nvPr/>
        </p:nvSpPr>
        <p:spPr>
          <a:xfrm>
            <a:off x="4324350" y="26574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61CC">
              <a:alpha val="50000"/>
            </a:srgbClr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5295900" y="3048000"/>
            <a:ext cx="9525" cy="962025"/>
          </a:xfrm>
          <a:custGeom>
            <a:avLst/>
            <a:gdLst/>
            <a:ahLst/>
            <a:cxnLst/>
            <a:rect l="l" t="t" r="r" b="b"/>
            <a:pathLst>
              <a:path w="9525" h="962025">
                <a:moveTo>
                  <a:pt x="0" y="0"/>
                </a:moveTo>
                <a:lnTo>
                  <a:pt x="0" y="962025"/>
                </a:lnTo>
              </a:path>
            </a:pathLst>
          </a:custGeom>
          <a:noFill/>
          <a:ln w="19050">
            <a:solidFill>
              <a:srgbClr val="4661CC">
                <a:alpha val="50000"/>
              </a:srgbClr>
            </a:solidFill>
          </a:ln>
        </p:spPr>
      </p:sp>
      <p:sp>
        <p:nvSpPr>
          <p:cNvPr id="12" name="Polygon 12"/>
          <p:cNvSpPr/>
          <p:nvPr/>
        </p:nvSpPr>
        <p:spPr>
          <a:xfrm>
            <a:off x="5248275" y="39147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4661CC">
              <a:alpha val="50000"/>
            </a:srgbClr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3810000" y="43243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661CC">
                <a:alpha val="50000"/>
              </a:srgbClr>
            </a:solidFill>
          </a:ln>
        </p:spPr>
      </p:sp>
      <p:sp>
        <p:nvSpPr>
          <p:cNvPr id="14" name="Polygon 14"/>
          <p:cNvSpPr/>
          <p:nvPr/>
        </p:nvSpPr>
        <p:spPr>
          <a:xfrm>
            <a:off x="3810000" y="42767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4661CC">
              <a:alpha val="50000"/>
            </a:srgbClr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2095500" y="43243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661CC">
                <a:alpha val="50000"/>
              </a:srgbClr>
            </a:solidFill>
          </a:ln>
        </p:spPr>
      </p:sp>
      <p:sp>
        <p:nvSpPr>
          <p:cNvPr id="16" name="Polygon 16"/>
          <p:cNvSpPr/>
          <p:nvPr/>
        </p:nvSpPr>
        <p:spPr>
          <a:xfrm>
            <a:off x="2095500" y="42767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4661CC">
              <a:alpha val="50000"/>
            </a:srgbClr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5829300" y="27051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19050">
            <a:solidFill>
              <a:srgbClr val="6585CC">
                <a:alpha val="60000"/>
              </a:srgbClr>
            </a:solidFill>
            <a:custDash>
              <a:ds d="300000" sp="250000"/>
            </a:custDash>
          </a:ln>
        </p:spPr>
      </p:sp>
      <p:sp>
        <p:nvSpPr>
          <p:cNvPr id="18" name="Polygon 18"/>
          <p:cNvSpPr/>
          <p:nvPr/>
        </p:nvSpPr>
        <p:spPr>
          <a:xfrm>
            <a:off x="6096000" y="26574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585CC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47750" y="240030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483576" y="261794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草稿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762250" y="240030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198076" y="261794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已投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476750" y="240030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912576" y="261794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初审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2400300"/>
            <a:ext cx="1143000" cy="609600"/>
          </a:xfrm>
          <a:prstGeom prst="roundRect">
            <a:avLst>
              <a:gd name="adj" fmla="val 21875"/>
            </a:avLst>
          </a:prstGeom>
          <a:noFill/>
          <a:ln w="19050">
            <a:solidFill>
              <a:srgbClr val="6585CC"/>
            </a:solidFill>
            <a:custDash>
              <a:ds d="300000" sp="250000"/>
            </a:custDash>
          </a:ln>
        </p:spPr>
      </p:sp>
      <p:sp>
        <p:nvSpPr>
          <p:cNvPr id="26" name="TextBox 26"/>
          <p:cNvSpPr txBox="1"/>
          <p:nvPr/>
        </p:nvSpPr>
        <p:spPr>
          <a:xfrm>
            <a:off x="6531826" y="261794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拒稿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76750" y="40195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12576" y="423719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外审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762250" y="40195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198076" y="423719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修回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047750" y="40195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4661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483576" y="4237196"/>
            <a:ext cx="4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接收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4415" y="5220652"/>
            <a:ext cx="2565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拒稿为终止态，从初审或外审均可到达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0" y="1962150"/>
            <a:ext cx="9525" cy="3524250"/>
          </a:xfrm>
          <a:custGeom>
            <a:avLst/>
            <a:gdLst/>
            <a:ahLst/>
            <a:cxnLst/>
            <a:rect l="l" t="t" r="r" b="b"/>
            <a:pathLst>
              <a:path w="952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80998" y="2382679"/>
            <a:ext cx="215707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只能前进或回退一格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6712" y="2736056"/>
            <a:ext cx="29089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不允许跨状态跳转，也不允许凭空改状态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0998" y="3525679"/>
            <a:ext cx="168661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每次转移都留痕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6712" y="3879056"/>
            <a:ext cx="21088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记录操作人、时间与一句原因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0998" y="4668679"/>
            <a:ext cx="145138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逾期自动标红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6712" y="50220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超过期刊平均周期，看板自动预警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9165" y="6173152"/>
            <a:ext cx="325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方案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53663" y="6173152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2495" y="72675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单一数据源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76700" y="904875"/>
            <a:ext cx="9726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1745932"/>
            <a:ext cx="47358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一张主表撑起全部视图，改一处，处处都对。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" y="2586990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稿件主表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8212" y="2964656"/>
            <a:ext cx="29089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标题、期刊、状态、关键日期，一行一篇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640" y="3634740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作者从表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212" y="4012406"/>
            <a:ext cx="2980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按稿件 ID 关联，一作、通讯、参与分开记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" y="4682490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事件流水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5060156"/>
            <a:ext cx="25888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每次状态变更追加一条，不做覆盖写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905500" y="2457450"/>
            <a:ext cx="5334000" cy="3105150"/>
          </a:xfrm>
          <a:prstGeom prst="roundRect">
            <a:avLst>
              <a:gd name="adj" fmla="val 7362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267450" y="2790825"/>
            <a:ext cx="18303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为什么不是多张表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71260" y="3261360"/>
            <a:ext cx="37856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课题组规模小，跨表关联的收益抵不过维护成本。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71260" y="3547110"/>
            <a:ext cx="37856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一张主表加两张从表，查询足够快，改起来也不用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71260" y="3832860"/>
            <a:ext cx="13959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先想外键怎么迁。</a:t>
            </a:r>
          </a:p>
        </p:txBody>
      </p:sp>
      <p:sp>
        <p:nvSpPr>
          <p:cNvPr id="18" name="Line 18"/>
          <p:cNvSpPr/>
          <p:nvPr/>
        </p:nvSpPr>
        <p:spPr>
          <a:xfrm>
            <a:off x="6286500" y="42291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4661CC">
                <a:alpha val="2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254115" y="4430078"/>
            <a:ext cx="115018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3 张表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0462" y="4564856"/>
            <a:ext cx="17887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支撑看板、详情页与导出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2212" y="4926806"/>
            <a:ext cx="43491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代价：复杂统计要写子查询，但换来改字段不牵一发动全身。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6173152"/>
            <a:ext cx="325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方案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53663" y="6173152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4572000" y="3333750"/>
            <a:ext cx="7620000" cy="9525"/>
          </a:xfrm>
          <a:custGeom>
            <a:avLst/>
            <a:gdLst/>
            <a:ahLst/>
            <a:cxnLst/>
            <a:rect l="l" t="t" r="r" b="b"/>
            <a:pathLst>
              <a:path w="7620000" h="9525">
                <a:moveTo>
                  <a:pt x="0" y="0"/>
                </a:moveTo>
                <a:lnTo>
                  <a:pt x="7620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715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0590" y="3834765"/>
            <a:ext cx="10695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落地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115" y="4534852"/>
            <a:ext cx="1627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spc="225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37760" y="1775460"/>
            <a:ext cx="53900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部署在 Cloudflare 上，组内七个人用了三个月，替代了原来的 Excel。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0140" y="2567940"/>
            <a:ext cx="8522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零运维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38712" y="2945606"/>
            <a:ext cx="37250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Pages 加 Workers 加 D1，免费额度足够课题组使用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0140" y="3901440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迁移成本低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8712" y="4279106"/>
            <a:ext cx="35650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从 Excel 导入历史稿件，半天完成，旧表保留只读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0140" y="5187315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使用门槛低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8712" y="5564981"/>
            <a:ext cx="27489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手机打开就能改状态，不需要装客户端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2495" y="72675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上线三个月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76700" y="904875"/>
            <a:ext cx="9726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1745932"/>
            <a:ext cx="56746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组会不再逐篇问进度，只看两件事：谁逾期，谁该催。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2647950"/>
            <a:ext cx="2381250" cy="1943100"/>
          </a:xfrm>
          <a:prstGeom prst="roundRect">
            <a:avLst>
              <a:gd name="adj" fmla="val 882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52204" y="3192780"/>
            <a:ext cx="138184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12 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6085" y="3824764"/>
            <a:ext cx="794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在途稿件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690" y="4142899"/>
            <a:ext cx="856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全部进入看板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81400" y="2647950"/>
            <a:ext cx="2381250" cy="1943100"/>
          </a:xfrm>
          <a:prstGeom prst="roundRect">
            <a:avLst>
              <a:gd name="adj" fmla="val 882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228963" y="3192780"/>
            <a:ext cx="108612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7 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4985" y="3824764"/>
            <a:ext cx="794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活跃成员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04906" y="4142899"/>
            <a:ext cx="1134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每周至少查看一次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10300" y="2647950"/>
            <a:ext cx="2381250" cy="1943100"/>
          </a:xfrm>
          <a:prstGeom prst="roundRect">
            <a:avLst>
              <a:gd name="adj" fmla="val 882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89029" y="3192780"/>
            <a:ext cx="16237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3 分钟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03885" y="3824764"/>
            <a:ext cx="794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更新可见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4465" y="4142899"/>
            <a:ext cx="1272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从改状态到看板刷新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39200" y="2647950"/>
            <a:ext cx="2381250" cy="1943100"/>
          </a:xfrm>
          <a:prstGeom prst="roundRect">
            <a:avLst>
              <a:gd name="adj" fmla="val 8824"/>
            </a:avLst>
          </a:prstGeom>
          <a:solidFill>
            <a:srgbClr val="FFFFFF">
              <a:alpha val="6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486763" y="3192780"/>
            <a:ext cx="108612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0 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32785" y="3824764"/>
            <a:ext cx="794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组会追问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1390" y="4142899"/>
            <a:ext cx="856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改为看板投屏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4972050"/>
            <a:ext cx="10287000" cy="533400"/>
          </a:xfrm>
          <a:prstGeom prst="rect">
            <a:avLst/>
          </a:prstGeom>
          <a:solidFill>
            <a:srgbClr val="4661CC">
              <a:alpha val="8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202055" y="5159692"/>
            <a:ext cx="7350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剩下的问题不再是「不知道」，而是「知道了要不要动」——那属于判断，不属于工具。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165" y="6173152"/>
            <a:ext cx="325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落地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53663" y="6173152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973" y="3095625"/>
            <a:ext cx="2338954" cy="376237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93445" y="2641282"/>
            <a:ext cx="2896057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感谢聆听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3925" y="3662362"/>
            <a:ext cx="127276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spc="150" dirty="0">
                <a:solidFill>
                  <a:srgbClr val="6585CC"/>
                </a:solidFill>
                <a:latin typeface="Manrope"/>
                <a:ea typeface="Manrope"/>
                <a:cs typeface="Manrope"/>
              </a:rPr>
              <a:t>THANKS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355" y="4426268"/>
            <a:ext cx="23673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陶龙飞 · 厦门大学信息学院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165" y="6173152"/>
            <a:ext cx="13708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厦门大学 · 2026.10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2026-10-30T06:29:53Z</dcterms:created>
  <dcterms:modified xsi:type="dcterms:W3CDTF">2026-10-30T06:29:53Z</dcterms:modified>
  <cp:category/>
  <cp:contentStatus/>
</cp:coreProperties>
</file>